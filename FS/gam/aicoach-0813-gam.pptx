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87" r:id="rId3"/>
    <p:sldId id="286" r:id="rId4"/>
    <p:sldId id="288" r:id="rId5"/>
    <p:sldId id="289" r:id="rId6"/>
    <p:sldId id="290" r:id="rId7"/>
    <p:sldId id="291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82"/>
    <p:restoredTop sz="96170"/>
  </p:normalViewPr>
  <p:slideViewPr>
    <p:cSldViewPr snapToGrid="0">
      <p:cViewPr varScale="1">
        <p:scale>
          <a:sx n="114" d="100"/>
          <a:sy n="114" d="100"/>
        </p:scale>
        <p:origin x="19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C8B40-0D20-5748-AF43-28CF0879DA33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C1F34-997A-D147-B4EB-719C96C9A96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55255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They're developing a virtual digital human (VDH) application to coach Apple sales staff in their customer interactions.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allows sales staff to initiate training sessions where they engage in a six-round role play with an AI client.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round: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LLM generates realistic client dialogue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 staff respond to the simulated client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provides optimal answer examples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completing all six rounds, the AI generates comprehensive feedback highlighting strengths and areas for improvement in the conversation.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b="1" dirty="0">
                <a:effectLst/>
              </a:rPr>
              <a:t>Technical Requirements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 latency must be under 3 seconds to ensure natural interaction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deployment architecture involves: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Front-end mobile application (provided by customer's vendor)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Back-end solution hosted on AWS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component using DeepSeek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Qianwen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(32B parameter model)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VDH framework built on open-source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LiveKit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ASR, TTS, wav2lip and WebRTC capabilities</a:t>
            </a:r>
          </a:p>
          <a:p>
            <a:pPr lvl="1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Usage Patterns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 staff are assigned training tasks to complete over 1-2 months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exam periods, we expect traffic spikes up to 3x normal volume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Peak usage will occur during new iPhone release events</a:t>
            </a:r>
          </a:p>
          <a:p>
            <a:br>
              <a:rPr lang="en-US" dirty="0">
                <a:effectLst/>
              </a:rPr>
            </a:br>
            <a:endParaRPr lang="en-US" dirty="0">
              <a:effectLst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C1B62-A285-3C41-9A7F-5A935970B9F8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9171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3x p4d ( 96c ) hardly servig for 200 users</a:t>
            </a:r>
          </a:p>
          <a:p>
            <a:endParaRPr lang="en-CN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 Timeline &amp; Progress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September 2024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Customer approached us after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AliCloud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couldn't meet their infrastructure needs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 Phase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Deployed monolithic application on P4d instances, zero limit experience on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cloud, we were kind of babysitting them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several months development and test, Earlier this year we believed the emerging of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deekpseek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 improved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chineses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content generation quality 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 2023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Successfully conducted first test with 200 users using auto-scaling groups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June 2023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Redesigned for scalability to support 20,000 users: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Replaced monolithic application with microservices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Implemented Redis caching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Separated LLM and VDH workloads for independent scaling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Identified G5 instances as optimal but faced availability constraints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Implemented H20 instances through AWS partner solution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Status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is scheduled to conduct a 3,000-user test this Thursday/Friday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goal is to support all 20,000 sales staff in China region, they are planning </a:t>
            </a:r>
          </a:p>
          <a:p>
            <a:endParaRPr lang="en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has been a successful cross-team collaboration with GCR, Sales, Service, Industry, and Partner teams. Despite not being the official cloud provider for Fruit Stand China, we've earned their trust and business through our support.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C1B62-A285-3C41-9A7F-5A935970B9F8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27029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Get rid of DX a</a:t>
            </a:r>
            <a:r>
              <a:rPr lang="en-US" dirty="0" err="1"/>
              <a:t>nd</a:t>
            </a:r>
            <a:r>
              <a:rPr lang="en-US" dirty="0"/>
              <a:t> TURN</a:t>
            </a:r>
          </a:p>
          <a:p>
            <a:endParaRPr lang="en-US" dirty="0"/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Technical Architecture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H20 instances hosted via partner connection to customer VPC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 balancing, Redis, and S3 for storage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convinced the customer to use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native G5 instances to cover busy hours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 server implementation for secure WebRTC connections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C1F34-997A-D147-B4EB-719C96C9A963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4837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This data can be updated and precised after this week’s test. </a:t>
            </a:r>
          </a:p>
          <a:p>
            <a:endParaRPr lang="en-CN" dirty="0"/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on stress testing, each H20 instance can support: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120 concurrent LLM sessions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72 concurrent VDH sessions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estimate needing 3 instances for daily traffic and 9 instances for peak periods</a:t>
            </a:r>
          </a:p>
          <a:p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C1F34-997A-D147-B4EB-719C96C9A963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5126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 &amp; Requests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need sufficient GPU capacity but our request was rejected by the EC2 service team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 requesting Global Account team assistance to: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Accelerate H20 instance availability in China regions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Expand G5 GPU instance capacity with Apple endorsement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we proceed with the PPA signature process, any guidance and knowledge sharing on will be much appreciated 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to effectively use "AWS at Apple"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practices for account management</a:t>
            </a:r>
          </a:p>
          <a:p>
            <a:pPr lvl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 procedures for existing accounts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C1F34-997A-D147-B4EB-719C96C9A963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26945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C1F34-997A-D147-B4EB-719C96C9A963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2008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5177F-57C7-38AC-0458-6966BC56C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21429-ADFD-2D5A-D408-84AD0E42C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A9201-9CE4-9B02-3EB1-138F253B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B58E-E618-444F-BAAF-17B1A4A4CED4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20B0A-CD71-3870-4925-21DB661BF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A937B-31CB-EF97-65FD-6B26DC2D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6A8B-A4F3-0042-851E-5A69A8DCC70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4399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EF10-991B-9B91-F43F-A3A725173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567DB-2F29-A16C-1968-776842A11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A3BA3-EA6E-D3DF-099F-BF93F8A65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B58E-E618-444F-BAAF-17B1A4A4CED4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1B9A9-CD0E-C46A-D1FD-7FCD3CE5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74-8F92-5F56-013B-058A2240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6A8B-A4F3-0042-851E-5A69A8DCC70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47874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A3EA-49DB-026E-6FB6-9E8CA3F36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A28B2-71A0-0F25-F5F1-C33F0EEF0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8594B-4CD7-84FC-13D6-F18C17389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B58E-E618-444F-BAAF-17B1A4A4CED4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A0586-0DAE-11D2-5442-6BFA2AB6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7DE21-61C8-8765-5FE7-390C32BB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6A8B-A4F3-0042-851E-5A69A8DCC70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02623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81E0F-1371-1F5E-28E7-AFE3ED5FF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5AB9E-C1C1-00B0-100B-97D1AC3B4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11634-3543-530F-834E-FD0EDA026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6A52B-D667-28F8-3D93-06F17B67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B58E-E618-444F-BAAF-17B1A4A4CED4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C5541-F1A9-6373-66CB-DFA6C134A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58973-90C7-669F-11D4-000128C8B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6A8B-A4F3-0042-851E-5A69A8DCC70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5053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0FF-8F28-ADB4-486A-D6AD6EF87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F5F2A-930B-47B4-B868-7C49A3904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2EFDE-477B-47B2-4281-A371F955E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4CB65-6AFD-0BF5-CDC2-3E1E22961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F1EB50-2770-C5EC-3697-CC7C7CC9C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2143CA-2326-BA7A-F3AD-CC36B20F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B58E-E618-444F-BAAF-17B1A4A4CED4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22434E-EE2A-91DA-CA62-421D54DB7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313E7-87AC-C6BD-82D0-F8DB7E15A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6A8B-A4F3-0042-851E-5A69A8DCC70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7177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2706-4F39-F19B-C87F-C23E0001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74F29C-D56A-2FFC-8887-5E8C78FC9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B58E-E618-444F-BAAF-17B1A4A4CED4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382859-2F2E-938D-72BD-553D0A64D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85569-1168-9E2B-3FCF-9DE0D0B73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6A8B-A4F3-0042-851E-5A69A8DCC70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00288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82D71B-4747-CD3D-DEBF-A192AAE2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B58E-E618-444F-BAAF-17B1A4A4CED4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59F17-B819-7E3F-253B-97CA45CD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6A3D5-B591-17CE-ADC3-BFC159910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6A8B-A4F3-0042-851E-5A69A8DCC70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802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C595-E93F-BD29-90F3-F277405B1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69FA2-3435-FF7D-D5F2-6E506B3D9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D4106-FA7E-DABF-4323-A657B205F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7753A-391D-0AFE-2199-FDD7C904B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B58E-E618-444F-BAAF-17B1A4A4CED4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1ADCE-AD7A-3225-BFBC-F5E4D9B4A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DA3C2-8279-0321-9E38-0F6DA2B73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6A8B-A4F3-0042-851E-5A69A8DCC70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32466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4BE25-51B1-3104-AB1E-00E3645D6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87EB6-D7DE-9B71-AEC2-73357EF15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553F7-E7FA-0D3D-6613-C6B7506B1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683A1-377B-3ECE-2A71-A1872DF3C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B58E-E618-444F-BAAF-17B1A4A4CED4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7FC98-D4D2-18CD-AACA-4F6832EB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64046-9227-4DB8-071E-96F329B6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6A8B-A4F3-0042-851E-5A69A8DCC70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2765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7EEF9-08CC-38A4-F13C-10E360A33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6501AA-0492-2B0D-4E71-9E0EB3B1F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FA971-E954-54F4-7C5F-3833BEA82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B58E-E618-444F-BAAF-17B1A4A4CED4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390E3-231D-440A-7C40-6221066D2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3105-7ADB-77AA-C9C5-DE1201B9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6A8B-A4F3-0042-851E-5A69A8DCC70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768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BC739-3BB9-B0D5-228B-7BE23BFA2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DB13E-F882-DEB9-CE94-9299C2B60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963BA-625F-2C9C-94A9-609123535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B58E-E618-444F-BAAF-17B1A4A4CED4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04AA3-64A1-1487-A353-5F5E3DF3F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D4D2E-786F-A129-F2D9-B37B05058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6A8B-A4F3-0042-851E-5A69A8DCC70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9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1B3820-90AA-8D2F-FCAF-F1A089422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4DD4F-9B57-A226-CBEA-3E23A16AB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1A30-A492-69F7-BFDB-D9E61A16B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CB58E-E618-444F-BAAF-17B1A4A4CED4}" type="datetimeFigureOut">
              <a:rPr lang="en-CN" smtClean="0"/>
              <a:t>2025/8/12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D107F-093D-F85F-4EA6-020DABF6E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C1B2-2006-7ECF-EBBE-0A9001E8B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DC6A8B-A4F3-0042-851E-5A69A8DCC704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0013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cid:image001.png@01DC083A.E5CDFE00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C044-FDB4-DB71-3C98-0C8A03736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CN" dirty="0"/>
              <a:t>FS China Sales LoB</a:t>
            </a:r>
            <a:br>
              <a:rPr lang="en-CN" dirty="0"/>
            </a:br>
            <a:r>
              <a:rPr lang="en-CN" dirty="0"/>
              <a:t>AI Coach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66CCC-D7FC-85EB-716E-41DE98744C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CN" dirty="0"/>
          </a:p>
          <a:p>
            <a:endParaRPr lang="en-CN" dirty="0"/>
          </a:p>
          <a:p>
            <a:pPr algn="l"/>
            <a:r>
              <a:rPr lang="en-CN" dirty="0"/>
              <a:t>GCR FS Account Team</a:t>
            </a:r>
          </a:p>
          <a:p>
            <a:pPr algn="l"/>
            <a:r>
              <a:rPr lang="en-CN" dirty="0"/>
              <a:t>2025.08.13</a:t>
            </a:r>
          </a:p>
          <a:p>
            <a:pPr algn="l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2639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F2E0-D612-11A2-CF89-9F9379BD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B679-EA25-8795-AB10-7DDE8967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D2102-0617-2E63-4168-244F989B4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Virtual Digital Human play as clients interacting with Apple sales </a:t>
            </a:r>
          </a:p>
          <a:p>
            <a:pPr lvl="1"/>
            <a:r>
              <a:rPr lang="en-US" altLang="zh-CN" sz="2000" dirty="0"/>
              <a:t>6 rounds role play</a:t>
            </a:r>
          </a:p>
          <a:p>
            <a:pPr lvl="1"/>
            <a:r>
              <a:rPr lang="en-US" altLang="zh-CN" sz="2000" dirty="0"/>
              <a:t>Each round LLM generates </a:t>
            </a:r>
          </a:p>
          <a:p>
            <a:pPr lvl="2"/>
            <a:r>
              <a:rPr lang="en-US" altLang="zh-CN" sz="2100" dirty="0"/>
              <a:t>Client dialogue </a:t>
            </a:r>
          </a:p>
          <a:p>
            <a:pPr lvl="2"/>
            <a:r>
              <a:rPr lang="en-US" altLang="zh-CN" sz="2100" dirty="0"/>
              <a:t>Best answer for Sales</a:t>
            </a:r>
          </a:p>
          <a:p>
            <a:pPr lvl="1"/>
            <a:r>
              <a:rPr lang="en-US" altLang="zh-CN" sz="2000" dirty="0"/>
              <a:t>Overall feedback after 6 rounds</a:t>
            </a:r>
          </a:p>
          <a:p>
            <a:pPr lvl="1"/>
            <a:r>
              <a:rPr lang="en-US" altLang="zh-CN" sz="2000" dirty="0"/>
              <a:t>VDH streaming response latency &lt; 3s</a:t>
            </a:r>
          </a:p>
          <a:p>
            <a:pPr lvl="1"/>
            <a:endParaRPr lang="en-US" altLang="zh-CN" sz="2000" dirty="0"/>
          </a:p>
          <a:p>
            <a:r>
              <a:rPr lang="en-US" altLang="zh-CN" sz="2400" dirty="0"/>
              <a:t>Vendor offered frontend + FS in-house backend</a:t>
            </a:r>
            <a:endParaRPr lang="zh-CN" altLang="en-US" sz="2400" dirty="0"/>
          </a:p>
          <a:p>
            <a:pPr lvl="1"/>
            <a:r>
              <a:rPr lang="en-CN" sz="2000" dirty="0"/>
              <a:t>LLM – Deepseek Qwen 32 B </a:t>
            </a:r>
          </a:p>
          <a:p>
            <a:pPr lvl="1"/>
            <a:r>
              <a:rPr lang="en-CN" sz="2000" dirty="0"/>
              <a:t>VDH – OSS framework LiveKit</a:t>
            </a:r>
          </a:p>
          <a:p>
            <a:pPr lvl="1"/>
            <a:endParaRPr lang="en-CN" sz="2000" dirty="0"/>
          </a:p>
          <a:p>
            <a:r>
              <a:rPr lang="en-CN" sz="2400" dirty="0"/>
              <a:t>Usage Patterns</a:t>
            </a:r>
          </a:p>
          <a:p>
            <a:pPr lvl="1"/>
            <a:r>
              <a:rPr lang="en-CN" sz="2000" dirty="0"/>
              <a:t>Daily traffic </a:t>
            </a:r>
          </a:p>
          <a:p>
            <a:pPr lvl="1"/>
            <a:r>
              <a:rPr lang="en-CN" sz="2000" dirty="0"/>
              <a:t>Peak traffic (3x daily traffic) during exam period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8DAA14-2FB0-C0ED-3F61-91DB5EE5E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756" y="2218017"/>
            <a:ext cx="4932658" cy="373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67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DE28C-5F0D-B99D-6332-6B1F484C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Progress Track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C8FBA8-698E-BB68-7B28-588371893B95}"/>
              </a:ext>
            </a:extLst>
          </p:cNvPr>
          <p:cNvSpPr/>
          <p:nvPr/>
        </p:nvSpPr>
        <p:spPr>
          <a:xfrm>
            <a:off x="838200" y="3679634"/>
            <a:ext cx="10515600" cy="242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5D721-075D-C5CE-A128-BF93F0D9A983}"/>
              </a:ext>
            </a:extLst>
          </p:cNvPr>
          <p:cNvSpPr txBox="1"/>
          <p:nvPr/>
        </p:nvSpPr>
        <p:spPr>
          <a:xfrm>
            <a:off x="911874" y="4076241"/>
            <a:ext cx="1057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/>
              <a:t>Sep 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80AAC-AF04-4ABF-BB1A-E3C9C5A2D933}"/>
              </a:ext>
            </a:extLst>
          </p:cNvPr>
          <p:cNvSpPr txBox="1"/>
          <p:nvPr/>
        </p:nvSpPr>
        <p:spPr>
          <a:xfrm>
            <a:off x="2765233" y="4076241"/>
            <a:ext cx="1057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/>
              <a:t>May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0D4274-C59F-DF73-7494-19D11CCCF25C}"/>
              </a:ext>
            </a:extLst>
          </p:cNvPr>
          <p:cNvSpPr txBox="1"/>
          <p:nvPr/>
        </p:nvSpPr>
        <p:spPr>
          <a:xfrm>
            <a:off x="838200" y="2473897"/>
            <a:ext cx="21427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/>
              <a:t>Functionality Test</a:t>
            </a:r>
          </a:p>
          <a:p>
            <a:r>
              <a:rPr lang="en-CN" sz="1600" dirty="0"/>
              <a:t>Monolithic application on 1xP4d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17B8F2-4923-95A0-31A4-2AD6090350C9}"/>
              </a:ext>
            </a:extLst>
          </p:cNvPr>
          <p:cNvSpPr txBox="1"/>
          <p:nvPr/>
        </p:nvSpPr>
        <p:spPr>
          <a:xfrm>
            <a:off x="2221963" y="4546795"/>
            <a:ext cx="3734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</a:t>
            </a:r>
            <a:r>
              <a:rPr lang="en-CN" sz="1600" dirty="0"/>
              <a:t>mall-scale test for 200 users</a:t>
            </a:r>
          </a:p>
          <a:p>
            <a:r>
              <a:rPr lang="en-CN" sz="1600" dirty="0"/>
              <a:t>Monolithic application </a:t>
            </a:r>
          </a:p>
          <a:p>
            <a:r>
              <a:rPr lang="en-CN" sz="1600" dirty="0"/>
              <a:t>P4d ASG + NLB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3A0CF1-6023-38AB-7567-BD22A06276EF}"/>
              </a:ext>
            </a:extLst>
          </p:cNvPr>
          <p:cNvSpPr txBox="1"/>
          <p:nvPr/>
        </p:nvSpPr>
        <p:spPr>
          <a:xfrm>
            <a:off x="4712463" y="4087258"/>
            <a:ext cx="1057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/>
              <a:t>June 2025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B979B3-E67B-F6BE-82C7-7EE863F09E4B}"/>
              </a:ext>
            </a:extLst>
          </p:cNvPr>
          <p:cNvSpPr txBox="1"/>
          <p:nvPr/>
        </p:nvSpPr>
        <p:spPr>
          <a:xfrm>
            <a:off x="6891738" y="4087258"/>
            <a:ext cx="1057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/>
              <a:t>July 2025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BB1FDC-8304-7838-A593-D9A9A1380875}"/>
              </a:ext>
            </a:extLst>
          </p:cNvPr>
          <p:cNvSpPr txBox="1"/>
          <p:nvPr/>
        </p:nvSpPr>
        <p:spPr>
          <a:xfrm>
            <a:off x="3727836" y="2473898"/>
            <a:ext cx="4077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Architecture redesign with micro-services </a:t>
            </a:r>
          </a:p>
          <a:p>
            <a:r>
              <a:rPr lang="en-US" sz="1600" dirty="0"/>
              <a:t>LLM ( GPU intensive )</a:t>
            </a:r>
          </a:p>
          <a:p>
            <a:r>
              <a:rPr lang="en-US" sz="1600" dirty="0"/>
              <a:t>VDH</a:t>
            </a:r>
            <a:r>
              <a:rPr lang="en-CN" sz="1600" dirty="0"/>
              <a:t> </a:t>
            </a:r>
            <a:r>
              <a:rPr lang="en-US" sz="1600" dirty="0"/>
              <a:t>(</a:t>
            </a:r>
            <a:r>
              <a:rPr lang="zh-CN" altLang="en-US" sz="1600" dirty="0"/>
              <a:t> </a:t>
            </a:r>
            <a:r>
              <a:rPr lang="en-US" altLang="zh-CN" sz="1600" dirty="0"/>
              <a:t>CPU</a:t>
            </a:r>
            <a:r>
              <a:rPr lang="zh-CN" altLang="en-US" sz="1600" dirty="0"/>
              <a:t> </a:t>
            </a:r>
            <a:r>
              <a:rPr lang="en-US" altLang="zh-CN" sz="1600" dirty="0"/>
              <a:t>intensive ) – G5.24x/48x , H20  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56DE12-3130-ADE3-61F2-B23B5932930D}"/>
              </a:ext>
            </a:extLst>
          </p:cNvPr>
          <p:cNvSpPr txBox="1"/>
          <p:nvPr/>
        </p:nvSpPr>
        <p:spPr>
          <a:xfrm>
            <a:off x="8588794" y="4087258"/>
            <a:ext cx="1057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/>
              <a:t>Aug 2025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1EC963-D85C-15E0-E8A1-BE241160F7C6}"/>
              </a:ext>
            </a:extLst>
          </p:cNvPr>
          <p:cNvSpPr txBox="1"/>
          <p:nvPr/>
        </p:nvSpPr>
        <p:spPr>
          <a:xfrm>
            <a:off x="6235320" y="4558816"/>
            <a:ext cx="3328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Monthly 3 x H20 with MP NWCD</a:t>
            </a:r>
          </a:p>
          <a:p>
            <a:r>
              <a:rPr lang="en-US" sz="1600" dirty="0"/>
              <a:t>Resource redistribution </a:t>
            </a:r>
          </a:p>
          <a:p>
            <a:r>
              <a:rPr lang="en-US" sz="1600" dirty="0"/>
              <a:t>E2E performance optimization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C27315-3F65-1670-EDF3-47459F61B903}"/>
              </a:ext>
            </a:extLst>
          </p:cNvPr>
          <p:cNvSpPr txBox="1"/>
          <p:nvPr/>
        </p:nvSpPr>
        <p:spPr>
          <a:xfrm>
            <a:off x="7992866" y="2713155"/>
            <a:ext cx="1788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Medium</a:t>
            </a:r>
            <a:r>
              <a:rPr lang="en-CN" sz="1600" dirty="0"/>
              <a:t>-scale test for 3k users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B12FB9-A690-61B8-DF6A-3307D6F5CCFB}"/>
              </a:ext>
            </a:extLst>
          </p:cNvPr>
          <p:cNvSpPr txBox="1"/>
          <p:nvPr/>
        </p:nvSpPr>
        <p:spPr>
          <a:xfrm>
            <a:off x="10222506" y="4087258"/>
            <a:ext cx="1057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/>
              <a:t>Sep 2025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089863-C264-46A6-7A26-30C3EABB962F}"/>
              </a:ext>
            </a:extLst>
          </p:cNvPr>
          <p:cNvSpPr txBox="1"/>
          <p:nvPr/>
        </p:nvSpPr>
        <p:spPr>
          <a:xfrm>
            <a:off x="9964354" y="2473898"/>
            <a:ext cx="1573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/>
              <a:t>Flagship event (iPhone 17)</a:t>
            </a:r>
          </a:p>
          <a:p>
            <a:r>
              <a:rPr lang="en-CN" sz="1600" dirty="0"/>
              <a:t>for 20k 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308B0A-93F2-490C-EFE7-FBA0BD3FCF02}"/>
              </a:ext>
            </a:extLst>
          </p:cNvPr>
          <p:cNvSpPr txBox="1"/>
          <p:nvPr/>
        </p:nvSpPr>
        <p:spPr>
          <a:xfrm>
            <a:off x="6353299" y="6123543"/>
            <a:ext cx="4926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Teamwork:  GCR SS, Industry, AILab, Partner 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3CA462E6-1614-34ED-1B84-ADCCDCA8D70F}"/>
              </a:ext>
            </a:extLst>
          </p:cNvPr>
          <p:cNvSpPr/>
          <p:nvPr/>
        </p:nvSpPr>
        <p:spPr>
          <a:xfrm>
            <a:off x="2580174" y="3922005"/>
            <a:ext cx="195943" cy="6368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CE3802B1-AFAB-9E01-D2A5-715ED8A0276F}"/>
              </a:ext>
            </a:extLst>
          </p:cNvPr>
          <p:cNvSpPr/>
          <p:nvPr/>
        </p:nvSpPr>
        <p:spPr>
          <a:xfrm>
            <a:off x="6674479" y="3927243"/>
            <a:ext cx="195943" cy="6368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B9A73B9D-1D4A-8C2C-E62D-44C16AEDA22C}"/>
              </a:ext>
            </a:extLst>
          </p:cNvPr>
          <p:cNvSpPr/>
          <p:nvPr/>
        </p:nvSpPr>
        <p:spPr>
          <a:xfrm rot="10800000">
            <a:off x="789998" y="3348074"/>
            <a:ext cx="183484" cy="3286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8B1DD772-05F7-C99A-C60A-C8C03A533DA2}"/>
              </a:ext>
            </a:extLst>
          </p:cNvPr>
          <p:cNvSpPr/>
          <p:nvPr/>
        </p:nvSpPr>
        <p:spPr>
          <a:xfrm rot="10800000">
            <a:off x="4712463" y="3345704"/>
            <a:ext cx="183484" cy="3286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16FD83FD-0920-8F6C-15BD-72E319CF4740}"/>
              </a:ext>
            </a:extLst>
          </p:cNvPr>
          <p:cNvSpPr/>
          <p:nvPr/>
        </p:nvSpPr>
        <p:spPr>
          <a:xfrm rot="10800000">
            <a:off x="8588794" y="3334818"/>
            <a:ext cx="183484" cy="3286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A5C247B8-1FAA-7277-C0E9-C2DA8D4838DC}"/>
              </a:ext>
            </a:extLst>
          </p:cNvPr>
          <p:cNvSpPr/>
          <p:nvPr/>
        </p:nvSpPr>
        <p:spPr>
          <a:xfrm rot="10800000">
            <a:off x="10130764" y="3334818"/>
            <a:ext cx="183484" cy="3286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11362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213A3F-1059-BCD1-86C3-6B6B82549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20" y="663427"/>
            <a:ext cx="8191959" cy="58294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2AF251-552F-2799-4201-3577B355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71493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EB53-707E-070E-BF27-4B9C5C4EB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GPU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5F5-F229-0226-2774-E05CDF00F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dirty="0"/>
              <a:t>Within acceptable latency </a:t>
            </a:r>
          </a:p>
          <a:p>
            <a:pPr lvl="1"/>
            <a:r>
              <a:rPr lang="en-CN" dirty="0"/>
              <a:t>LLM - 120 concurrency per H20 instance</a:t>
            </a:r>
          </a:p>
          <a:p>
            <a:pPr lvl="1"/>
            <a:r>
              <a:rPr lang="en-CN" dirty="0"/>
              <a:t>VDH - 72 concurrency per H20 / G5.48xl instance</a:t>
            </a:r>
          </a:p>
          <a:p>
            <a:pPr lvl="1"/>
            <a:endParaRPr lang="en-CN" dirty="0"/>
          </a:p>
          <a:p>
            <a:r>
              <a:rPr lang="en-CN" dirty="0"/>
              <a:t>20k user daily access – max concurrency 1</a:t>
            </a:r>
            <a:r>
              <a:rPr lang="en-US" dirty="0"/>
              <a:t>20</a:t>
            </a:r>
            <a:endParaRPr lang="en-CN" dirty="0"/>
          </a:p>
          <a:p>
            <a:pPr lvl="1"/>
            <a:r>
              <a:rPr lang="en-CN" dirty="0"/>
              <a:t>RI : LLM – 1xH20, VDH - 2xH20</a:t>
            </a:r>
          </a:p>
          <a:p>
            <a:pPr marL="457200" lvl="1" indent="0">
              <a:buNone/>
            </a:pPr>
            <a:endParaRPr lang="en-CN" dirty="0"/>
          </a:p>
          <a:p>
            <a:r>
              <a:rPr lang="en-CN" dirty="0"/>
              <a:t>20k September Flagship Event ( max concurrency 3x)</a:t>
            </a:r>
          </a:p>
          <a:p>
            <a:pPr lvl="1"/>
            <a:r>
              <a:rPr lang="en-CN" dirty="0"/>
              <a:t>RI + On Demand (H20 + G5)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11819-BFB3-6B8F-30A4-CD85C5545FA8}"/>
              </a:ext>
            </a:extLst>
          </p:cNvPr>
          <p:cNvSpPr txBox="1"/>
          <p:nvPr/>
        </p:nvSpPr>
        <p:spPr>
          <a:xfrm>
            <a:off x="6593983" y="843240"/>
            <a:ext cx="475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Key ask:  H20 &amp; G5 GPU AWS native capacity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40BE1A0-530D-5E06-4AC9-F9F43C8F3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34666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A1163-D9F1-2918-86C2-A73C945D5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Foob Approval Terminated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A667D812-179C-0C10-970B-DF1091923D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811123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917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CA155-C4F6-CF3B-6524-093319F1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48254-E729-1EB5-5374-B71A89CC8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AWS@Apple onboaring </a:t>
            </a:r>
          </a:p>
          <a:p>
            <a:pPr lvl="1"/>
            <a:r>
              <a:rPr lang="en-US" dirty="0"/>
              <a:t>A</a:t>
            </a:r>
            <a:r>
              <a:rPr lang="en-CN" dirty="0"/>
              <a:t>ccount manag</a:t>
            </a:r>
            <a:r>
              <a:rPr lang="en-US" dirty="0"/>
              <a:t>e</a:t>
            </a:r>
            <a:r>
              <a:rPr lang="en-CN" dirty="0"/>
              <a:t>ment </a:t>
            </a:r>
          </a:p>
          <a:p>
            <a:pPr lvl="1"/>
            <a:r>
              <a:rPr lang="en-US" dirty="0"/>
              <a:t>M</a:t>
            </a:r>
            <a:r>
              <a:rPr lang="en-CN" dirty="0"/>
              <a:t>igration procedure – MP H20 to aws native H20</a:t>
            </a:r>
          </a:p>
        </p:txBody>
      </p:sp>
    </p:spTree>
    <p:extLst>
      <p:ext uri="{BB962C8B-B14F-4D97-AF65-F5344CB8AC3E}">
        <p14:creationId xmlns:p14="http://schemas.microsoft.com/office/powerpoint/2010/main" val="1795053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819</Words>
  <Application>Microsoft Macintosh PowerPoint</Application>
  <PresentationFormat>Widescreen</PresentationFormat>
  <Paragraphs>127</Paragraphs>
  <Slides>7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FS China Sales LoB AI Coach Project</vt:lpstr>
      <vt:lpstr>Background</vt:lpstr>
      <vt:lpstr>Progress Track</vt:lpstr>
      <vt:lpstr>Architecture</vt:lpstr>
      <vt:lpstr>GPU planning</vt:lpstr>
      <vt:lpstr>Foob Approval Terminated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Du, Chenxi</dc:creator>
  <cp:lastModifiedBy>Du, Chenxi</cp:lastModifiedBy>
  <cp:revision>60</cp:revision>
  <dcterms:created xsi:type="dcterms:W3CDTF">2025-08-11T11:03:18Z</dcterms:created>
  <dcterms:modified xsi:type="dcterms:W3CDTF">2025-08-12T23:28:13Z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2025-08-11T11:03:49Z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a5ecf726-7499-4934-9716-11ac6e5cffce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