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35"/>
  </p:notesMasterIdLst>
  <p:handoutMasterIdLst>
    <p:handoutMasterId r:id="rId36"/>
  </p:handoutMasterIdLst>
  <p:sldIdLst>
    <p:sldId id="331" r:id="rId5"/>
    <p:sldId id="337" r:id="rId6"/>
    <p:sldId id="351" r:id="rId7"/>
    <p:sldId id="347" r:id="rId8"/>
    <p:sldId id="350" r:id="rId9"/>
    <p:sldId id="353" r:id="rId10"/>
    <p:sldId id="348" r:id="rId11"/>
    <p:sldId id="354" r:id="rId12"/>
    <p:sldId id="355" r:id="rId13"/>
    <p:sldId id="379" r:id="rId14"/>
    <p:sldId id="356" r:id="rId15"/>
    <p:sldId id="359" r:id="rId16"/>
    <p:sldId id="358" r:id="rId17"/>
    <p:sldId id="357" r:id="rId18"/>
    <p:sldId id="360" r:id="rId19"/>
    <p:sldId id="361" r:id="rId20"/>
    <p:sldId id="373" r:id="rId21"/>
    <p:sldId id="372" r:id="rId22"/>
    <p:sldId id="366" r:id="rId23"/>
    <p:sldId id="363" r:id="rId24"/>
    <p:sldId id="364" r:id="rId25"/>
    <p:sldId id="365" r:id="rId26"/>
    <p:sldId id="367" r:id="rId27"/>
    <p:sldId id="368" r:id="rId28"/>
    <p:sldId id="369" r:id="rId29"/>
    <p:sldId id="370" r:id="rId30"/>
    <p:sldId id="371" r:id="rId31"/>
    <p:sldId id="374" r:id="rId32"/>
    <p:sldId id="375" r:id="rId33"/>
    <p:sldId id="336" r:id="rId34"/>
  </p:sldIdLst>
  <p:sldSz cx="14630400" cy="8229600"/>
  <p:notesSz cx="6858000" cy="9144000"/>
  <p:defaultText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0" userDrawn="1">
          <p15:clr>
            <a:srgbClr val="A4A3A4"/>
          </p15:clr>
        </p15:guide>
        <p15:guide id="2" orient="horz" pos="4637" userDrawn="1">
          <p15:clr>
            <a:srgbClr val="A4A3A4"/>
          </p15:clr>
        </p15:guide>
        <p15:guide id="3" orient="horz" pos="3859" userDrawn="1">
          <p15:clr>
            <a:srgbClr val="A4A3A4"/>
          </p15:clr>
        </p15:guide>
        <p15:guide id="4" orient="horz" pos="5114" userDrawn="1">
          <p15:clr>
            <a:srgbClr val="A4A3A4"/>
          </p15:clr>
        </p15:guide>
        <p15:guide id="5" orient="horz" pos="2160" userDrawn="1">
          <p15:clr>
            <a:srgbClr val="A4A3A4"/>
          </p15:clr>
        </p15:guide>
        <p15:guide id="6" orient="horz" pos="2205" userDrawn="1">
          <p15:clr>
            <a:srgbClr val="A4A3A4"/>
          </p15:clr>
        </p15:guide>
        <p15:guide id="7" orient="horz" pos="3325" userDrawn="1">
          <p15:clr>
            <a:srgbClr val="A4A3A4"/>
          </p15:clr>
        </p15:guide>
        <p15:guide id="8" orient="horz" pos="200" userDrawn="1">
          <p15:clr>
            <a:srgbClr val="A4A3A4"/>
          </p15:clr>
        </p15:guide>
        <p15:guide id="9" orient="horz" pos="3370" userDrawn="1">
          <p15:clr>
            <a:srgbClr val="A4A3A4"/>
          </p15:clr>
        </p15:guide>
        <p15:guide id="10" orient="horz" pos="4574" userDrawn="1">
          <p15:clr>
            <a:srgbClr val="A4A3A4"/>
          </p15:clr>
        </p15:guide>
        <p15:guide id="11" pos="1536" userDrawn="1">
          <p15:clr>
            <a:srgbClr val="A4A3A4"/>
          </p15:clr>
        </p15:guide>
        <p15:guide id="12" pos="2808" userDrawn="1">
          <p15:clr>
            <a:srgbClr val="A4A3A4"/>
          </p15:clr>
        </p15:guide>
        <p15:guide id="13" pos="4613" userDrawn="1">
          <p15:clr>
            <a:srgbClr val="A4A3A4"/>
          </p15:clr>
        </p15:guide>
        <p15:guide id="14" pos="4030" userDrawn="1">
          <p15:clr>
            <a:srgbClr val="A4A3A4"/>
          </p15:clr>
        </p15:guide>
        <p15:guide id="15" pos="7664" userDrawn="1">
          <p15:clr>
            <a:srgbClr val="A4A3A4"/>
          </p15:clr>
        </p15:guide>
        <p15:guide id="16" pos="3979" userDrawn="1">
          <p15:clr>
            <a:srgbClr val="A4A3A4"/>
          </p15:clr>
        </p15:guide>
        <p15:guide id="17" pos="2755" userDrawn="1">
          <p15:clr>
            <a:srgbClr val="A4A3A4"/>
          </p15:clr>
        </p15:guide>
        <p15:guide id="18" pos="1579" userDrawn="1">
          <p15:clr>
            <a:srgbClr val="A4A3A4"/>
          </p15:clr>
        </p15:guide>
        <p15:guide id="19" pos="7709" userDrawn="1">
          <p15:clr>
            <a:srgbClr val="A4A3A4"/>
          </p15:clr>
        </p15:guide>
        <p15:guide id="20" pos="5211" userDrawn="1">
          <p15:clr>
            <a:srgbClr val="A4A3A4"/>
          </p15:clr>
        </p15:guide>
        <p15:guide id="21" userDrawn="1">
          <p15:clr>
            <a:srgbClr val="A4A3A4"/>
          </p15:clr>
        </p15:guide>
        <p15:guide id="22" pos="5256" userDrawn="1">
          <p15:clr>
            <a:srgbClr val="A4A3A4"/>
          </p15:clr>
        </p15:guide>
        <p15:guide id="23" pos="6435" userDrawn="1">
          <p15:clr>
            <a:srgbClr val="A4A3A4"/>
          </p15:clr>
        </p15:guide>
        <p15:guide id="24" pos="6485" userDrawn="1">
          <p15:clr>
            <a:srgbClr val="A4A3A4"/>
          </p15:clr>
        </p15:guide>
        <p15:guide id="25" pos="8870" userDrawn="1">
          <p15:clr>
            <a:srgbClr val="A4A3A4"/>
          </p15:clr>
        </p15:guide>
        <p15:guide id="26" pos="352" userDrawn="1">
          <p15:clr>
            <a:srgbClr val="A4A3A4"/>
          </p15:clr>
        </p15:guide>
        <p15:guide id="27" pos="5576"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talano, Alec" initials="" lastIdx="23" clrIdx="0"/>
  <p:cmAuthor id="1" name="Alec Catalano" initial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prnPr/>
  <p:clrMru>
    <a:srgbClr val="000000"/>
    <a:srgbClr val="232F3E"/>
    <a:srgbClr val="595A5D"/>
    <a:srgbClr val="414042"/>
    <a:srgbClr val="DCDCDC"/>
    <a:srgbClr val="4F81BD"/>
    <a:srgbClr val="0C9B2E"/>
    <a:srgbClr val="FFFAD0"/>
    <a:srgbClr val="FFF8AE"/>
    <a:srgbClr val="FCB64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autoAdjust="0"/>
    <p:restoredTop sz="96405" autoAdjust="0"/>
  </p:normalViewPr>
  <p:slideViewPr>
    <p:cSldViewPr snapToGrid="0" showGuides="1">
      <p:cViewPr varScale="1">
        <p:scale>
          <a:sx n="171" d="100"/>
          <a:sy n="171" d="100"/>
        </p:scale>
        <p:origin x="984" y="184"/>
      </p:cViewPr>
      <p:guideLst>
        <p:guide orient="horz" pos="1030"/>
        <p:guide orient="horz" pos="4637"/>
        <p:guide orient="horz" pos="3859"/>
        <p:guide orient="horz" pos="5114"/>
        <p:guide orient="horz" pos="2160"/>
        <p:guide orient="horz" pos="2205"/>
        <p:guide orient="horz" pos="3325"/>
        <p:guide orient="horz" pos="200"/>
        <p:guide orient="horz" pos="3370"/>
        <p:guide orient="horz" pos="4574"/>
        <p:guide pos="1536"/>
        <p:guide pos="2808"/>
        <p:guide pos="4613"/>
        <p:guide pos="4030"/>
        <p:guide pos="7664"/>
        <p:guide pos="3979"/>
        <p:guide pos="2755"/>
        <p:guide pos="1579"/>
        <p:guide pos="7709"/>
        <p:guide pos="5211"/>
        <p:guide/>
        <p:guide pos="5256"/>
        <p:guide pos="6435"/>
        <p:guide pos="6485"/>
        <p:guide pos="8870"/>
        <p:guide pos="352"/>
        <p:guide pos="5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99" d="100"/>
          <a:sy n="99" d="100"/>
        </p:scale>
        <p:origin x="4272"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EAAF34-71F8-6342-832E-C583FEB3F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700CEA-93F0-3648-8636-3ECA00800B2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2887149-AF03-6142-908A-3DD284EAF54B}" type="datetimeFigureOut">
              <a:rPr lang="en-US" smtClean="0"/>
              <a:t>4/11/24</a:t>
            </a:fld>
            <a:endParaRPr lang="en-US"/>
          </a:p>
        </p:txBody>
      </p:sp>
      <p:sp>
        <p:nvSpPr>
          <p:cNvPr id="4" name="Footer Placeholder 3">
            <a:extLst>
              <a:ext uri="{FF2B5EF4-FFF2-40B4-BE49-F238E27FC236}">
                <a16:creationId xmlns:a16="http://schemas.microsoft.com/office/drawing/2014/main" id="{15D72482-B212-B34F-AAFC-10B8C8EF77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F0B9C6E-4611-5A44-8B47-37FCE89DEBF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71AC043-34FA-4C46-BDAD-AE3E2DBAD1A4}" type="slidenum">
              <a:rPr lang="en-US" smtClean="0"/>
              <a:t>‹#›</a:t>
            </a:fld>
            <a:endParaRPr lang="en-US"/>
          </a:p>
        </p:txBody>
      </p:sp>
    </p:spTree>
    <p:extLst>
      <p:ext uri="{BB962C8B-B14F-4D97-AF65-F5344CB8AC3E}">
        <p14:creationId xmlns:p14="http://schemas.microsoft.com/office/powerpoint/2010/main" val="246364606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Amazon Ember Regular"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Amazon Ember Regular" charset="0"/>
              </a:defRPr>
            </a:lvl1pPr>
          </a:lstStyle>
          <a:p>
            <a:fld id="{0B25AC41-3BEC-9247-8322-91B80C013F2D}" type="datetimeFigureOut">
              <a:rPr lang="en-US" smtClean="0"/>
              <a:pPr/>
              <a:t>4/11/24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Amazon Ember Regular"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Amazon Ember Regular" charset="0"/>
              </a:defRPr>
            </a:lvl1pPr>
          </a:lstStyle>
          <a:p>
            <a:fld id="{69C3F2ED-74C5-7D4F-8560-0CC253E9A436}" type="slidenum">
              <a:rPr lang="en-US" smtClean="0"/>
              <a:pPr/>
              <a:t>‹#›</a:t>
            </a:fld>
            <a:endParaRPr lang="en-US" dirty="0"/>
          </a:p>
        </p:txBody>
      </p:sp>
    </p:spTree>
    <p:extLst>
      <p:ext uri="{BB962C8B-B14F-4D97-AF65-F5344CB8AC3E}">
        <p14:creationId xmlns:p14="http://schemas.microsoft.com/office/powerpoint/2010/main" val="943536003"/>
      </p:ext>
    </p:extLst>
  </p:cSld>
  <p:clrMap bg1="lt1" tx1="dk1" bg2="lt2" tx2="dk2" accent1="accent1" accent2="accent2" accent3="accent3" accent4="accent4" accent5="accent5" accent6="accent6" hlink="hlink" folHlink="folHlink"/>
  <p:notesStyle>
    <a:lvl1pPr marL="0" algn="l" defTabSz="731520" rtl="0" eaLnBrk="1" latinLnBrk="0" hangingPunct="1">
      <a:defRPr sz="1920" b="0" i="0" kern="1200">
        <a:solidFill>
          <a:schemeClr val="tx1"/>
        </a:solidFill>
        <a:latin typeface="Amazon Ember Regular" charset="0"/>
        <a:ea typeface="+mn-ea"/>
        <a:cs typeface="+mn-cs"/>
      </a:defRPr>
    </a:lvl1pPr>
    <a:lvl2pPr marL="731520" algn="l" defTabSz="731520" rtl="0" eaLnBrk="1" latinLnBrk="0" hangingPunct="1">
      <a:defRPr sz="1920" b="0" i="0" kern="1200">
        <a:solidFill>
          <a:schemeClr val="tx1"/>
        </a:solidFill>
        <a:latin typeface="Amazon Ember Regular" charset="0"/>
        <a:ea typeface="+mn-ea"/>
        <a:cs typeface="+mn-cs"/>
      </a:defRPr>
    </a:lvl2pPr>
    <a:lvl3pPr marL="1463040" algn="l" defTabSz="731520" rtl="0" eaLnBrk="1" latinLnBrk="0" hangingPunct="1">
      <a:defRPr sz="1920" b="0" i="0" kern="1200">
        <a:solidFill>
          <a:schemeClr val="tx1"/>
        </a:solidFill>
        <a:latin typeface="Amazon Ember Regular" charset="0"/>
        <a:ea typeface="+mn-ea"/>
        <a:cs typeface="+mn-cs"/>
      </a:defRPr>
    </a:lvl3pPr>
    <a:lvl4pPr marL="2194560" algn="l" defTabSz="731520" rtl="0" eaLnBrk="1" latinLnBrk="0" hangingPunct="1">
      <a:defRPr sz="1920" b="0" i="0" kern="1200">
        <a:solidFill>
          <a:schemeClr val="tx1"/>
        </a:solidFill>
        <a:latin typeface="Amazon Ember Regular" charset="0"/>
        <a:ea typeface="+mn-ea"/>
        <a:cs typeface="+mn-cs"/>
      </a:defRPr>
    </a:lvl4pPr>
    <a:lvl5pPr marL="2926080" algn="l" defTabSz="731520" rtl="0" eaLnBrk="1" latinLnBrk="0" hangingPunct="1">
      <a:defRPr sz="1920" b="0" i="0" kern="1200">
        <a:solidFill>
          <a:schemeClr val="tx1"/>
        </a:solidFill>
        <a:latin typeface="Amazon Ember Regular" charset="0"/>
        <a:ea typeface="+mn-ea"/>
        <a:cs typeface="+mn-cs"/>
      </a:defRPr>
    </a:lvl5pPr>
    <a:lvl6pPr marL="3657600" algn="l" defTabSz="731520" rtl="0" eaLnBrk="1" latinLnBrk="0" hangingPunct="1">
      <a:defRPr sz="1920" kern="1200">
        <a:solidFill>
          <a:schemeClr val="tx1"/>
        </a:solidFill>
        <a:latin typeface="+mn-lt"/>
        <a:ea typeface="+mn-ea"/>
        <a:cs typeface="+mn-cs"/>
      </a:defRPr>
    </a:lvl6pPr>
    <a:lvl7pPr marL="4389120" algn="l" defTabSz="731520" rtl="0" eaLnBrk="1" latinLnBrk="0" hangingPunct="1">
      <a:defRPr sz="1920" kern="1200">
        <a:solidFill>
          <a:schemeClr val="tx1"/>
        </a:solidFill>
        <a:latin typeface="+mn-lt"/>
        <a:ea typeface="+mn-ea"/>
        <a:cs typeface="+mn-cs"/>
      </a:defRPr>
    </a:lvl7pPr>
    <a:lvl8pPr marL="5120640" algn="l" defTabSz="731520" rtl="0" eaLnBrk="1" latinLnBrk="0" hangingPunct="1">
      <a:defRPr sz="1920" kern="1200">
        <a:solidFill>
          <a:schemeClr val="tx1"/>
        </a:solidFill>
        <a:latin typeface="+mn-lt"/>
        <a:ea typeface="+mn-ea"/>
        <a:cs typeface="+mn-cs"/>
      </a:defRPr>
    </a:lvl8pPr>
    <a:lvl9pPr marL="5852160" algn="l" defTabSz="731520" rtl="0" eaLnBrk="1" latinLnBrk="0" hangingPunct="1">
      <a:defRPr sz="192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Cover_White_C-01_ORANGE_1280x720_2x.png"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ORANGE_1280x720_2x.png" TargetMode="Externa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ORANGE_1280x720_Cluster-A_2x.png" TargetMode="External"/><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RED_1280x720_Cluster-B_2x.png" TargetMode="External"/><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Squid_C-01_YELLOW_1280x720_Cluster-D_2x.png" TargetMode="External"/><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Divider_White_C-01_PURPLE_1280x720_Cluster-B_2x.png" TargetMode="External"/><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3" Type="http://schemas.openxmlformats.org/officeDocument/2006/relationships/image" Target="file:////Users/sddonate/Desktop/AWS-CS-0000_2020_BRAND-PATTERN/_WORKING/Blueprint_blocks_C/_ASSETS_PPT/AWS-Core-Brand_PPT-Cover_White_C-01_ORANGE_1280x720_2x.png"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svg"/><Relationship Id="rId4"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_TwoSpeakers">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0CEB7B3-AE47-2646-A763-681E0D2B0182}"/>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6" name="Text Placeholder 11"/>
          <p:cNvSpPr>
            <a:spLocks noGrp="1"/>
          </p:cNvSpPr>
          <p:nvPr>
            <p:ph type="body" sz="quarter" idx="10" hasCustomPrompt="1"/>
          </p:nvPr>
        </p:nvSpPr>
        <p:spPr>
          <a:xfrm>
            <a:off x="548640" y="5950356"/>
            <a:ext cx="5892800" cy="996597"/>
          </a:xfrm>
          <a:prstGeom prst="rect">
            <a:avLst/>
          </a:prstGeom>
        </p:spPr>
        <p:txBody>
          <a:bodyPr>
            <a:normAutofit/>
          </a:bodyPr>
          <a:lstStyle>
            <a:lvl1pPr marL="0" indent="0" algn="l">
              <a:buNone/>
              <a:defRPr sz="2600" baseline="0"/>
            </a:lvl1pPr>
          </a:lstStyle>
          <a:p>
            <a:pPr lvl="0"/>
            <a:r>
              <a:rPr lang="en-US" dirty="0"/>
              <a:t>Click to edit presenter, team</a:t>
            </a:r>
          </a:p>
          <a:p>
            <a:pPr lvl="0"/>
            <a:r>
              <a:rPr lang="en-US" dirty="0"/>
              <a:t>Click to edit date, location</a:t>
            </a:r>
          </a:p>
        </p:txBody>
      </p:sp>
      <p:sp>
        <p:nvSpPr>
          <p:cNvPr id="10" name="Text Placeholder 8"/>
          <p:cNvSpPr>
            <a:spLocks noGrp="1"/>
          </p:cNvSpPr>
          <p:nvPr>
            <p:ph type="body" sz="quarter" idx="12" hasCustomPrompt="1"/>
          </p:nvPr>
        </p:nvSpPr>
        <p:spPr>
          <a:xfrm>
            <a:off x="548640" y="3053166"/>
            <a:ext cx="11719981" cy="1191259"/>
          </a:xfrm>
          <a:prstGeom prst="rect">
            <a:avLst/>
          </a:prstGeom>
        </p:spPr>
        <p:txBody>
          <a:bodyPr>
            <a:noAutofit/>
          </a:bodyPr>
          <a:lstStyle>
            <a:lvl1pPr marL="0" indent="0" algn="l">
              <a:buNone/>
              <a:defRPr sz="6400" b="1" i="0" baseline="0">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dirty="0"/>
              <a:t>Click to edit title</a:t>
            </a:r>
          </a:p>
        </p:txBody>
      </p:sp>
      <p:sp>
        <p:nvSpPr>
          <p:cNvPr id="12" name="Text Placeholder 11"/>
          <p:cNvSpPr>
            <a:spLocks noGrp="1"/>
          </p:cNvSpPr>
          <p:nvPr>
            <p:ph type="body" sz="quarter" idx="13" hasCustomPrompt="1"/>
          </p:nvPr>
        </p:nvSpPr>
        <p:spPr>
          <a:xfrm>
            <a:off x="548640" y="4253721"/>
            <a:ext cx="9666531" cy="1231243"/>
          </a:xfrm>
          <a:prstGeom prst="rect">
            <a:avLst/>
          </a:prstGeom>
        </p:spPr>
        <p:txBody>
          <a:bodyPr/>
          <a:lstStyle>
            <a:lvl1pPr marL="0" indent="0" algn="l">
              <a:buNone/>
              <a:defRPr sz="2900"/>
            </a:lvl1pPr>
          </a:lstStyle>
          <a:p>
            <a:pPr lvl="0"/>
            <a:r>
              <a:rPr lang="en-US" dirty="0"/>
              <a:t>Click to edit subtitle</a:t>
            </a:r>
          </a:p>
        </p:txBody>
      </p:sp>
      <p:pic>
        <p:nvPicPr>
          <p:cNvPr id="9" name="Picture 8"/>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548819" y="928054"/>
            <a:ext cx="2286000" cy="704849"/>
          </a:xfrm>
          <a:prstGeom prst="rect">
            <a:avLst/>
          </a:prstGeom>
        </p:spPr>
      </p:pic>
    </p:spTree>
    <p:extLst>
      <p:ext uri="{BB962C8B-B14F-4D97-AF65-F5344CB8AC3E}">
        <p14:creationId xmlns:p14="http://schemas.microsoft.com/office/powerpoint/2010/main" val="22170408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_of_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20CA0-5CE7-1A4B-ACE6-C7A15B82CC8C}"/>
              </a:ext>
            </a:extLst>
          </p:cNvPr>
          <p:cNvSpPr>
            <a:spLocks noGrp="1"/>
          </p:cNvSpPr>
          <p:nvPr>
            <p:ph type="title"/>
          </p:nvPr>
        </p:nvSpPr>
        <p:spPr>
          <a:xfrm>
            <a:off x="548640" y="183898"/>
            <a:ext cx="13510260" cy="993392"/>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5" name="Text Placeholder 4">
            <a:extLst>
              <a:ext uri="{FF2B5EF4-FFF2-40B4-BE49-F238E27FC236}">
                <a16:creationId xmlns:a16="http://schemas.microsoft.com/office/drawing/2014/main" id="{F7710D4E-8635-D746-9FE7-1EE20F49E45F}"/>
              </a:ext>
            </a:extLst>
          </p:cNvPr>
          <p:cNvSpPr>
            <a:spLocks noGrp="1"/>
          </p:cNvSpPr>
          <p:nvPr>
            <p:ph type="body" sz="quarter" idx="10"/>
          </p:nvPr>
        </p:nvSpPr>
        <p:spPr>
          <a:xfrm>
            <a:off x="548640" y="1645920"/>
            <a:ext cx="13510260" cy="4686301"/>
          </a:xfrm>
          <a:prstGeom prst="rect">
            <a:avLst/>
          </a:prstGeom>
        </p:spPr>
        <p:txBody>
          <a:bodyPr/>
          <a:lstStyle>
            <a:lvl5pPr>
              <a:defRPr sz="19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6" name="Picture 3">
            <a:extLst>
              <a:ext uri="{FF2B5EF4-FFF2-40B4-BE49-F238E27FC236}">
                <a16:creationId xmlns:a16="http://schemas.microsoft.com/office/drawing/2014/main" id="{78F13FCB-6CD8-4041-A304-87307CB162D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149348651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der_Slide_and_Subtitle">
    <p:bg>
      <p:bgPr>
        <a:solidFill>
          <a:schemeClr val="bg2"/>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1E14F9F-61A8-D245-82B4-BEE1019F2921}"/>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solidFill>
                  <a:schemeClr val="tx2"/>
                </a:solidFill>
              </a:defRPr>
            </a:lvl1pPr>
            <a:lvl2pPr marL="731520" indent="0">
              <a:buNone/>
              <a:defRPr/>
            </a:lvl2pPr>
          </a:lstStyle>
          <a:p>
            <a:pPr lvl="0"/>
            <a:r>
              <a:rPr lang="zh-CN" altLang="en-US"/>
              <a:t>单击此处编辑母版文本样式</a:t>
            </a:r>
          </a:p>
        </p:txBody>
      </p:sp>
      <p:pic>
        <p:nvPicPr>
          <p:cNvPr id="6" name="Picture 5">
            <a:extLst>
              <a:ext uri="{FF2B5EF4-FFF2-40B4-BE49-F238E27FC236}">
                <a16:creationId xmlns:a16="http://schemas.microsoft.com/office/drawing/2014/main" id="{AADEAA9C-F4C9-2744-99A7-A696CEE6731E}"/>
              </a:ext>
            </a:extLst>
          </p:cNvPr>
          <p:cNvPicPr>
            <a:picLocks noChangeAspect="1"/>
          </p:cNvPicPr>
          <p:nvPr userDrawn="1"/>
        </p:nvPicPr>
        <p:blipFill>
          <a:blip r:embed="rId4"/>
          <a:srcRect/>
          <a:stretch/>
        </p:blipFill>
        <p:spPr>
          <a:xfrm>
            <a:off x="13145379" y="7635289"/>
            <a:ext cx="914400" cy="285749"/>
          </a:xfrm>
          <a:prstGeom prst="rect">
            <a:avLst/>
          </a:prstGeom>
        </p:spPr>
      </p:pic>
    </p:spTree>
    <p:extLst>
      <p:ext uri="{BB962C8B-B14F-4D97-AF65-F5344CB8AC3E}">
        <p14:creationId xmlns:p14="http://schemas.microsoft.com/office/powerpoint/2010/main" val="212483756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_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pic>
        <p:nvPicPr>
          <p:cNvPr id="7" name="Picture 6">
            <a:extLst>
              <a:ext uri="{FF2B5EF4-FFF2-40B4-BE49-F238E27FC236}">
                <a16:creationId xmlns:a16="http://schemas.microsoft.com/office/drawing/2014/main" id="{13A373A2-BC72-D945-85CF-ADECFF33329B}"/>
              </a:ext>
            </a:extLst>
          </p:cNvPr>
          <p:cNvPicPr>
            <a:picLocks noChangeAspect="1"/>
          </p:cNvPicPr>
          <p:nvPr userDrawn="1"/>
        </p:nvPicPr>
        <p:blipFill>
          <a:blip r:embed="rId2" r:link="rId3"/>
          <a:stretch>
            <a:fillRect/>
          </a:stretch>
        </p:blipFill>
        <p:spPr>
          <a:xfrm>
            <a:off x="0" y="0"/>
            <a:ext cx="14630400" cy="8229600"/>
          </a:xfrm>
          <a:prstGeom prst="rect">
            <a:avLst/>
          </a:prstGeom>
        </p:spPr>
      </p:pic>
      <p:pic>
        <p:nvPicPr>
          <p:cNvPr id="6" name="Picture 5">
            <a:extLst>
              <a:ext uri="{FF2B5EF4-FFF2-40B4-BE49-F238E27FC236}">
                <a16:creationId xmlns:a16="http://schemas.microsoft.com/office/drawing/2014/main" id="{C14A1087-3358-7642-A02F-89DEC13DEC64}"/>
              </a:ext>
            </a:extLst>
          </p:cNvPr>
          <p:cNvPicPr>
            <a:picLocks noChangeAspect="1"/>
          </p:cNvPicPr>
          <p:nvPr userDrawn="1"/>
        </p:nvPicPr>
        <p:blipFill>
          <a:blip r:embed="rId4"/>
          <a:srcRect/>
          <a:stretch/>
        </p:blipFill>
        <p:spPr>
          <a:xfrm>
            <a:off x="13145379" y="7635289"/>
            <a:ext cx="914400" cy="285749"/>
          </a:xfrm>
          <a:prstGeom prst="rect">
            <a:avLst/>
          </a:prstGeom>
        </p:spPr>
      </p:pic>
    </p:spTree>
    <p:extLst>
      <p:ext uri="{BB962C8B-B14F-4D97-AF65-F5344CB8AC3E}">
        <p14:creationId xmlns:p14="http://schemas.microsoft.com/office/powerpoint/2010/main" val="402902038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ivider_Slid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22CAD83-B6C9-C14C-B616-30B07C168D1D}"/>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pic>
        <p:nvPicPr>
          <p:cNvPr id="5" name="Picture 4">
            <a:extLst>
              <a:ext uri="{FF2B5EF4-FFF2-40B4-BE49-F238E27FC236}">
                <a16:creationId xmlns:a16="http://schemas.microsoft.com/office/drawing/2014/main" id="{D0C8CF3A-AB60-C24F-96E1-1D9EF6F70D53}"/>
              </a:ext>
            </a:extLst>
          </p:cNvPr>
          <p:cNvPicPr>
            <a:picLocks noChangeAspect="1"/>
          </p:cNvPicPr>
          <p:nvPr userDrawn="1"/>
        </p:nvPicPr>
        <p:blipFill>
          <a:blip r:embed="rId4"/>
          <a:srcRect/>
          <a:stretch/>
        </p:blipFill>
        <p:spPr>
          <a:xfrm>
            <a:off x="13145379" y="7635289"/>
            <a:ext cx="914400" cy="285749"/>
          </a:xfrm>
          <a:prstGeom prst="rect">
            <a:avLst/>
          </a:prstGeom>
        </p:spPr>
      </p:pic>
    </p:spTree>
    <p:extLst>
      <p:ext uri="{BB962C8B-B14F-4D97-AF65-F5344CB8AC3E}">
        <p14:creationId xmlns:p14="http://schemas.microsoft.com/office/powerpoint/2010/main" val="3037228628"/>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_Slide_SquidInk">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4E20E6-A9D3-0542-AE1B-475B5CDB07AF}"/>
              </a:ext>
            </a:extLst>
          </p:cNvPr>
          <p:cNvPicPr>
            <a:picLocks noChangeAspect="1"/>
          </p:cNvPicPr>
          <p:nvPr userDrawn="1"/>
        </p:nvPicPr>
        <p:blipFill>
          <a:blip r:embed="rId2" r:link="rId3"/>
          <a:stretch>
            <a:fillRect/>
          </a:stretch>
        </p:blipFill>
        <p:spPr>
          <a:xfrm>
            <a:off x="0" y="36576"/>
            <a:ext cx="14630400" cy="8229600"/>
          </a:xfrm>
          <a:prstGeom prst="rect">
            <a:avLst/>
          </a:prstGeom>
        </p:spPr>
      </p:pic>
      <p:sp>
        <p:nvSpPr>
          <p:cNvPr id="2" name="Title 1"/>
          <p:cNvSpPr>
            <a:spLocks noGrp="1"/>
          </p:cNvSpPr>
          <p:nvPr>
            <p:ph type="title"/>
          </p:nvPr>
        </p:nvSpPr>
        <p:spPr>
          <a:xfrm>
            <a:off x="548640" y="3108960"/>
            <a:ext cx="12435840" cy="1488168"/>
          </a:xfrm>
        </p:spPr>
        <p:txBody>
          <a:bodyPr anchor="ctr">
            <a:noAutofit/>
          </a:bodyPr>
          <a:lstStyle>
            <a:lvl1pPr algn="l">
              <a:defRPr sz="6400" b="1" i="0" cap="none">
                <a:solidFill>
                  <a:schemeClr val="tx1"/>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pic>
        <p:nvPicPr>
          <p:cNvPr id="6" name="Picture 5">
            <a:extLst>
              <a:ext uri="{FF2B5EF4-FFF2-40B4-BE49-F238E27FC236}">
                <a16:creationId xmlns:a16="http://schemas.microsoft.com/office/drawing/2014/main" id="{E793F82A-9D73-F748-8976-93D891309112}"/>
              </a:ext>
            </a:extLst>
          </p:cNvPr>
          <p:cNvPicPr>
            <a:picLocks noChangeAspect="1"/>
          </p:cNvPicPr>
          <p:nvPr userDrawn="1"/>
        </p:nvPicPr>
        <p:blipFill>
          <a:blip r:embed="rId4"/>
          <a:srcRect/>
          <a:stretch/>
        </p:blipFill>
        <p:spPr>
          <a:xfrm>
            <a:off x="13145379" y="7635289"/>
            <a:ext cx="914400" cy="285749"/>
          </a:xfrm>
          <a:prstGeom prst="rect">
            <a:avLst/>
          </a:prstGeom>
        </p:spPr>
      </p:pic>
    </p:spTree>
    <p:extLst>
      <p:ext uri="{BB962C8B-B14F-4D97-AF65-F5344CB8AC3E}">
        <p14:creationId xmlns:p14="http://schemas.microsoft.com/office/powerpoint/2010/main" val="463584606"/>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ne_Bulleted_List">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1460" cy="873186"/>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548640" y="1645920"/>
            <a:ext cx="13510260" cy="5431155"/>
          </a:xfrm>
          <a:prstGeom prst="rect">
            <a:avLst/>
          </a:prstGeom>
        </p:spPr>
        <p:txBody>
          <a:bodyPr>
            <a:normAutofit/>
          </a:bodyPr>
          <a:lstStyle>
            <a:lvl1pPr>
              <a:defRPr sz="3200"/>
            </a:lvl1pPr>
            <a:lvl2pPr>
              <a:defRPr sz="2900"/>
            </a:lvl2pPr>
            <a:lvl3pPr>
              <a:defRPr sz="2600"/>
            </a:lvl3pPr>
            <a:lvl4pPr marL="2194560" indent="0">
              <a:buNone/>
              <a:defRPr sz="2600"/>
            </a:lvl4pPr>
            <a:lvl5pPr>
              <a:defRPr sz="2560"/>
            </a:lvl5pPr>
            <a:lvl6pPr>
              <a:defRPr sz="2880"/>
            </a:lvl6pPr>
            <a:lvl7pPr>
              <a:defRPr sz="2880"/>
            </a:lvl7pPr>
            <a:lvl8pPr>
              <a:defRPr sz="2880"/>
            </a:lvl8pPr>
            <a:lvl9pPr>
              <a:defRPr sz="288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p:txBody>
      </p:sp>
      <p:pic>
        <p:nvPicPr>
          <p:cNvPr id="6" name="Picture 3">
            <a:extLst>
              <a:ext uri="{FF2B5EF4-FFF2-40B4-BE49-F238E27FC236}">
                <a16:creationId xmlns:a16="http://schemas.microsoft.com/office/drawing/2014/main" id="{182A93B8-7A26-6447-A954-5AB41126573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826396584"/>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_Bulleted_Sections">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5" name="Text Placeholder 4">
            <a:extLst>
              <a:ext uri="{FF2B5EF4-FFF2-40B4-BE49-F238E27FC236}">
                <a16:creationId xmlns:a16="http://schemas.microsoft.com/office/drawing/2014/main" id="{FE6C5D45-2516-944B-852E-9416AD28710B}"/>
              </a:ext>
            </a:extLst>
          </p:cNvPr>
          <p:cNvSpPr>
            <a:spLocks noGrp="1"/>
          </p:cNvSpPr>
          <p:nvPr>
            <p:ph type="body" sz="quarter" idx="10"/>
          </p:nvPr>
        </p:nvSpPr>
        <p:spPr>
          <a:xfrm>
            <a:off x="548639" y="1645920"/>
            <a:ext cx="6400800" cy="5089616"/>
          </a:xfrm>
          <a:prstGeom prst="rect">
            <a:avLst/>
          </a:prstGeom>
        </p:spPr>
        <p:txBody>
          <a:bodyPr/>
          <a:lstStyle>
            <a:lvl5pPr>
              <a:defRPr sz="19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Text Placeholder 4">
            <a:extLst>
              <a:ext uri="{FF2B5EF4-FFF2-40B4-BE49-F238E27FC236}">
                <a16:creationId xmlns:a16="http://schemas.microsoft.com/office/drawing/2014/main" id="{0680DD99-A52C-8C44-9396-106AF36BB473}"/>
              </a:ext>
            </a:extLst>
          </p:cNvPr>
          <p:cNvSpPr>
            <a:spLocks noGrp="1"/>
          </p:cNvSpPr>
          <p:nvPr>
            <p:ph type="body" sz="quarter" idx="11"/>
          </p:nvPr>
        </p:nvSpPr>
        <p:spPr>
          <a:xfrm>
            <a:off x="7658100" y="1645920"/>
            <a:ext cx="6400800" cy="5089616"/>
          </a:xfrm>
          <a:prstGeom prst="rect">
            <a:avLst/>
          </a:prstGeom>
        </p:spPr>
        <p:txBody>
          <a:bodyPr/>
          <a:lstStyle>
            <a:lvl5pPr>
              <a:defRPr sz="19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8" name="Picture 3">
            <a:extLst>
              <a:ext uri="{FF2B5EF4-FFF2-40B4-BE49-F238E27FC236}">
                <a16:creationId xmlns:a16="http://schemas.microsoft.com/office/drawing/2014/main" id="{D1E212E0-AE81-5745-AB54-0E8E90C1B13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383351929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_and_Image">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normAutofit/>
          </a:bodyPr>
          <a:lstStyle>
            <a:lvl1pPr>
              <a:defRPr sz="3800" b="1" i="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8" name="Picture Placeholder 7">
            <a:extLst>
              <a:ext uri="{FF2B5EF4-FFF2-40B4-BE49-F238E27FC236}">
                <a16:creationId xmlns:a16="http://schemas.microsoft.com/office/drawing/2014/main" id="{758B8829-AB11-E54F-AFFF-11D6AD397DEB}"/>
              </a:ext>
            </a:extLst>
          </p:cNvPr>
          <p:cNvSpPr>
            <a:spLocks noGrp="1"/>
          </p:cNvSpPr>
          <p:nvPr>
            <p:ph type="pic" sz="quarter" idx="11"/>
          </p:nvPr>
        </p:nvSpPr>
        <p:spPr>
          <a:xfrm>
            <a:off x="7658100" y="1645920"/>
            <a:ext cx="6400800" cy="5088346"/>
          </a:xfrm>
          <a:prstGeom prst="rect">
            <a:avLst/>
          </a:prstGeom>
        </p:spPr>
        <p:txBody>
          <a:bodyPr/>
          <a:lstStyle>
            <a:lvl1pPr>
              <a:defRPr>
                <a:solidFill>
                  <a:schemeClr val="bg2"/>
                </a:solidFill>
              </a:defRPr>
            </a:lvl1pPr>
          </a:lstStyle>
          <a:p>
            <a:r>
              <a:rPr lang="zh-CN" altLang="en-US"/>
              <a:t>单击图标添加图片</a:t>
            </a:r>
            <a:endParaRPr lang="en-US"/>
          </a:p>
        </p:txBody>
      </p:sp>
      <p:sp>
        <p:nvSpPr>
          <p:cNvPr id="10" name="Text Placeholder 9">
            <a:extLst>
              <a:ext uri="{FF2B5EF4-FFF2-40B4-BE49-F238E27FC236}">
                <a16:creationId xmlns:a16="http://schemas.microsoft.com/office/drawing/2014/main" id="{3305C376-814F-9B49-99E8-6F17D4026FAD}"/>
              </a:ext>
            </a:extLst>
          </p:cNvPr>
          <p:cNvSpPr>
            <a:spLocks noGrp="1"/>
          </p:cNvSpPr>
          <p:nvPr>
            <p:ph type="body" sz="quarter" idx="12" hasCustomPrompt="1"/>
          </p:nvPr>
        </p:nvSpPr>
        <p:spPr>
          <a:xfrm>
            <a:off x="548639" y="1645920"/>
            <a:ext cx="6400800" cy="5087619"/>
          </a:xfrm>
          <a:prstGeom prst="rect">
            <a:avLst/>
          </a:prstGeom>
        </p:spPr>
        <p:txBody>
          <a:bodyPr/>
          <a:lstStyle>
            <a:lvl1pPr marL="0" marR="0" indent="0" algn="l" defTabSz="731520" rtl="0" eaLnBrk="1" fontAlgn="auto" latinLnBrk="0" hangingPunct="1">
              <a:lnSpc>
                <a:spcPct val="100000"/>
              </a:lnSpc>
              <a:spcBef>
                <a:spcPct val="20000"/>
              </a:spcBef>
              <a:spcAft>
                <a:spcPts val="0"/>
              </a:spcAft>
              <a:buClrTx/>
              <a:buSzTx/>
              <a:buFontTx/>
              <a:buNone/>
              <a:tabLst/>
              <a:defRPr sz="1900" b="1" baseline="0">
                <a:solidFill>
                  <a:schemeClr val="bg2"/>
                </a:solidFill>
                <a:latin typeface="+mn-lt"/>
              </a:defRPr>
            </a:lvl1pPr>
          </a:lstStyle>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sed diam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sed diam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a:p>
            <a:pPr marL="0" marR="0" lvl="0" indent="0" algn="l" defTabSz="731520" rtl="0" eaLnBrk="1" fontAlgn="auto" latinLnBrk="0" hangingPunct="1">
              <a:lnSpc>
                <a:spcPct val="100000"/>
              </a:lnSpc>
              <a:spcBef>
                <a:spcPct val="20000"/>
              </a:spcBef>
              <a:spcAft>
                <a:spcPts val="0"/>
              </a:spcAft>
              <a:buClrTx/>
              <a:buSzTx/>
              <a:buFontTx/>
              <a:buNone/>
              <a:tabLst/>
              <a:defRPr/>
            </a:pPr>
            <a:r>
              <a:rPr kumimoji="0" lang="en-US" sz="1920" b="1"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Lorem ipsum dolor sit </a:t>
            </a:r>
            <a:r>
              <a:rPr kumimoji="0" lang="en-US" sz="1920" b="1" i="0" u="none" strike="noStrike" kern="1200" cap="none" spc="0" normalizeH="0" baseline="0" noProof="0" dirty="0" err="1">
                <a:ln>
                  <a:noFill/>
                </a:ln>
                <a:solidFill>
                  <a:srgbClr val="FFFFFF"/>
                </a:solidFill>
                <a:effectLst/>
                <a:uLnTx/>
                <a:uFillTx/>
                <a:latin typeface="Amazon Ember Regular" charset="0"/>
                <a:ea typeface="+mn-ea"/>
                <a:cs typeface="Amazon Ember Regular" charset="0"/>
              </a:rPr>
              <a:t>amet</a:t>
            </a:r>
            <a:r>
              <a:rPr kumimoji="0" lang="en-US" sz="1920" b="0" i="0" u="none" strike="noStrike" kern="1200" cap="none" spc="0" normalizeH="0" baseline="0" noProof="0" dirty="0">
                <a:ln>
                  <a:noFill/>
                </a:ln>
                <a:solidFill>
                  <a:srgbClr val="FFFFFF"/>
                </a:solidFill>
                <a:effectLst/>
                <a:uLnTx/>
                <a:uFillTx/>
                <a:latin typeface="Amazon Ember Regular" charset="0"/>
                <a:ea typeface="+mn-ea"/>
                <a:cs typeface="Amazon Ember Regular"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consectetuer</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adipiscing</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elit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sed diam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nonummy</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nibh</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euismod</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tincidunt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ut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laoreet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dolore magna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aliquam</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erat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r>
              <a:rPr kumimoji="0" lang="en-US" sz="1920" b="0" i="0" u="none" strike="noStrike" kern="1200" cap="none" spc="0" normalizeH="0" baseline="0" noProof="0" dirty="0" err="1">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volutpat</a:t>
            </a:r>
            <a:r>
              <a:rPr kumimoji="0" lang="en-US" sz="1920" b="0" i="0" u="none" strike="noStrike" kern="1200" cap="none" spc="0" normalizeH="0" baseline="0" noProof="0" dirty="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rPr>
              <a:t>. </a:t>
            </a:r>
          </a:p>
          <a:p>
            <a:pPr marL="0" marR="0" lvl="0" indent="0" algn="l" defTabSz="731520" rtl="0" eaLnBrk="1" fontAlgn="auto" latinLnBrk="0" hangingPunct="1">
              <a:lnSpc>
                <a:spcPct val="100000"/>
              </a:lnSpc>
              <a:spcBef>
                <a:spcPct val="20000"/>
              </a:spcBef>
              <a:spcAft>
                <a:spcPts val="0"/>
              </a:spcAft>
              <a:buClrTx/>
              <a:buSzTx/>
              <a:buFontTx/>
              <a:buNone/>
              <a:tabLst/>
              <a:defRPr/>
            </a:pPr>
            <a:endParaRPr kumimoji="0" lang="en-US" sz="3200" b="0" i="0" u="none" strike="noStrike" kern="1200" cap="none" spc="0" normalizeH="0" baseline="0" noProof="0" dirty="0">
              <a:ln>
                <a:noFill/>
              </a:ln>
              <a:solidFill>
                <a:srgbClr val="FFFFFF"/>
              </a:solidFill>
              <a:effectLst/>
              <a:uLnTx/>
              <a:uFillTx/>
              <a:latin typeface="Amazon Ember Regular" charset="0"/>
              <a:ea typeface="+mn-ea"/>
              <a:cs typeface="Amazon Ember Regular" charset="0"/>
            </a:endParaRPr>
          </a:p>
        </p:txBody>
      </p:sp>
      <p:pic>
        <p:nvPicPr>
          <p:cNvPr id="6" name="Picture 3">
            <a:extLst>
              <a:ext uri="{FF2B5EF4-FFF2-40B4-BE49-F238E27FC236}">
                <a16:creationId xmlns:a16="http://schemas.microsoft.com/office/drawing/2014/main" id="{C92BB5F2-D834-564B-A188-C95FADD9E21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184175018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_Collage">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39" y="1645920"/>
            <a:ext cx="4572000" cy="5028635"/>
          </a:xfrm>
          <a:prstGeom prst="rect">
            <a:avLst/>
          </a:prstGeom>
        </p:spPr>
        <p:txBody>
          <a:bodyPr/>
          <a:lstStyle/>
          <a:p>
            <a:r>
              <a:rPr lang="zh-CN" altLang="en-US"/>
              <a:t>单击图标添加图片</a:t>
            </a:r>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509760" y="1645920"/>
            <a:ext cx="4572000" cy="5028635"/>
          </a:xfrm>
          <a:prstGeom prst="rect">
            <a:avLst/>
          </a:prstGeom>
        </p:spPr>
        <p:txBody>
          <a:bodyPr/>
          <a:lstStyle/>
          <a:p>
            <a:r>
              <a:rPr lang="zh-CN" altLang="en-US"/>
              <a:t>单击图标添加图片</a:t>
            </a:r>
            <a:endParaRPr lang="en-US"/>
          </a:p>
        </p:txBody>
      </p:sp>
      <p:sp>
        <p:nvSpPr>
          <p:cNvPr id="10" name="Picture Placeholder 4">
            <a:extLst>
              <a:ext uri="{FF2B5EF4-FFF2-40B4-BE49-F238E27FC236}">
                <a16:creationId xmlns:a16="http://schemas.microsoft.com/office/drawing/2014/main" id="{0FF44110-D1F4-664B-9593-798283322862}"/>
              </a:ext>
            </a:extLst>
          </p:cNvPr>
          <p:cNvSpPr>
            <a:spLocks noGrp="1"/>
          </p:cNvSpPr>
          <p:nvPr>
            <p:ph type="pic" sz="quarter" idx="12"/>
          </p:nvPr>
        </p:nvSpPr>
        <p:spPr>
          <a:xfrm>
            <a:off x="5486400" y="1645920"/>
            <a:ext cx="3657600" cy="2686296"/>
          </a:xfrm>
          <a:prstGeom prst="rect">
            <a:avLst/>
          </a:prstGeom>
        </p:spPr>
        <p:txBody>
          <a:bodyPr/>
          <a:lstStyle/>
          <a:p>
            <a:r>
              <a:rPr lang="zh-CN" altLang="en-US"/>
              <a:t>单击图标添加图片</a:t>
            </a:r>
            <a:endParaRPr lang="en-US"/>
          </a:p>
        </p:txBody>
      </p:sp>
      <p:sp>
        <p:nvSpPr>
          <p:cNvPr id="12" name="Picture Placeholder 4">
            <a:extLst>
              <a:ext uri="{FF2B5EF4-FFF2-40B4-BE49-F238E27FC236}">
                <a16:creationId xmlns:a16="http://schemas.microsoft.com/office/drawing/2014/main" id="{886DFCC3-A169-A648-A099-3583B633E69B}"/>
              </a:ext>
            </a:extLst>
          </p:cNvPr>
          <p:cNvSpPr>
            <a:spLocks noGrp="1"/>
          </p:cNvSpPr>
          <p:nvPr>
            <p:ph type="pic" sz="quarter" idx="13"/>
          </p:nvPr>
        </p:nvSpPr>
        <p:spPr>
          <a:xfrm>
            <a:off x="5486400" y="4767345"/>
            <a:ext cx="3657600" cy="1892899"/>
          </a:xfrm>
          <a:prstGeom prst="rect">
            <a:avLst/>
          </a:prstGeom>
        </p:spPr>
        <p:txBody>
          <a:bodyPr/>
          <a:lstStyle/>
          <a:p>
            <a:r>
              <a:rPr lang="zh-CN" altLang="en-US"/>
              <a:t>单击图标添加图片</a:t>
            </a:r>
            <a:endParaRPr lang="en-US"/>
          </a:p>
        </p:txBody>
      </p:sp>
      <p:pic>
        <p:nvPicPr>
          <p:cNvPr id="8" name="Picture 3">
            <a:extLst>
              <a:ext uri="{FF2B5EF4-FFF2-40B4-BE49-F238E27FC236}">
                <a16:creationId xmlns:a16="http://schemas.microsoft.com/office/drawing/2014/main" id="{AB051ED5-544E-F144-9BA3-CC266431BC4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2901287801"/>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_Image">
    <p:spTree>
      <p:nvGrpSpPr>
        <p:cNvPr id="1" name=""/>
        <p:cNvGrpSpPr/>
        <p:nvPr/>
      </p:nvGrpSpPr>
      <p:grpSpPr>
        <a:xfrm>
          <a:off x="0" y="0"/>
          <a:ext cx="0" cy="0"/>
          <a:chOff x="0" y="0"/>
          <a:chExt cx="0" cy="0"/>
        </a:xfrm>
      </p:grpSpPr>
      <p:sp>
        <p:nvSpPr>
          <p:cNvPr id="11" name="Title 1"/>
          <p:cNvSpPr>
            <a:spLocks noGrp="1"/>
          </p:cNvSpPr>
          <p:nvPr>
            <p:ph type="title"/>
          </p:nvPr>
        </p:nvSpPr>
        <p:spPr>
          <a:xfrm>
            <a:off x="538862" y="183898"/>
            <a:ext cx="13520037" cy="873186"/>
          </a:xfrm>
        </p:spPr>
        <p:txBody>
          <a:bodyPr>
            <a:normAutofit/>
          </a:bodyPr>
          <a:lstStyle>
            <a:lvl1pPr>
              <a:defRPr sz="3800">
                <a:solidFill>
                  <a:schemeClr val="bg2"/>
                </a:solidFill>
              </a:defRPr>
            </a:lvl1pPr>
          </a:lstStyle>
          <a:p>
            <a:r>
              <a:rPr lang="zh-CN" altLang="en-US"/>
              <a:t>单击此处编辑母版标题样式</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8330183" cy="5028635"/>
          </a:xfrm>
          <a:prstGeom prst="rect">
            <a:avLst/>
          </a:prstGeom>
        </p:spPr>
        <p:txBody>
          <a:bodyPr/>
          <a:lstStyle>
            <a:lvl1pPr>
              <a:defRPr>
                <a:solidFill>
                  <a:schemeClr val="bg2"/>
                </a:solidFill>
              </a:defRPr>
            </a:lvl1pPr>
          </a:lstStyle>
          <a:p>
            <a:r>
              <a:rPr lang="zh-CN" altLang="en-US"/>
              <a:t>单击图标添加图片</a:t>
            </a:r>
            <a:endParaRPr lang="en-US" dirty="0"/>
          </a:p>
        </p:txBody>
      </p:sp>
      <p:sp>
        <p:nvSpPr>
          <p:cNvPr id="9" name="Picture Placeholder 4">
            <a:extLst>
              <a:ext uri="{FF2B5EF4-FFF2-40B4-BE49-F238E27FC236}">
                <a16:creationId xmlns:a16="http://schemas.microsoft.com/office/drawing/2014/main" id="{D5A50D07-5C25-B541-89CC-C515FB54B1B4}"/>
              </a:ext>
            </a:extLst>
          </p:cNvPr>
          <p:cNvSpPr>
            <a:spLocks noGrp="1"/>
          </p:cNvSpPr>
          <p:nvPr>
            <p:ph type="pic" sz="quarter" idx="11"/>
          </p:nvPr>
        </p:nvSpPr>
        <p:spPr>
          <a:xfrm>
            <a:off x="9326880" y="1645920"/>
            <a:ext cx="4754880" cy="5028635"/>
          </a:xfrm>
          <a:prstGeom prst="rect">
            <a:avLst/>
          </a:prstGeom>
        </p:spPr>
        <p:txBody>
          <a:bodyPr/>
          <a:lstStyle>
            <a:lvl1pPr>
              <a:defRPr>
                <a:solidFill>
                  <a:schemeClr val="bg2"/>
                </a:solidFill>
              </a:defRPr>
            </a:lvl1pPr>
          </a:lstStyle>
          <a:p>
            <a:r>
              <a:rPr lang="zh-CN" altLang="en-US"/>
              <a:t>单击图标添加图片</a:t>
            </a:r>
            <a:endParaRPr lang="en-US"/>
          </a:p>
        </p:txBody>
      </p:sp>
      <p:pic>
        <p:nvPicPr>
          <p:cNvPr id="7" name="Picture 3">
            <a:extLst>
              <a:ext uri="{FF2B5EF4-FFF2-40B4-BE49-F238E27FC236}">
                <a16:creationId xmlns:a16="http://schemas.microsoft.com/office/drawing/2014/main" id="{2EC141D3-DDF9-DD48-A322-CDFB0E0FD1A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45102675"/>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_Image_Center">
    <p:spTree>
      <p:nvGrpSpPr>
        <p:cNvPr id="1" name=""/>
        <p:cNvGrpSpPr/>
        <p:nvPr/>
      </p:nvGrpSpPr>
      <p:grpSpPr>
        <a:xfrm>
          <a:off x="0" y="0"/>
          <a:ext cx="0" cy="0"/>
          <a:chOff x="0" y="0"/>
          <a:chExt cx="0" cy="0"/>
        </a:xfrm>
      </p:grpSpPr>
      <p:sp>
        <p:nvSpPr>
          <p:cNvPr id="11" name="Title 1"/>
          <p:cNvSpPr>
            <a:spLocks noGrp="1"/>
          </p:cNvSpPr>
          <p:nvPr>
            <p:ph type="title"/>
          </p:nvPr>
        </p:nvSpPr>
        <p:spPr>
          <a:xfrm>
            <a:off x="548640" y="183898"/>
            <a:ext cx="13510260" cy="873186"/>
          </a:xfrm>
        </p:spPr>
        <p:txBody>
          <a:bodyPr>
            <a:normAutofit/>
          </a:bodyPr>
          <a:lstStyle>
            <a:lvl1pPr>
              <a:defRPr sz="3800" b="1" i="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548640" y="1645920"/>
            <a:ext cx="13514832" cy="5338152"/>
          </a:xfrm>
          <a:prstGeom prst="rect">
            <a:avLst/>
          </a:prstGeom>
        </p:spPr>
        <p:txBody>
          <a:bodyPr/>
          <a:lstStyle>
            <a:lvl1pPr>
              <a:defRPr>
                <a:solidFill>
                  <a:schemeClr val="bg2"/>
                </a:solidFill>
              </a:defRPr>
            </a:lvl1pPr>
          </a:lstStyle>
          <a:p>
            <a:r>
              <a:rPr lang="zh-CN" altLang="en-US"/>
              <a:t>单击图标添加图片</a:t>
            </a:r>
            <a:endParaRPr lang="en-US"/>
          </a:p>
        </p:txBody>
      </p:sp>
      <p:pic>
        <p:nvPicPr>
          <p:cNvPr id="6" name="Picture 3">
            <a:extLst>
              <a:ext uri="{FF2B5EF4-FFF2-40B4-BE49-F238E27FC236}">
                <a16:creationId xmlns:a16="http://schemas.microsoft.com/office/drawing/2014/main" id="{2E934EC7-D0F2-8A45-B89F-04A09807587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3345301845"/>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_Bleed_Imag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78145AC-79A9-834A-BE03-ED99E1BFF7AC}"/>
              </a:ext>
            </a:extLst>
          </p:cNvPr>
          <p:cNvSpPr>
            <a:spLocks noGrp="1"/>
          </p:cNvSpPr>
          <p:nvPr>
            <p:ph type="pic" sz="quarter" idx="10"/>
          </p:nvPr>
        </p:nvSpPr>
        <p:spPr>
          <a:xfrm>
            <a:off x="0" y="2"/>
            <a:ext cx="14630400" cy="8229598"/>
          </a:xfrm>
          <a:prstGeom prst="rect">
            <a:avLst/>
          </a:prstGeom>
        </p:spPr>
        <p:txBody>
          <a:bodyPr/>
          <a:lstStyle>
            <a:lvl1pPr>
              <a:defRPr>
                <a:solidFill>
                  <a:schemeClr val="bg2"/>
                </a:solidFill>
              </a:defRPr>
            </a:lvl1pPr>
          </a:lstStyle>
          <a:p>
            <a:r>
              <a:rPr lang="zh-CN" altLang="en-US"/>
              <a:t>单击图标添加图片</a:t>
            </a:r>
            <a:endParaRPr lang="en-US" dirty="0"/>
          </a:p>
        </p:txBody>
      </p:sp>
      <p:sp>
        <p:nvSpPr>
          <p:cNvPr id="11" name="Title 1"/>
          <p:cNvSpPr>
            <a:spLocks noGrp="1"/>
          </p:cNvSpPr>
          <p:nvPr>
            <p:ph type="title"/>
          </p:nvPr>
        </p:nvSpPr>
        <p:spPr>
          <a:xfrm>
            <a:off x="548640" y="183898"/>
            <a:ext cx="13510260" cy="873186"/>
          </a:xfrm>
        </p:spPr>
        <p:txBody>
          <a:bodyPr>
            <a:normAutofit/>
          </a:bodyPr>
          <a:lstStyle>
            <a:lvl1pPr>
              <a:defRPr sz="3800">
                <a:solidFill>
                  <a:schemeClr val="bg2"/>
                </a:solidFill>
              </a:defRPr>
            </a:lvl1pPr>
          </a:lstStyle>
          <a:p>
            <a:r>
              <a:rPr lang="zh-CN" altLang="en-US"/>
              <a:t>单击此处编辑母版标题样式</a:t>
            </a:r>
            <a:endParaRPr lang="en-US" dirty="0"/>
          </a:p>
        </p:txBody>
      </p:sp>
      <p:pic>
        <p:nvPicPr>
          <p:cNvPr id="6" name="Picture 3">
            <a:extLst>
              <a:ext uri="{FF2B5EF4-FFF2-40B4-BE49-F238E27FC236}">
                <a16:creationId xmlns:a16="http://schemas.microsoft.com/office/drawing/2014/main" id="{77352044-DAA4-EE4F-B5EB-E50D4845ADA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2243516696"/>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lor_Logo_Customer_Wall">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p>
            <a:r>
              <a:rPr lang="zh-CN" altLang="en-US"/>
              <a:t>单击此处编辑母版标题样式</a:t>
            </a:r>
            <a:endParaRPr lang="en-US" dirty="0"/>
          </a:p>
        </p:txBody>
      </p:sp>
      <p:sp>
        <p:nvSpPr>
          <p:cNvPr id="4" name="Rectangle 3">
            <a:extLst>
              <a:ext uri="{FF2B5EF4-FFF2-40B4-BE49-F238E27FC236}">
                <a16:creationId xmlns:a16="http://schemas.microsoft.com/office/drawing/2014/main" id="{1A65E46D-C0D2-7642-AF47-40070CB7653A}"/>
              </a:ext>
            </a:extLst>
          </p:cNvPr>
          <p:cNvSpPr/>
          <p:nvPr userDrawn="1"/>
        </p:nvSpPr>
        <p:spPr>
          <a:xfrm>
            <a:off x="0" y="1645920"/>
            <a:ext cx="14630400" cy="532964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4608" dirty="0"/>
          </a:p>
        </p:txBody>
      </p:sp>
      <p:sp>
        <p:nvSpPr>
          <p:cNvPr id="15" name="Picture Placeholder 2"/>
          <p:cNvSpPr>
            <a:spLocks noGrp="1"/>
          </p:cNvSpPr>
          <p:nvPr>
            <p:ph type="pic" sz="quarter" idx="16"/>
          </p:nvPr>
        </p:nvSpPr>
        <p:spPr>
          <a:xfrm>
            <a:off x="946674" y="2502419"/>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16" name="Picture Placeholder 2"/>
          <p:cNvSpPr>
            <a:spLocks noGrp="1"/>
          </p:cNvSpPr>
          <p:nvPr>
            <p:ph type="pic" sz="quarter" idx="17"/>
          </p:nvPr>
        </p:nvSpPr>
        <p:spPr>
          <a:xfrm>
            <a:off x="4328298" y="2502419"/>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17" name="Picture Placeholder 2"/>
          <p:cNvSpPr>
            <a:spLocks noGrp="1"/>
          </p:cNvSpPr>
          <p:nvPr>
            <p:ph type="pic" sz="quarter" idx="18"/>
          </p:nvPr>
        </p:nvSpPr>
        <p:spPr>
          <a:xfrm>
            <a:off x="7709922" y="2502419"/>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18" name="Picture Placeholder 2"/>
          <p:cNvSpPr>
            <a:spLocks noGrp="1"/>
          </p:cNvSpPr>
          <p:nvPr>
            <p:ph type="pic" sz="quarter" idx="19"/>
          </p:nvPr>
        </p:nvSpPr>
        <p:spPr>
          <a:xfrm>
            <a:off x="11091547" y="2502419"/>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19" name="Picture Placeholder 2">
            <a:extLst>
              <a:ext uri="{FF2B5EF4-FFF2-40B4-BE49-F238E27FC236}">
                <a16:creationId xmlns:a16="http://schemas.microsoft.com/office/drawing/2014/main" id="{F1543634-A736-BA4B-A10A-31EE0B13FC13}"/>
              </a:ext>
            </a:extLst>
          </p:cNvPr>
          <p:cNvSpPr>
            <a:spLocks noGrp="1"/>
          </p:cNvSpPr>
          <p:nvPr>
            <p:ph type="pic" sz="quarter" idx="20"/>
          </p:nvPr>
        </p:nvSpPr>
        <p:spPr>
          <a:xfrm>
            <a:off x="946674" y="4696978"/>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20" name="Picture Placeholder 2">
            <a:extLst>
              <a:ext uri="{FF2B5EF4-FFF2-40B4-BE49-F238E27FC236}">
                <a16:creationId xmlns:a16="http://schemas.microsoft.com/office/drawing/2014/main" id="{31DBC551-9315-1F45-A672-93EB06007494}"/>
              </a:ext>
            </a:extLst>
          </p:cNvPr>
          <p:cNvSpPr>
            <a:spLocks noGrp="1"/>
          </p:cNvSpPr>
          <p:nvPr>
            <p:ph type="pic" sz="quarter" idx="21"/>
          </p:nvPr>
        </p:nvSpPr>
        <p:spPr>
          <a:xfrm>
            <a:off x="4328298" y="4696978"/>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21" name="Picture Placeholder 2">
            <a:extLst>
              <a:ext uri="{FF2B5EF4-FFF2-40B4-BE49-F238E27FC236}">
                <a16:creationId xmlns:a16="http://schemas.microsoft.com/office/drawing/2014/main" id="{AB66963A-7841-B341-A47C-7BEFE1F8B8CA}"/>
              </a:ext>
            </a:extLst>
          </p:cNvPr>
          <p:cNvSpPr>
            <a:spLocks noGrp="1"/>
          </p:cNvSpPr>
          <p:nvPr>
            <p:ph type="pic" sz="quarter" idx="22"/>
          </p:nvPr>
        </p:nvSpPr>
        <p:spPr>
          <a:xfrm>
            <a:off x="7709922" y="4696978"/>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sp>
        <p:nvSpPr>
          <p:cNvPr id="22" name="Picture Placeholder 2">
            <a:extLst>
              <a:ext uri="{FF2B5EF4-FFF2-40B4-BE49-F238E27FC236}">
                <a16:creationId xmlns:a16="http://schemas.microsoft.com/office/drawing/2014/main" id="{7E808491-1004-3A44-87DD-41D21C9E39C3}"/>
              </a:ext>
            </a:extLst>
          </p:cNvPr>
          <p:cNvSpPr>
            <a:spLocks noGrp="1"/>
          </p:cNvSpPr>
          <p:nvPr>
            <p:ph type="pic" sz="quarter" idx="23"/>
          </p:nvPr>
        </p:nvSpPr>
        <p:spPr>
          <a:xfrm>
            <a:off x="11091547" y="4696978"/>
            <a:ext cx="2028989" cy="1518157"/>
          </a:xfrm>
          <a:prstGeom prst="rect">
            <a:avLst/>
          </a:prstGeom>
        </p:spPr>
        <p:txBody>
          <a:bodyPr>
            <a:normAutofit/>
          </a:bodyPr>
          <a:lstStyle>
            <a:lvl1pPr>
              <a:defRPr sz="2240">
                <a:solidFill>
                  <a:schemeClr val="bg1"/>
                </a:solidFill>
              </a:defRPr>
            </a:lvl1pPr>
          </a:lstStyle>
          <a:p>
            <a:r>
              <a:rPr lang="zh-CN" altLang="en-US"/>
              <a:t>单击图标添加图片</a:t>
            </a:r>
            <a:endParaRPr lang="en-US" dirty="0"/>
          </a:p>
        </p:txBody>
      </p:sp>
      <p:pic>
        <p:nvPicPr>
          <p:cNvPr id="13" name="Picture 3">
            <a:extLst>
              <a:ext uri="{FF2B5EF4-FFF2-40B4-BE49-F238E27FC236}">
                <a16:creationId xmlns:a16="http://schemas.microsoft.com/office/drawing/2014/main" id="{567865B3-88C9-CC41-B9B1-348D59E7B9C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2302505678"/>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White_Logo_Customer_Wall">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9" name="Picture Placeholder 2"/>
          <p:cNvSpPr>
            <a:spLocks noGrp="1"/>
          </p:cNvSpPr>
          <p:nvPr>
            <p:ph type="pic" sz="quarter" idx="20"/>
          </p:nvPr>
        </p:nvSpPr>
        <p:spPr>
          <a:xfrm>
            <a:off x="543902" y="1873467"/>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sp>
        <p:nvSpPr>
          <p:cNvPr id="10" name="Picture Placeholder 2"/>
          <p:cNvSpPr>
            <a:spLocks noGrp="1"/>
          </p:cNvSpPr>
          <p:nvPr>
            <p:ph type="pic" sz="quarter" idx="21"/>
          </p:nvPr>
        </p:nvSpPr>
        <p:spPr>
          <a:xfrm>
            <a:off x="5566893" y="1873467"/>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sp>
        <p:nvSpPr>
          <p:cNvPr id="11" name="Picture Placeholder 2"/>
          <p:cNvSpPr>
            <a:spLocks noGrp="1"/>
          </p:cNvSpPr>
          <p:nvPr>
            <p:ph type="pic" sz="quarter" idx="22"/>
          </p:nvPr>
        </p:nvSpPr>
        <p:spPr>
          <a:xfrm>
            <a:off x="10599958" y="1873467"/>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sp>
        <p:nvSpPr>
          <p:cNvPr id="12" name="Picture Placeholder 2"/>
          <p:cNvSpPr>
            <a:spLocks noGrp="1"/>
          </p:cNvSpPr>
          <p:nvPr>
            <p:ph type="pic" sz="quarter" idx="23"/>
          </p:nvPr>
        </p:nvSpPr>
        <p:spPr>
          <a:xfrm>
            <a:off x="543902" y="4451796"/>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sp>
        <p:nvSpPr>
          <p:cNvPr id="13" name="Picture Placeholder 2"/>
          <p:cNvSpPr>
            <a:spLocks noGrp="1"/>
          </p:cNvSpPr>
          <p:nvPr>
            <p:ph type="pic" sz="quarter" idx="24"/>
          </p:nvPr>
        </p:nvSpPr>
        <p:spPr>
          <a:xfrm>
            <a:off x="5566893" y="4451796"/>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sp>
        <p:nvSpPr>
          <p:cNvPr id="14" name="Picture Placeholder 2"/>
          <p:cNvSpPr>
            <a:spLocks noGrp="1"/>
          </p:cNvSpPr>
          <p:nvPr>
            <p:ph type="pic" sz="quarter" idx="25"/>
          </p:nvPr>
        </p:nvSpPr>
        <p:spPr>
          <a:xfrm>
            <a:off x="10599958" y="4451796"/>
            <a:ext cx="3078480" cy="1761067"/>
          </a:xfrm>
          <a:prstGeom prst="rect">
            <a:avLst/>
          </a:prstGeom>
        </p:spPr>
        <p:txBody>
          <a:bodyPr>
            <a:normAutofit/>
          </a:bodyPr>
          <a:lstStyle>
            <a:lvl1pPr>
              <a:defRPr sz="2200">
                <a:solidFill>
                  <a:srgbClr val="C2C2C1"/>
                </a:solidFill>
              </a:defRPr>
            </a:lvl1pPr>
          </a:lstStyle>
          <a:p>
            <a:r>
              <a:rPr lang="zh-CN" altLang="en-US"/>
              <a:t>单击图标添加图片</a:t>
            </a:r>
            <a:endParaRPr lang="en-US" dirty="0"/>
          </a:p>
        </p:txBody>
      </p:sp>
      <p:pic>
        <p:nvPicPr>
          <p:cNvPr id="16" name="Picture 3">
            <a:extLst>
              <a:ext uri="{FF2B5EF4-FFF2-40B4-BE49-F238E27FC236}">
                <a16:creationId xmlns:a16="http://schemas.microsoft.com/office/drawing/2014/main" id="{702DD109-07DE-D942-A07C-A5AAC841B951}"/>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3273093039"/>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0260" cy="873186"/>
          </a:xfrm>
        </p:spPr>
        <p:txBody>
          <a:bodyPr/>
          <a:lstStyle>
            <a:lvl1pPr>
              <a:defRPr b="1" i="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4" name="Table Placeholder 3">
            <a:extLst>
              <a:ext uri="{FF2B5EF4-FFF2-40B4-BE49-F238E27FC236}">
                <a16:creationId xmlns:a16="http://schemas.microsoft.com/office/drawing/2014/main" id="{D7DA888D-68DB-9B44-9614-56AAAAE93DF7}"/>
              </a:ext>
            </a:extLst>
          </p:cNvPr>
          <p:cNvSpPr>
            <a:spLocks noGrp="1"/>
          </p:cNvSpPr>
          <p:nvPr>
            <p:ph type="tbl" sz="quarter" idx="10"/>
          </p:nvPr>
        </p:nvSpPr>
        <p:spPr>
          <a:xfrm>
            <a:off x="548640" y="1645920"/>
            <a:ext cx="13510260" cy="5003800"/>
          </a:xfrm>
          <a:prstGeom prst="rect">
            <a:avLst/>
          </a:prstGeom>
        </p:spPr>
        <p:txBody>
          <a:bodyPr/>
          <a:lstStyle>
            <a:lvl1pPr>
              <a:defRPr>
                <a:solidFill>
                  <a:schemeClr val="bg2"/>
                </a:solidFill>
              </a:defRPr>
            </a:lvl1pPr>
          </a:lstStyle>
          <a:p>
            <a:r>
              <a:rPr lang="zh-CN" altLang="en-US"/>
              <a:t>单击图标添加表格</a:t>
            </a:r>
            <a:endParaRPr lang="en-US" dirty="0"/>
          </a:p>
        </p:txBody>
      </p:sp>
      <p:pic>
        <p:nvPicPr>
          <p:cNvPr id="6" name="Picture 3">
            <a:extLst>
              <a:ext uri="{FF2B5EF4-FFF2-40B4-BE49-F238E27FC236}">
                <a16:creationId xmlns:a16="http://schemas.microsoft.com/office/drawing/2014/main" id="{F8DD7990-7ACE-244A-B618-1FB42A748D84}"/>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2636968817"/>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ar_Chart">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3186"/>
          </a:xfrm>
        </p:spPr>
        <p:txBody>
          <a:bodyPr/>
          <a:lstStyle>
            <a:lvl1pPr>
              <a:defRPr b="1" i="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7" name="Chart Placeholder 5">
            <a:extLst>
              <a:ext uri="{FF2B5EF4-FFF2-40B4-BE49-F238E27FC236}">
                <a16:creationId xmlns:a16="http://schemas.microsoft.com/office/drawing/2014/main" id="{B3C77AD1-4897-A546-B977-5EB6406DD175}"/>
              </a:ext>
            </a:extLst>
          </p:cNvPr>
          <p:cNvSpPr>
            <a:spLocks noGrp="1"/>
          </p:cNvSpPr>
          <p:nvPr>
            <p:ph type="chart" sz="quarter" idx="10"/>
          </p:nvPr>
        </p:nvSpPr>
        <p:spPr>
          <a:xfrm>
            <a:off x="548640" y="1645920"/>
            <a:ext cx="13510260" cy="5445760"/>
          </a:xfrm>
          <a:prstGeom prst="rect">
            <a:avLst/>
          </a:prstGeom>
        </p:spPr>
        <p:txBody>
          <a:bodyPr/>
          <a:lstStyle>
            <a:lvl1pPr>
              <a:defRPr>
                <a:solidFill>
                  <a:schemeClr val="bg2"/>
                </a:solidFill>
              </a:defRPr>
            </a:lvl1pPr>
          </a:lstStyle>
          <a:p>
            <a:r>
              <a:rPr lang="zh-CN" altLang="en-US"/>
              <a:t>单击图标添加图表</a:t>
            </a:r>
            <a:endParaRPr lang="en-US" dirty="0"/>
          </a:p>
        </p:txBody>
      </p:sp>
      <p:pic>
        <p:nvPicPr>
          <p:cNvPr id="6" name="Picture 3">
            <a:extLst>
              <a:ext uri="{FF2B5EF4-FFF2-40B4-BE49-F238E27FC236}">
                <a16:creationId xmlns:a16="http://schemas.microsoft.com/office/drawing/2014/main" id="{C549435A-8324-1C45-9A31-FA55C402932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1547361944"/>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e_Chart">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6" name="Chart Placeholder 5">
            <a:extLst>
              <a:ext uri="{FF2B5EF4-FFF2-40B4-BE49-F238E27FC236}">
                <a16:creationId xmlns:a16="http://schemas.microsoft.com/office/drawing/2014/main" id="{A878172D-692F-8A47-81EA-89C129774DB9}"/>
              </a:ext>
            </a:extLst>
          </p:cNvPr>
          <p:cNvSpPr>
            <a:spLocks noGrp="1"/>
          </p:cNvSpPr>
          <p:nvPr>
            <p:ph type="chart" sz="quarter" idx="10"/>
          </p:nvPr>
        </p:nvSpPr>
        <p:spPr>
          <a:xfrm>
            <a:off x="548640" y="1645920"/>
            <a:ext cx="13510260" cy="5445760"/>
          </a:xfrm>
          <a:prstGeom prst="rect">
            <a:avLst/>
          </a:prstGeom>
        </p:spPr>
        <p:txBody>
          <a:bodyPr/>
          <a:lstStyle/>
          <a:p>
            <a:r>
              <a:rPr lang="zh-CN" altLang="en-US"/>
              <a:t>单击图标添加图表</a:t>
            </a:r>
            <a:endParaRPr lang="en-US" dirty="0"/>
          </a:p>
        </p:txBody>
      </p:sp>
      <p:pic>
        <p:nvPicPr>
          <p:cNvPr id="5" name="Picture 3">
            <a:extLst>
              <a:ext uri="{FF2B5EF4-FFF2-40B4-BE49-F238E27FC236}">
                <a16:creationId xmlns:a16="http://schemas.microsoft.com/office/drawing/2014/main" id="{2FE96C23-8AE3-6B47-9CAC-CA90A05131A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467069072"/>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ine_Chart">
    <p:spTree>
      <p:nvGrpSpPr>
        <p:cNvPr id="1" name=""/>
        <p:cNvGrpSpPr/>
        <p:nvPr/>
      </p:nvGrpSpPr>
      <p:grpSpPr>
        <a:xfrm>
          <a:off x="0" y="0"/>
          <a:ext cx="0" cy="0"/>
          <a:chOff x="0" y="0"/>
          <a:chExt cx="0" cy="0"/>
        </a:xfrm>
      </p:grpSpPr>
      <p:sp>
        <p:nvSpPr>
          <p:cNvPr id="2" name="Title 1"/>
          <p:cNvSpPr>
            <a:spLocks noGrp="1"/>
          </p:cNvSpPr>
          <p:nvPr>
            <p:ph type="title"/>
          </p:nvPr>
        </p:nvSpPr>
        <p:spPr>
          <a:xfrm>
            <a:off x="548639" y="183898"/>
            <a:ext cx="13509463" cy="872307"/>
          </a:xfrm>
        </p:spPr>
        <p:txBody>
          <a:bodyPr/>
          <a:lstStyle>
            <a:lvl1pPr>
              <a:defRPr b="1" i="0">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sp>
        <p:nvSpPr>
          <p:cNvPr id="5" name="Chart Placeholder 5">
            <a:extLst>
              <a:ext uri="{FF2B5EF4-FFF2-40B4-BE49-F238E27FC236}">
                <a16:creationId xmlns:a16="http://schemas.microsoft.com/office/drawing/2014/main" id="{08142378-5C5C-8B40-AD27-B9BE74F6EA71}"/>
              </a:ext>
            </a:extLst>
          </p:cNvPr>
          <p:cNvSpPr>
            <a:spLocks noGrp="1"/>
          </p:cNvSpPr>
          <p:nvPr>
            <p:ph type="chart" sz="quarter" idx="10"/>
          </p:nvPr>
        </p:nvSpPr>
        <p:spPr>
          <a:xfrm>
            <a:off x="548640" y="1645920"/>
            <a:ext cx="13510260" cy="5445760"/>
          </a:xfrm>
          <a:prstGeom prst="rect">
            <a:avLst/>
          </a:prstGeom>
        </p:spPr>
        <p:txBody>
          <a:bodyPr/>
          <a:lstStyle/>
          <a:p>
            <a:r>
              <a:rPr lang="zh-CN" altLang="en-US"/>
              <a:t>单击图标添加图表</a:t>
            </a:r>
            <a:endParaRPr lang="en-US" dirty="0"/>
          </a:p>
        </p:txBody>
      </p:sp>
      <p:pic>
        <p:nvPicPr>
          <p:cNvPr id="6" name="Picture 3">
            <a:extLst>
              <a:ext uri="{FF2B5EF4-FFF2-40B4-BE49-F238E27FC236}">
                <a16:creationId xmlns:a16="http://schemas.microsoft.com/office/drawing/2014/main" id="{711BC850-F10F-0840-913D-0AAD4BD21EE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3083304637"/>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Divider_Slide_and_Subtitl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3ED094D-8FCE-B94E-8BCF-14EE4A983723}"/>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9600" b="1" cap="none">
                <a:solidFill>
                  <a:schemeClr val="bg2"/>
                </a:solidFill>
              </a:defRPr>
            </a:lvl1pPr>
          </a:lstStyle>
          <a:p>
            <a:r>
              <a:rPr lang="en-US" dirty="0"/>
              <a:t>Q&amp;A</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zh-CN" altLang="en-US"/>
              <a:t>单击此处编辑母版文本样式</a:t>
            </a:r>
          </a:p>
        </p:txBody>
      </p:sp>
      <p:pic>
        <p:nvPicPr>
          <p:cNvPr id="6" name="Picture 3">
            <a:extLst>
              <a:ext uri="{FF2B5EF4-FFF2-40B4-BE49-F238E27FC236}">
                <a16:creationId xmlns:a16="http://schemas.microsoft.com/office/drawing/2014/main" id="{F5E89177-6E26-3343-8DAB-F2B3740CCAA4}"/>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3414820308"/>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Divider_Slide_and_Subtitl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7AFD397-204D-014C-B19D-7949C9FD5AFC}"/>
              </a:ext>
            </a:extLst>
          </p:cNvPr>
          <p:cNvPicPr>
            <a:picLocks noChangeAspect="1"/>
          </p:cNvPicPr>
          <p:nvPr userDrawn="1"/>
        </p:nvPicPr>
        <p:blipFill>
          <a:blip r:embed="rId2" r:link="rId3"/>
          <a:stretch>
            <a:fillRect/>
          </a:stretch>
        </p:blipFill>
        <p:spPr>
          <a:xfrm>
            <a:off x="0" y="0"/>
            <a:ext cx="14630400" cy="8229600"/>
          </a:xfrm>
          <a:prstGeom prst="rect">
            <a:avLst/>
          </a:prstGeom>
        </p:spPr>
      </p:pic>
      <p:sp>
        <p:nvSpPr>
          <p:cNvPr id="2" name="Title 1"/>
          <p:cNvSpPr>
            <a:spLocks noGrp="1"/>
          </p:cNvSpPr>
          <p:nvPr>
            <p:ph type="title" hasCustomPrompt="1"/>
          </p:nvPr>
        </p:nvSpPr>
        <p:spPr>
          <a:xfrm>
            <a:off x="548640" y="3108960"/>
            <a:ext cx="12435840" cy="1488168"/>
          </a:xfrm>
        </p:spPr>
        <p:txBody>
          <a:bodyPr anchor="ctr">
            <a:noAutofit/>
          </a:bodyPr>
          <a:lstStyle>
            <a:lvl1pPr algn="l">
              <a:defRPr sz="6400" b="1" i="0" cap="none">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dirty="0"/>
              <a:t>Thank you!</a:t>
            </a:r>
          </a:p>
        </p:txBody>
      </p:sp>
      <p:sp>
        <p:nvSpPr>
          <p:cNvPr id="7" name="Text Placeholder 6">
            <a:extLst>
              <a:ext uri="{FF2B5EF4-FFF2-40B4-BE49-F238E27FC236}">
                <a16:creationId xmlns:a16="http://schemas.microsoft.com/office/drawing/2014/main" id="{A9C2E74A-1C76-BA45-B688-EBC1722762EA}"/>
              </a:ext>
            </a:extLst>
          </p:cNvPr>
          <p:cNvSpPr>
            <a:spLocks noGrp="1"/>
          </p:cNvSpPr>
          <p:nvPr>
            <p:ph type="body" sz="quarter" idx="10"/>
          </p:nvPr>
        </p:nvSpPr>
        <p:spPr>
          <a:xfrm>
            <a:off x="548640" y="4752341"/>
            <a:ext cx="8219440" cy="783078"/>
          </a:xfrm>
          <a:prstGeom prst="rect">
            <a:avLst/>
          </a:prstGeom>
        </p:spPr>
        <p:txBody>
          <a:bodyPr/>
          <a:lstStyle>
            <a:lvl1pPr>
              <a:defRPr sz="2900"/>
            </a:lvl1pPr>
            <a:lvl2pPr marL="731520" indent="0">
              <a:buNone/>
              <a:defRPr/>
            </a:lvl2pPr>
          </a:lstStyle>
          <a:p>
            <a:pPr lvl="0"/>
            <a:r>
              <a:rPr lang="zh-CN" altLang="en-US"/>
              <a:t>单击此处编辑母版文本样式</a:t>
            </a:r>
          </a:p>
        </p:txBody>
      </p:sp>
      <p:pic>
        <p:nvPicPr>
          <p:cNvPr id="8" name="Picture 8">
            <a:extLst>
              <a:ext uri="{FF2B5EF4-FFF2-40B4-BE49-F238E27FC236}">
                <a16:creationId xmlns:a16="http://schemas.microsoft.com/office/drawing/2014/main" id="{D225A5A0-AACD-DF4D-9148-809E3D4F4ED8}"/>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p:blipFill>
        <p:spPr>
          <a:xfrm>
            <a:off x="548819" y="928054"/>
            <a:ext cx="2286000" cy="704849"/>
          </a:xfrm>
          <a:prstGeom prst="rect">
            <a:avLst/>
          </a:prstGeom>
        </p:spPr>
      </p:pic>
    </p:spTree>
    <p:extLst>
      <p:ext uri="{BB962C8B-B14F-4D97-AF65-F5344CB8AC3E}">
        <p14:creationId xmlns:p14="http://schemas.microsoft.com/office/powerpoint/2010/main" val="3192394863"/>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nk_P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647E4-E7F7-9646-880C-2CDC95018CBE}"/>
              </a:ext>
            </a:extLst>
          </p:cNvPr>
          <p:cNvSpPr>
            <a:spLocks noGrp="1"/>
          </p:cNvSpPr>
          <p:nvPr>
            <p:ph type="title"/>
          </p:nvPr>
        </p:nvSpPr>
        <p:spPr>
          <a:xfrm>
            <a:off x="548639" y="183898"/>
            <a:ext cx="13514832" cy="904122"/>
          </a:xfrm>
        </p:spPr>
        <p:txBody>
          <a:bodyPr/>
          <a:lstStyle>
            <a:lvl1pPr>
              <a:defRPr>
                <a:latin typeface="Amazon Ember" panose="020B0603020204020204" pitchFamily="34" charset="0"/>
                <a:ea typeface="Amazon Ember" panose="020B0603020204020204" pitchFamily="34" charset="0"/>
                <a:cs typeface="Amazon Ember" panose="020B0603020204020204" pitchFamily="34" charset="0"/>
              </a:defRPr>
            </a:lvl1pPr>
          </a:lstStyle>
          <a:p>
            <a:r>
              <a:rPr lang="zh-CN" altLang="en-US"/>
              <a:t>单击此处编辑母版标题样式</a:t>
            </a:r>
            <a:endParaRPr lang="en-US" dirty="0"/>
          </a:p>
        </p:txBody>
      </p:sp>
      <p:pic>
        <p:nvPicPr>
          <p:cNvPr id="4" name="Picture 3">
            <a:extLst>
              <a:ext uri="{FF2B5EF4-FFF2-40B4-BE49-F238E27FC236}">
                <a16:creationId xmlns:a16="http://schemas.microsoft.com/office/drawing/2014/main" id="{B2DE2E8C-F418-0C49-B441-39C095D8D6A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3144500" y="7643197"/>
            <a:ext cx="914400" cy="281939"/>
          </a:xfrm>
          <a:prstGeom prst="rect">
            <a:avLst/>
          </a:prstGeom>
        </p:spPr>
      </p:pic>
    </p:spTree>
    <p:extLst>
      <p:ext uri="{BB962C8B-B14F-4D97-AF65-F5344CB8AC3E}">
        <p14:creationId xmlns:p14="http://schemas.microsoft.com/office/powerpoint/2010/main" val="2381838818"/>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Table_of_Contents">
    <p:spTree>
      <p:nvGrpSpPr>
        <p:cNvPr id="1" name=""/>
        <p:cNvGrpSpPr/>
        <p:nvPr/>
      </p:nvGrpSpPr>
      <p:grpSpPr>
        <a:xfrm>
          <a:off x="0" y="0"/>
          <a:ext cx="0" cy="0"/>
          <a:chOff x="0" y="0"/>
          <a:chExt cx="0" cy="0"/>
        </a:xfrm>
      </p:grpSpPr>
      <p:sp>
        <p:nvSpPr>
          <p:cNvPr id="2" name="Title 1"/>
          <p:cNvSpPr>
            <a:spLocks noGrp="1"/>
          </p:cNvSpPr>
          <p:nvPr>
            <p:ph type="title"/>
          </p:nvPr>
        </p:nvSpPr>
        <p:spPr>
          <a:xfrm>
            <a:off x="548640" y="183898"/>
            <a:ext cx="13514832" cy="873186"/>
          </a:xfrm>
        </p:spPr>
        <p:txBody>
          <a:bodyPr/>
          <a:lstStyle>
            <a:lvl1pPr>
              <a:defRPr>
                <a:solidFill>
                  <a:schemeClr val="tx2"/>
                </a:solidFill>
              </a:defRPr>
            </a:lvl1pPr>
          </a:lstStyle>
          <a:p>
            <a:r>
              <a:rPr lang="zh-CN" altLang="en-US"/>
              <a:t>单击此处编辑母版标题样式</a:t>
            </a:r>
            <a:endParaRPr lang="en-US" dirty="0"/>
          </a:p>
        </p:txBody>
      </p:sp>
      <p:sp>
        <p:nvSpPr>
          <p:cNvPr id="3" name="Content Placeholder 2"/>
          <p:cNvSpPr>
            <a:spLocks noGrp="1"/>
          </p:cNvSpPr>
          <p:nvPr>
            <p:ph idx="1"/>
          </p:nvPr>
        </p:nvSpPr>
        <p:spPr>
          <a:xfrm>
            <a:off x="544947" y="1645920"/>
            <a:ext cx="13514832" cy="5686282"/>
          </a:xfrm>
          <a:prstGeom prst="rect">
            <a:avLst/>
          </a:prstGeom>
        </p:spPr>
        <p:txBody>
          <a:bodyPr/>
          <a:lstStyle>
            <a:lvl1pPr marL="0" indent="0">
              <a:buNone/>
              <a:defRPr>
                <a:solidFill>
                  <a:schemeClr val="tx2"/>
                </a:solidFill>
              </a:defRPr>
            </a:lvl1pPr>
            <a:lvl2pPr marL="1188720" indent="-457200">
              <a:buFont typeface="Arial"/>
              <a:buChar char="•"/>
              <a:defRPr>
                <a:solidFill>
                  <a:schemeClr val="tx2"/>
                </a:solidFill>
              </a:defRPr>
            </a:lvl2pPr>
            <a:lvl3pPr marL="1828800" indent="-365760">
              <a:buFont typeface="Arial"/>
              <a:buChar char="•"/>
              <a:defRPr>
                <a:solidFill>
                  <a:schemeClr val="tx2"/>
                </a:solidFill>
              </a:defRPr>
            </a:lvl3pPr>
            <a:lvl4pPr>
              <a:defRPr>
                <a:solidFill>
                  <a:schemeClr val="tx2"/>
                </a:solidFill>
              </a:defRPr>
            </a:lvl4pPr>
            <a:lvl5pPr>
              <a:defRPr>
                <a:solidFill>
                  <a:schemeClr val="tx2"/>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pic>
        <p:nvPicPr>
          <p:cNvPr id="6" name="Picture 5">
            <a:extLst>
              <a:ext uri="{FF2B5EF4-FFF2-40B4-BE49-F238E27FC236}">
                <a16:creationId xmlns:a16="http://schemas.microsoft.com/office/drawing/2014/main" id="{E2A8217B-04B2-594E-9F6D-51516000D5A9}"/>
              </a:ext>
            </a:extLst>
          </p:cNvPr>
          <p:cNvPicPr>
            <a:picLocks noChangeAspect="1"/>
          </p:cNvPicPr>
          <p:nvPr userDrawn="1"/>
        </p:nvPicPr>
        <p:blipFill>
          <a:blip r:embed="rId2"/>
          <a:srcRect/>
          <a:stretch/>
        </p:blipFill>
        <p:spPr>
          <a:xfrm>
            <a:off x="13145379" y="7635289"/>
            <a:ext cx="914400" cy="285749"/>
          </a:xfrm>
          <a:prstGeom prst="rect">
            <a:avLst/>
          </a:prstGeom>
        </p:spPr>
      </p:pic>
    </p:spTree>
    <p:extLst>
      <p:ext uri="{BB962C8B-B14F-4D97-AF65-F5344CB8AC3E}">
        <p14:creationId xmlns:p14="http://schemas.microsoft.com/office/powerpoint/2010/main" val="26795596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ow_to_Use">
    <p:spTree>
      <p:nvGrpSpPr>
        <p:cNvPr id="1" name=""/>
        <p:cNvGrpSpPr/>
        <p:nvPr/>
      </p:nvGrpSpPr>
      <p:grpSpPr>
        <a:xfrm>
          <a:off x="0" y="0"/>
          <a:ext cx="0" cy="0"/>
          <a:chOff x="0" y="0"/>
          <a:chExt cx="0" cy="0"/>
        </a:xfrm>
      </p:grpSpPr>
      <p:sp>
        <p:nvSpPr>
          <p:cNvPr id="4" name="TextBox 3"/>
          <p:cNvSpPr txBox="1"/>
          <p:nvPr userDrawn="1"/>
        </p:nvSpPr>
        <p:spPr>
          <a:xfrm>
            <a:off x="4516341" y="-4548146"/>
            <a:ext cx="184731" cy="801438"/>
          </a:xfrm>
          <a:prstGeom prst="rect">
            <a:avLst/>
          </a:prstGeom>
          <a:noFill/>
        </p:spPr>
        <p:txBody>
          <a:bodyPr wrap="none" rtlCol="0">
            <a:spAutoFit/>
          </a:bodyPr>
          <a:lstStyle/>
          <a:p>
            <a:endParaRPr lang="en-US" sz="4608" dirty="0"/>
          </a:p>
        </p:txBody>
      </p:sp>
      <p:sp>
        <p:nvSpPr>
          <p:cNvPr id="2" name="Rectangle 1">
            <a:extLst>
              <a:ext uri="{FF2B5EF4-FFF2-40B4-BE49-F238E27FC236}">
                <a16:creationId xmlns:a16="http://schemas.microsoft.com/office/drawing/2014/main" id="{4D133B37-BB08-4347-B71D-D01F225ECB4D}"/>
              </a:ext>
            </a:extLst>
          </p:cNvPr>
          <p:cNvSpPr/>
          <p:nvPr userDrawn="1"/>
        </p:nvSpPr>
        <p:spPr>
          <a:xfrm>
            <a:off x="0" y="0"/>
            <a:ext cx="14630400" cy="82296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 name="TextBox 5"/>
          <p:cNvSpPr txBox="1"/>
          <p:nvPr userDrawn="1"/>
        </p:nvSpPr>
        <p:spPr>
          <a:xfrm>
            <a:off x="11897959" y="9767944"/>
            <a:ext cx="184731" cy="801438"/>
          </a:xfrm>
          <a:prstGeom prst="rect">
            <a:avLst/>
          </a:prstGeom>
          <a:noFill/>
        </p:spPr>
        <p:txBody>
          <a:bodyPr wrap="none" rtlCol="0">
            <a:spAutoFit/>
          </a:bodyPr>
          <a:lstStyle/>
          <a:p>
            <a:endParaRPr lang="en-US" sz="4608"/>
          </a:p>
        </p:txBody>
      </p:sp>
      <p:sp>
        <p:nvSpPr>
          <p:cNvPr id="9" name="TextBox 8">
            <a:extLst>
              <a:ext uri="{FF2B5EF4-FFF2-40B4-BE49-F238E27FC236}">
                <a16:creationId xmlns:a16="http://schemas.microsoft.com/office/drawing/2014/main" id="{1B954A5E-A2DC-9041-9311-DBC4F345DE43}"/>
              </a:ext>
            </a:extLst>
          </p:cNvPr>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p>
        </p:txBody>
      </p:sp>
      <p:pic>
        <p:nvPicPr>
          <p:cNvPr id="7" name="Picture 6">
            <a:extLst>
              <a:ext uri="{FF2B5EF4-FFF2-40B4-BE49-F238E27FC236}">
                <a16:creationId xmlns:a16="http://schemas.microsoft.com/office/drawing/2014/main" id="{1055D6D8-318C-7B4B-A053-27A0BF459CE3}"/>
              </a:ext>
            </a:extLst>
          </p:cNvPr>
          <p:cNvPicPr>
            <a:picLocks noChangeAspect="1"/>
          </p:cNvPicPr>
          <p:nvPr userDrawn="1"/>
        </p:nvPicPr>
        <p:blipFill>
          <a:blip r:embed="rId2"/>
          <a:srcRect/>
          <a:stretch/>
        </p:blipFill>
        <p:spPr>
          <a:xfrm>
            <a:off x="13145379" y="7635289"/>
            <a:ext cx="914400" cy="285749"/>
          </a:xfrm>
          <a:prstGeom prst="rect">
            <a:avLst/>
          </a:prstGeom>
        </p:spPr>
      </p:pic>
    </p:spTree>
    <p:extLst>
      <p:ext uri="{BB962C8B-B14F-4D97-AF65-F5344CB8AC3E}">
        <p14:creationId xmlns:p14="http://schemas.microsoft.com/office/powerpoint/2010/main" val="426676074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39" y="183898"/>
            <a:ext cx="13514832" cy="1371600"/>
          </a:xfrm>
          <a:prstGeom prst="rect">
            <a:avLst/>
          </a:prstGeom>
        </p:spPr>
        <p:txBody>
          <a:bodyPr vert="horz" lIns="91440" tIns="45720" rIns="91440" bIns="45720" rtlCol="0" anchor="t">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548639" y="1645920"/>
            <a:ext cx="13514832" cy="5686282"/>
          </a:xfrm>
          <a:prstGeom prst="rect">
            <a:avLst/>
          </a:prstGeom>
        </p:spPr>
        <p:txBody>
          <a:bodyPr vert="horz" lIns="91440" tIns="45720" rIns="91440" bIns="45720" rtlCol="0">
            <a:no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6" name="TextBox 5"/>
          <p:cNvSpPr txBox="1"/>
          <p:nvPr userDrawn="1"/>
        </p:nvSpPr>
        <p:spPr>
          <a:xfrm>
            <a:off x="538863" y="7683901"/>
            <a:ext cx="7115490" cy="172355"/>
          </a:xfrm>
          <a:prstGeom prst="rect">
            <a:avLst/>
          </a:prstGeom>
          <a:noFill/>
        </p:spPr>
        <p:txBody>
          <a:bodyPr wrap="square" lIns="0" tIns="0" rIns="0" bIns="0" rtlCol="0">
            <a:spAutoFit/>
          </a:bodyPr>
          <a:lstStyle/>
          <a:p>
            <a:pPr marL="0" marR="0" indent="0" algn="l" defTabSz="731520" rtl="0" eaLnBrk="1" fontAlgn="auto" latinLnBrk="0" hangingPunct="1">
              <a:lnSpc>
                <a:spcPct val="100000"/>
              </a:lnSpc>
              <a:spcBef>
                <a:spcPts val="0"/>
              </a:spcBef>
              <a:spcAft>
                <a:spcPts val="0"/>
              </a:spcAft>
              <a:buClrTx/>
              <a:buSzTx/>
              <a:buFontTx/>
              <a:buNone/>
              <a:tabLst/>
              <a:defRPr/>
            </a:pP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202</a:t>
            </a:r>
            <a:r>
              <a:rPr lang="en-US" altLang="zh-CN"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3</a:t>
            </a:r>
            <a:r>
              <a:rPr lang="en-US" sz="1120" b="0" i="0" dirty="0">
                <a:solidFill>
                  <a:schemeClr val="tx1">
                    <a:lumMod val="50000"/>
                  </a:schemeClr>
                </a:solidFill>
                <a:latin typeface="Amazon Ember" panose="020B0603020204020204" pitchFamily="34" charset="0"/>
                <a:ea typeface="Amazon Ember" panose="020B0603020204020204" pitchFamily="34" charset="0"/>
                <a:cs typeface="Amazon Ember" panose="020B0603020204020204" pitchFamily="34" charset="0"/>
              </a:rPr>
              <a:t>, Amazon Web Services, Inc. or its Affiliates. </a:t>
            </a:r>
          </a:p>
        </p:txBody>
      </p:sp>
    </p:spTree>
    <p:extLst>
      <p:ext uri="{BB962C8B-B14F-4D97-AF65-F5344CB8AC3E}">
        <p14:creationId xmlns:p14="http://schemas.microsoft.com/office/powerpoint/2010/main" val="14311777"/>
      </p:ext>
    </p:extLst>
  </p:cSld>
  <p:clrMap bg1="dk1" tx1="lt1" bg2="dk2" tx2="lt2" accent1="accent1" accent2="accent2" accent3="accent3" accent4="accent4" accent5="accent5" accent6="accent6" hlink="hlink" folHlink="folHlink"/>
  <p:sldLayoutIdLst>
    <p:sldLayoutId id="2147483711" r:id="rId1"/>
    <p:sldLayoutId id="2147483696" r:id="rId2"/>
    <p:sldLayoutId id="2147483677" r:id="rId3"/>
    <p:sldLayoutId id="2147483700" r:id="rId4"/>
    <p:sldLayoutId id="2147483713" r:id="rId5"/>
    <p:sldLayoutId id="2147483697" r:id="rId6"/>
    <p:sldLayoutId id="2147483689" r:id="rId7"/>
    <p:sldLayoutId id="2147483678" r:id="rId8"/>
    <p:sldLayoutId id="2147483707" r:id="rId9"/>
    <p:sldLayoutId id="2147483679" r:id="rId10"/>
    <p:sldLayoutId id="2147483703" r:id="rId11"/>
    <p:sldLayoutId id="2147483704" r:id="rId12"/>
    <p:sldLayoutId id="2147483705" r:id="rId13"/>
    <p:sldLayoutId id="2147483690" r:id="rId14"/>
    <p:sldLayoutId id="2147483691" r:id="rId15"/>
    <p:sldLayoutId id="2147483692" r:id="rId16"/>
    <p:sldLayoutId id="2147483702" r:id="rId17"/>
    <p:sldLayoutId id="2147483680" r:id="rId18"/>
    <p:sldLayoutId id="2147483701" r:id="rId19"/>
    <p:sldLayoutId id="2147483712" r:id="rId20"/>
    <p:sldLayoutId id="2147483714" r:id="rId21"/>
    <p:sldLayoutId id="2147483706" r:id="rId22"/>
    <p:sldLayoutId id="2147483709" r:id="rId23"/>
    <p:sldLayoutId id="2147483710" r:id="rId24"/>
  </p:sldLayoutIdLst>
  <p:txStyles>
    <p:titleStyle>
      <a:lvl1pPr algn="l" defTabSz="731520" rtl="0" eaLnBrk="1" latinLnBrk="0" hangingPunct="1">
        <a:spcBef>
          <a:spcPct val="0"/>
        </a:spcBef>
        <a:buNone/>
        <a:defRPr sz="3800" b="1" i="0" kern="1200">
          <a:solidFill>
            <a:schemeClr val="bg2"/>
          </a:solidFill>
          <a:latin typeface="Amazon Ember" panose="020B0603020204020204" pitchFamily="34" charset="0"/>
          <a:ea typeface="Amazon Ember" panose="020B0603020204020204" pitchFamily="34" charset="0"/>
          <a:cs typeface="Amazon Ember" panose="020B0603020204020204" pitchFamily="34" charset="0"/>
        </a:defRPr>
      </a:lvl1pPr>
    </p:titleStyle>
    <p:bodyStyle>
      <a:lvl1pPr marL="0" indent="0" algn="l" defTabSz="731520" rtl="0" eaLnBrk="1" latinLnBrk="0" hangingPunct="1">
        <a:spcBef>
          <a:spcPct val="20000"/>
        </a:spcBef>
        <a:buFontTx/>
        <a:buNone/>
        <a:defRPr sz="2900" b="0" i="0" kern="1200">
          <a:solidFill>
            <a:schemeClr val="bg2"/>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p:bodyStyle>
    <p:otherStyle>
      <a:defPPr>
        <a:defRPr lang="en-US"/>
      </a:defPPr>
      <a:lvl1pPr marL="0" algn="l" defTabSz="731520" rtl="0" eaLnBrk="1" latinLnBrk="0" hangingPunct="1">
        <a:defRPr sz="2880" kern="1200">
          <a:solidFill>
            <a:schemeClr val="tx1"/>
          </a:solidFill>
          <a:latin typeface="+mn-lt"/>
          <a:ea typeface="+mn-ea"/>
          <a:cs typeface="+mn-cs"/>
        </a:defRPr>
      </a:lvl1pPr>
      <a:lvl2pPr marL="731520" algn="l" defTabSz="731520" rtl="0" eaLnBrk="1" latinLnBrk="0" hangingPunct="1">
        <a:defRPr sz="2880" kern="1200">
          <a:solidFill>
            <a:schemeClr val="tx1"/>
          </a:solidFill>
          <a:latin typeface="+mn-lt"/>
          <a:ea typeface="+mn-ea"/>
          <a:cs typeface="+mn-cs"/>
        </a:defRPr>
      </a:lvl2pPr>
      <a:lvl3pPr marL="1463040" algn="l" defTabSz="731520" rtl="0" eaLnBrk="1" latinLnBrk="0" hangingPunct="1">
        <a:defRPr sz="2880" kern="1200">
          <a:solidFill>
            <a:schemeClr val="tx1"/>
          </a:solidFill>
          <a:latin typeface="+mn-lt"/>
          <a:ea typeface="+mn-ea"/>
          <a:cs typeface="+mn-cs"/>
        </a:defRPr>
      </a:lvl3pPr>
      <a:lvl4pPr marL="2194560" algn="l" defTabSz="731520" rtl="0" eaLnBrk="1" latinLnBrk="0" hangingPunct="1">
        <a:defRPr sz="2880" kern="1200">
          <a:solidFill>
            <a:schemeClr val="tx1"/>
          </a:solidFill>
          <a:latin typeface="+mn-lt"/>
          <a:ea typeface="+mn-ea"/>
          <a:cs typeface="+mn-cs"/>
        </a:defRPr>
      </a:lvl4pPr>
      <a:lvl5pPr marL="2926080" algn="l" defTabSz="731520" rtl="0" eaLnBrk="1" latinLnBrk="0" hangingPunct="1">
        <a:defRPr sz="2880" kern="1200">
          <a:solidFill>
            <a:schemeClr val="tx1"/>
          </a:solidFill>
          <a:latin typeface="+mn-lt"/>
          <a:ea typeface="+mn-ea"/>
          <a:cs typeface="+mn-cs"/>
        </a:defRPr>
      </a:lvl5pPr>
      <a:lvl6pPr marL="3657600" algn="l" defTabSz="731520" rtl="0" eaLnBrk="1" latinLnBrk="0" hangingPunct="1">
        <a:defRPr sz="2880" kern="1200">
          <a:solidFill>
            <a:schemeClr val="tx1"/>
          </a:solidFill>
          <a:latin typeface="+mn-lt"/>
          <a:ea typeface="+mn-ea"/>
          <a:cs typeface="+mn-cs"/>
        </a:defRPr>
      </a:lvl6pPr>
      <a:lvl7pPr marL="4389120" algn="l" defTabSz="731520" rtl="0" eaLnBrk="1" latinLnBrk="0" hangingPunct="1">
        <a:defRPr sz="2880" kern="1200">
          <a:solidFill>
            <a:schemeClr val="tx1"/>
          </a:solidFill>
          <a:latin typeface="+mn-lt"/>
          <a:ea typeface="+mn-ea"/>
          <a:cs typeface="+mn-cs"/>
        </a:defRPr>
      </a:lvl7pPr>
      <a:lvl8pPr marL="5120640" algn="l" defTabSz="731520" rtl="0" eaLnBrk="1" latinLnBrk="0" hangingPunct="1">
        <a:defRPr sz="2880" kern="1200">
          <a:solidFill>
            <a:schemeClr val="tx1"/>
          </a:solidFill>
          <a:latin typeface="+mn-lt"/>
          <a:ea typeface="+mn-ea"/>
          <a:cs typeface="+mn-cs"/>
        </a:defRPr>
      </a:lvl8pPr>
      <a:lvl9pPr marL="5852160" algn="l" defTabSz="731520" rtl="0" eaLnBrk="1" latinLnBrk="0" hangingPunct="1">
        <a:defRPr sz="288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36" userDrawn="1">
          <p15:clr>
            <a:srgbClr val="F26B43"/>
          </p15:clr>
        </p15:guide>
        <p15:guide id="2" pos="8856" userDrawn="1">
          <p15:clr>
            <a:srgbClr val="F26B43"/>
          </p15:clr>
        </p15:guide>
        <p15:guide id="3" orient="horz" pos="1032"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4.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hyperlink" Target="https://raw.githubusercontent.com/viewlei/fsauor2018/master/src/sentiment_analysis_trainingset_annotations.pdf" TargetMode="External"/><Relationship Id="rId2" Type="http://schemas.openxmlformats.org/officeDocument/2006/relationships/hyperlink" Target="https://github.com/NLPBLCU/Chinese-Multi-Target-Sentiment-Classification-Dataset/blob/master/our_data.7z" TargetMode="External"/><Relationship Id="rId1" Type="http://schemas.openxmlformats.org/officeDocument/2006/relationships/slideLayout" Target="../slideLayouts/slideLayout24.xml"/><Relationship Id="rId5" Type="http://schemas.openxmlformats.org/officeDocument/2006/relationships/image" Target="../media/image18.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3" Type="http://schemas.openxmlformats.org/officeDocument/2006/relationships/image" Target="../media/image21.png"/><Relationship Id="rId7" Type="http://schemas.openxmlformats.org/officeDocument/2006/relationships/image" Target="../media/image25.svg"/><Relationship Id="rId12" Type="http://schemas.openxmlformats.org/officeDocument/2006/relationships/image" Target="../media/image30.jpeg"/><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 Id="rId6" Type="http://schemas.openxmlformats.org/officeDocument/2006/relationships/image" Target="../media/image24.png"/><Relationship Id="rId11" Type="http://schemas.openxmlformats.org/officeDocument/2006/relationships/image" Target="../media/image29.svg"/><Relationship Id="rId5" Type="http://schemas.openxmlformats.org/officeDocument/2006/relationships/image" Target="../media/image23.svg"/><Relationship Id="rId15" Type="http://schemas.openxmlformats.org/officeDocument/2006/relationships/image" Target="../media/image33.sv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svg"/><Relationship Id="rId14"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hyperlink" Target="https://files.slack.com/files-pri/T015GUGD2V6-F02KCJ02HQB/______2021-10-28_______5.47.59.png" TargetMode="External"/><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5F5DE-098E-AF42-9667-D43EF8AEC332}"/>
              </a:ext>
            </a:extLst>
          </p:cNvPr>
          <p:cNvSpPr>
            <a:spLocks noGrp="1"/>
          </p:cNvSpPr>
          <p:nvPr>
            <p:ph type="title"/>
          </p:nvPr>
        </p:nvSpPr>
        <p:spPr>
          <a:xfrm>
            <a:off x="516367" y="1881261"/>
            <a:ext cx="12435840" cy="2091923"/>
          </a:xfrm>
        </p:spPr>
        <p:txBody>
          <a:bodyPr/>
          <a:lstStyle/>
          <a:p>
            <a:pPr algn="ctr"/>
            <a:r>
              <a:rPr lang="zh-CN" altLang="en-US" dirty="0"/>
              <a:t>评论数据细粒度情感分析</a:t>
            </a:r>
            <a:br>
              <a:rPr lang="en-US" altLang="zh-CN" dirty="0"/>
            </a:br>
            <a:endParaRPr lang="en-US" altLang="zh-CN" dirty="0"/>
          </a:p>
        </p:txBody>
      </p:sp>
      <p:sp>
        <p:nvSpPr>
          <p:cNvPr id="3" name="文本框 2">
            <a:extLst>
              <a:ext uri="{FF2B5EF4-FFF2-40B4-BE49-F238E27FC236}">
                <a16:creationId xmlns:a16="http://schemas.microsoft.com/office/drawing/2014/main" id="{E31E0BC6-6A16-D3AC-A5A3-129267152E44}"/>
              </a:ext>
            </a:extLst>
          </p:cNvPr>
          <p:cNvSpPr txBox="1"/>
          <p:nvPr/>
        </p:nvSpPr>
        <p:spPr>
          <a:xfrm>
            <a:off x="1748901" y="5446450"/>
            <a:ext cx="5003934" cy="984885"/>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吕浩然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		</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刘俊逸</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应用科学家</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	</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高级应用科学家</a:t>
            </a:r>
          </a:p>
        </p:txBody>
      </p:sp>
    </p:spTree>
    <p:extLst>
      <p:ext uri="{BB962C8B-B14F-4D97-AF65-F5344CB8AC3E}">
        <p14:creationId xmlns:p14="http://schemas.microsoft.com/office/powerpoint/2010/main" val="805821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328981" y="253980"/>
            <a:ext cx="2377574" cy="830997"/>
          </a:xfrm>
          <a:prstGeom prst="rect">
            <a:avLst/>
          </a:prstGeom>
        </p:spPr>
        <p:txBody>
          <a:bodyPr wrap="none">
            <a:spAutoFit/>
          </a:bodyPr>
          <a:lstStyle/>
          <a:p>
            <a:r>
              <a:rPr lang="en" altLang="zh-CN" sz="4800" b="1" dirty="0"/>
              <a:t>Outline</a:t>
            </a:r>
            <a:endParaRPr lang="zh-CN" altLang="en-US" sz="4800" b="1" dirty="0"/>
          </a:p>
        </p:txBody>
      </p:sp>
      <p:sp>
        <p:nvSpPr>
          <p:cNvPr id="6" name="文本框 5">
            <a:extLst>
              <a:ext uri="{FF2B5EF4-FFF2-40B4-BE49-F238E27FC236}">
                <a16:creationId xmlns:a16="http://schemas.microsoft.com/office/drawing/2014/main" id="{D0C8365E-2E68-DD44-B5D5-3C50E475CDEE}"/>
              </a:ext>
            </a:extLst>
          </p:cNvPr>
          <p:cNvSpPr txBox="1"/>
          <p:nvPr/>
        </p:nvSpPr>
        <p:spPr>
          <a:xfrm>
            <a:off x="2417851" y="1706466"/>
            <a:ext cx="11648539" cy="4431983"/>
          </a:xfrm>
          <a:prstGeom prst="rect">
            <a:avLst/>
          </a:prstGeom>
          <a:noFill/>
        </p:spPr>
        <p:txBody>
          <a:bodyPr wrap="square" rtlCol="0">
            <a:spAutoFit/>
          </a:bodyPr>
          <a:lstStyle/>
          <a:p>
            <a:pPr marL="457200" indent="-457200">
              <a:buFont typeface="Wingdings" pitchFamily="2" charset="2"/>
              <a:buChar char="Ø"/>
            </a:pPr>
            <a:r>
              <a:rPr kumimoji="1" lang="zh-CN" altLang="en-US" sz="3200" dirty="0">
                <a:latin typeface="Amazon Ember" panose="020B0603020204020204" pitchFamily="34" charset="0"/>
                <a:ea typeface="Amazon Ember" panose="020B0603020204020204" pitchFamily="34" charset="0"/>
                <a:cs typeface="Amazon Ember" panose="020B0603020204020204" pitchFamily="34" charset="0"/>
              </a:rPr>
              <a:t>问题背景和定义</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Wingdings" pitchFamily="2" charset="2"/>
              <a:buChar char="Ø"/>
            </a:pP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Wingdings" pitchFamily="2" charset="2"/>
              <a:buChar char="Ø"/>
            </a:pPr>
            <a:r>
              <a:rPr kumimoji="1" lang="zh-CN" altLang="en-US" sz="3200" dirty="0">
                <a:latin typeface="Amazon Ember" panose="020B0603020204020204" pitchFamily="34" charset="0"/>
                <a:cs typeface="Amazon Ember" panose="020B0603020204020204" pitchFamily="34" charset="0"/>
              </a:rPr>
              <a:t>现有的方法</a:t>
            </a:r>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Wingdings" pitchFamily="2" charset="2"/>
              <a:buChar char="Ø"/>
            </a:pPr>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Wingdings" pitchFamily="2" charset="2"/>
              <a:buChar char="Ø"/>
            </a:pPr>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a:p>
            <a:pPr marL="457200" indent="-457200">
              <a:buFont typeface="Wingdings" pitchFamily="2" charset="2"/>
              <a:buChar char="Ø"/>
            </a:pPr>
            <a:r>
              <a:rPr kumimoji="1" lang="zh-CN" altLang="en-US" sz="3200" dirty="0">
                <a:latin typeface="Amazon Ember" panose="020B0603020204020204" pitchFamily="34" charset="0"/>
                <a:cs typeface="Amazon Ember" panose="020B0603020204020204" pitchFamily="34" charset="0"/>
              </a:rPr>
              <a:t>真实案例</a:t>
            </a:r>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a:p>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a:p>
            <a:endParaRPr kumimoji="1" lang="en-US" altLang="zh-CN" sz="3200"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430440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449353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问题背景和定义</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298461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问题背景和定义</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文本框 5">
            <a:extLst>
              <a:ext uri="{FF2B5EF4-FFF2-40B4-BE49-F238E27FC236}">
                <a16:creationId xmlns:a16="http://schemas.microsoft.com/office/drawing/2014/main" id="{A28DFBCC-D84A-19A9-8AA7-B3471DBCB38E}"/>
              </a:ext>
            </a:extLst>
          </p:cNvPr>
          <p:cNvSpPr txBox="1"/>
          <p:nvPr/>
        </p:nvSpPr>
        <p:spPr>
          <a:xfrm>
            <a:off x="930220" y="1059744"/>
            <a:ext cx="1005403" cy="584775"/>
          </a:xfrm>
          <a:prstGeom prst="rect">
            <a:avLst/>
          </a:prstGeom>
          <a:noFill/>
        </p:spPr>
        <p:txBody>
          <a:bodyPr wrap="none" rtlCol="0">
            <a:spAutoFit/>
          </a:bodyPr>
          <a:lstStyle/>
          <a:p>
            <a:pPr algn="l"/>
            <a:r>
              <a:rPr kumimoji="1" lang="zh-CN" altLang="en-US" sz="3200" b="1" dirty="0">
                <a:latin typeface="Amazon Ember" panose="020B0603020204020204" pitchFamily="34" charset="0"/>
                <a:ea typeface="Amazon Ember" panose="020B0603020204020204" pitchFamily="34" charset="0"/>
                <a:cs typeface="Amazon Ember" panose="020B0603020204020204" pitchFamily="34" charset="0"/>
              </a:rPr>
              <a:t>背景</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8" name="下箭头 27">
            <a:extLst>
              <a:ext uri="{FF2B5EF4-FFF2-40B4-BE49-F238E27FC236}">
                <a16:creationId xmlns:a16="http://schemas.microsoft.com/office/drawing/2014/main" id="{EC31E72D-E145-FE76-9369-AC39A6E67F88}"/>
              </a:ext>
            </a:extLst>
          </p:cNvPr>
          <p:cNvSpPr/>
          <p:nvPr/>
        </p:nvSpPr>
        <p:spPr>
          <a:xfrm>
            <a:off x="1316498" y="4897826"/>
            <a:ext cx="3126740" cy="2272030"/>
          </a:xfrm>
          <a:prstGeom prst="downArrow">
            <a:avLst/>
          </a:prstGeom>
          <a:solidFill>
            <a:srgbClr val="00B0F0"/>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ltLang="zh-CN" sz="5400">
              <a:latin typeface="Krungthep" panose="02000400000000000000" charset="0"/>
              <a:cs typeface="Krungthep" panose="02000400000000000000" charset="0"/>
            </a:endParaRPr>
          </a:p>
        </p:txBody>
      </p:sp>
      <p:sp>
        <p:nvSpPr>
          <p:cNvPr id="29" name="下箭头 28">
            <a:extLst>
              <a:ext uri="{FF2B5EF4-FFF2-40B4-BE49-F238E27FC236}">
                <a16:creationId xmlns:a16="http://schemas.microsoft.com/office/drawing/2014/main" id="{71FA21F2-0AFE-D09D-B081-C4B08F99D4A7}"/>
              </a:ext>
            </a:extLst>
          </p:cNvPr>
          <p:cNvSpPr/>
          <p:nvPr/>
        </p:nvSpPr>
        <p:spPr>
          <a:xfrm rot="10800000">
            <a:off x="10447954" y="1809602"/>
            <a:ext cx="3126740" cy="2272030"/>
          </a:xfrm>
          <a:prstGeom prst="downArrow">
            <a:avLst/>
          </a:prstGeom>
          <a:solidFill>
            <a:srgbClr val="00B0F0"/>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6BCD9B18-F6FE-CD86-3066-6599E9924A93}"/>
              </a:ext>
            </a:extLst>
          </p:cNvPr>
          <p:cNvSpPr txBox="1"/>
          <p:nvPr/>
        </p:nvSpPr>
        <p:spPr>
          <a:xfrm>
            <a:off x="11221424" y="4089862"/>
            <a:ext cx="1783080" cy="2306320"/>
          </a:xfrm>
          <a:prstGeom prst="rect">
            <a:avLst/>
          </a:prstGeom>
          <a:noFill/>
        </p:spPr>
        <p:txBody>
          <a:bodyPr wrap="none" rtlCol="0">
            <a:spAutoFit/>
          </a:bodyPr>
          <a:lstStyle/>
          <a:p>
            <a:pPr lvl="0" algn="ctr">
              <a:lnSpc>
                <a:spcPct val="160000"/>
              </a:lnSpc>
            </a:pPr>
            <a:r>
              <a:rPr lang="zh-CN" altLang="en-US" dirty="0">
                <a:latin typeface="微软雅黑" charset="0"/>
                <a:ea typeface="微软雅黑" charset="0"/>
                <a:sym typeface="+mn-ea"/>
              </a:rPr>
              <a:t>负面反馈处理</a:t>
            </a:r>
          </a:p>
          <a:p>
            <a:pPr lvl="0" algn="ctr">
              <a:lnSpc>
                <a:spcPct val="160000"/>
              </a:lnSpc>
            </a:pPr>
            <a:r>
              <a:rPr lang="zh-CN" altLang="en-US" dirty="0">
                <a:latin typeface="微软雅黑" charset="0"/>
                <a:ea typeface="微软雅黑" charset="0"/>
                <a:sym typeface="+mn-ea"/>
              </a:rPr>
              <a:t>服务体验优化</a:t>
            </a:r>
          </a:p>
          <a:p>
            <a:pPr lvl="0" algn="ctr">
              <a:lnSpc>
                <a:spcPct val="160000"/>
              </a:lnSpc>
            </a:pPr>
            <a:r>
              <a:rPr lang="zh-CN" altLang="en-US" dirty="0">
                <a:latin typeface="微软雅黑" charset="0"/>
                <a:ea typeface="微软雅黑" charset="0"/>
                <a:sym typeface="+mn-ea"/>
              </a:rPr>
              <a:t>客户忠诚度提升</a:t>
            </a:r>
          </a:p>
          <a:p>
            <a:pPr lvl="0" algn="ctr">
              <a:lnSpc>
                <a:spcPct val="160000"/>
              </a:lnSpc>
            </a:pPr>
            <a:r>
              <a:rPr lang="zh-CN" altLang="en-US" dirty="0">
                <a:latin typeface="微软雅黑" charset="0"/>
                <a:ea typeface="微软雅黑" charset="0"/>
                <a:sym typeface="+mn-ea"/>
              </a:rPr>
              <a:t>客户复购提升</a:t>
            </a:r>
          </a:p>
          <a:p>
            <a:pPr lvl="0" algn="ctr">
              <a:lnSpc>
                <a:spcPct val="160000"/>
              </a:lnSpc>
            </a:pPr>
            <a:endParaRPr lang="zh-CN" altLang="en-US" dirty="0">
              <a:latin typeface="微软雅黑" charset="0"/>
              <a:ea typeface="微软雅黑" charset="0"/>
              <a:sym typeface="+mn-ea"/>
            </a:endParaRPr>
          </a:p>
        </p:txBody>
      </p:sp>
      <p:sp>
        <p:nvSpPr>
          <p:cNvPr id="33" name="文本框 32">
            <a:extLst>
              <a:ext uri="{FF2B5EF4-FFF2-40B4-BE49-F238E27FC236}">
                <a16:creationId xmlns:a16="http://schemas.microsoft.com/office/drawing/2014/main" id="{8F472116-2B2B-82D7-1169-CE4875B8C282}"/>
              </a:ext>
            </a:extLst>
          </p:cNvPr>
          <p:cNvSpPr txBox="1"/>
          <p:nvPr/>
        </p:nvSpPr>
        <p:spPr>
          <a:xfrm>
            <a:off x="930221" y="1970722"/>
            <a:ext cx="4365260" cy="3371949"/>
          </a:xfrm>
          <a:prstGeom prst="rect">
            <a:avLst/>
          </a:prstGeom>
          <a:noFill/>
        </p:spPr>
        <p:txBody>
          <a:bodyPr wrap="square" rtlCol="0">
            <a:spAutoFit/>
          </a:bodyPr>
          <a:lstStyle/>
          <a:p>
            <a:pPr algn="ctr">
              <a:lnSpc>
                <a:spcPct val="160000"/>
              </a:lnSpc>
            </a:pPr>
            <a:r>
              <a:rPr lang="zh-CN" altLang="en-US" dirty="0">
                <a:latin typeface="微软雅黑" charset="0"/>
                <a:ea typeface="微软雅黑" charset="0"/>
              </a:rPr>
              <a:t>售前转化率提升</a:t>
            </a:r>
          </a:p>
          <a:p>
            <a:pPr algn="ctr">
              <a:lnSpc>
                <a:spcPct val="160000"/>
              </a:lnSpc>
            </a:pPr>
            <a:r>
              <a:rPr lang="zh-CN" altLang="en-US" dirty="0">
                <a:latin typeface="微软雅黑" charset="0"/>
                <a:ea typeface="微软雅黑" charset="0"/>
              </a:rPr>
              <a:t>全域客户反馈焦点分析</a:t>
            </a:r>
          </a:p>
          <a:p>
            <a:pPr algn="ctr">
              <a:lnSpc>
                <a:spcPct val="160000"/>
              </a:lnSpc>
            </a:pPr>
            <a:r>
              <a:rPr lang="zh-CN" altLang="en-US" dirty="0">
                <a:latin typeface="微软雅黑" charset="0"/>
                <a:ea typeface="微软雅黑" charset="0"/>
              </a:rPr>
              <a:t>产品优化改善</a:t>
            </a:r>
          </a:p>
          <a:p>
            <a:pPr algn="ctr">
              <a:lnSpc>
                <a:spcPct val="160000"/>
              </a:lnSpc>
            </a:pPr>
            <a:r>
              <a:rPr lang="zh-CN" altLang="en-US" dirty="0">
                <a:latin typeface="微软雅黑" charset="0"/>
                <a:ea typeface="微软雅黑" charset="0"/>
              </a:rPr>
              <a:t>需求场景挖掘</a:t>
            </a:r>
          </a:p>
          <a:p>
            <a:pPr algn="ctr"/>
            <a:endParaRPr lang="zh-CN" altLang="en-US" dirty="0">
              <a:latin typeface="微软雅黑" charset="0"/>
              <a:ea typeface="微软雅黑" charset="0"/>
            </a:endParaRPr>
          </a:p>
        </p:txBody>
      </p:sp>
      <p:pic>
        <p:nvPicPr>
          <p:cNvPr id="34" name="图片 33">
            <a:extLst>
              <a:ext uri="{FF2B5EF4-FFF2-40B4-BE49-F238E27FC236}">
                <a16:creationId xmlns:a16="http://schemas.microsoft.com/office/drawing/2014/main" id="{5F1454A1-21D7-BD1D-69E7-450795D66819}"/>
              </a:ext>
            </a:extLst>
          </p:cNvPr>
          <p:cNvPicPr>
            <a:picLocks noChangeAspect="1"/>
          </p:cNvPicPr>
          <p:nvPr/>
        </p:nvPicPr>
        <p:blipFill>
          <a:blip r:embed="rId2"/>
          <a:srcRect r="5939"/>
          <a:stretch>
            <a:fillRect/>
          </a:stretch>
        </p:blipFill>
        <p:spPr>
          <a:xfrm>
            <a:off x="5115068" y="2006917"/>
            <a:ext cx="4857750" cy="421576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509843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问题背景和定义</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文本框 6">
            <a:extLst>
              <a:ext uri="{FF2B5EF4-FFF2-40B4-BE49-F238E27FC236}">
                <a16:creationId xmlns:a16="http://schemas.microsoft.com/office/drawing/2014/main" id="{9BEE64D9-18D5-998B-FE64-7CD174A26CEB}"/>
              </a:ext>
            </a:extLst>
          </p:cNvPr>
          <p:cNvSpPr txBox="1"/>
          <p:nvPr/>
        </p:nvSpPr>
        <p:spPr>
          <a:xfrm>
            <a:off x="672723" y="1392990"/>
            <a:ext cx="1005403" cy="584775"/>
          </a:xfrm>
          <a:prstGeom prst="rect">
            <a:avLst/>
          </a:prstGeom>
          <a:noFill/>
        </p:spPr>
        <p:txBody>
          <a:bodyPr wrap="none" rtlCol="0">
            <a:spAutoFit/>
          </a:bodyPr>
          <a:lstStyle/>
          <a:p>
            <a:pPr algn="l"/>
            <a:r>
              <a:rPr kumimoji="1" lang="zh-CN" altLang="en-US" sz="3200" b="1" dirty="0">
                <a:latin typeface="Amazon Ember" panose="020B0603020204020204" pitchFamily="34" charset="0"/>
                <a:ea typeface="Amazon Ember" panose="020B0603020204020204" pitchFamily="34" charset="0"/>
                <a:cs typeface="Amazon Ember" panose="020B0603020204020204" pitchFamily="34" charset="0"/>
              </a:rPr>
              <a:t>定义</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7" name="Picture 4">
            <a:extLst>
              <a:ext uri="{FF2B5EF4-FFF2-40B4-BE49-F238E27FC236}">
                <a16:creationId xmlns:a16="http://schemas.microsoft.com/office/drawing/2014/main" id="{07C9B965-D33F-9E1F-0195-A003A53655B7}"/>
              </a:ext>
            </a:extLst>
          </p:cNvPr>
          <p:cNvPicPr>
            <a:picLocks noChangeAspect="1"/>
          </p:cNvPicPr>
          <p:nvPr/>
        </p:nvPicPr>
        <p:blipFill>
          <a:blip r:embed="rId2"/>
          <a:stretch>
            <a:fillRect/>
          </a:stretch>
        </p:blipFill>
        <p:spPr>
          <a:xfrm>
            <a:off x="6986955" y="779327"/>
            <a:ext cx="7111399" cy="6342092"/>
          </a:xfrm>
          <a:prstGeom prst="rect">
            <a:avLst/>
          </a:prstGeom>
        </p:spPr>
      </p:pic>
      <p:sp>
        <p:nvSpPr>
          <p:cNvPr id="2" name="文本框 1">
            <a:extLst>
              <a:ext uri="{FF2B5EF4-FFF2-40B4-BE49-F238E27FC236}">
                <a16:creationId xmlns:a16="http://schemas.microsoft.com/office/drawing/2014/main" id="{0A1061B0-1929-DBF1-D447-027A02124AE3}"/>
              </a:ext>
            </a:extLst>
          </p:cNvPr>
          <p:cNvSpPr txBox="1"/>
          <p:nvPr/>
        </p:nvSpPr>
        <p:spPr>
          <a:xfrm>
            <a:off x="672723" y="2431179"/>
            <a:ext cx="6166338" cy="3847207"/>
          </a:xfrm>
          <a:prstGeom prst="rect">
            <a:avLst/>
          </a:prstGeom>
          <a:noFill/>
        </p:spPr>
        <p:txBody>
          <a:bodyPr wrap="square">
            <a:spAutoFit/>
          </a:bodyPr>
          <a:lstStyle/>
          <a:p>
            <a:r>
              <a:rPr lang="zh-CN" altLang="en-US" sz="2000" dirty="0"/>
              <a:t>细粒度情感分析（</a:t>
            </a:r>
            <a:r>
              <a:rPr lang="en" altLang="zh-CN" sz="2000" dirty="0"/>
              <a:t>Aspect-Based Sentiment Analysis</a:t>
            </a:r>
            <a:r>
              <a:rPr lang="zh-CN" altLang="en" sz="2000" dirty="0"/>
              <a:t>，</a:t>
            </a:r>
            <a:r>
              <a:rPr lang="en" altLang="zh-CN" sz="2000" dirty="0"/>
              <a:t>ABSA</a:t>
            </a:r>
            <a:r>
              <a:rPr lang="zh-CN" altLang="en" sz="2000" dirty="0"/>
              <a:t>）</a:t>
            </a:r>
            <a:r>
              <a:rPr lang="zh-CN" altLang="en-US" sz="2000" dirty="0"/>
              <a:t>由于其广阔的业务价值而吸引越来越多的从业者投身其中，通过分析客户评论数据中的情感偏好往往有利于企业探寻客户关注点，挖掘客户需求，加速产品迭代，提高营销效率，完善售后服务等。毫不夸张地说，发掘出客户的声音（</a:t>
            </a:r>
            <a:r>
              <a:rPr lang="en" altLang="zh-CN" sz="2000" dirty="0"/>
              <a:t>voice of customer</a:t>
            </a:r>
            <a:r>
              <a:rPr lang="zh-CN" altLang="en" sz="2000" dirty="0"/>
              <a:t>）</a:t>
            </a:r>
            <a:r>
              <a:rPr lang="zh-CN" altLang="en-US" sz="2000" dirty="0"/>
              <a:t>就抢占了企业发展的先机。</a:t>
            </a:r>
            <a:endParaRPr lang="en-US" altLang="zh-CN" sz="2000" dirty="0"/>
          </a:p>
          <a:p>
            <a:endParaRPr lang="en-US" altLang="zh-CN" sz="2400" dirty="0"/>
          </a:p>
          <a:p>
            <a:r>
              <a:rPr lang="zh-CN" altLang="en-US" sz="2000" dirty="0"/>
              <a:t>细粒度情感分析不同于传统自然语言理解（</a:t>
            </a:r>
            <a:r>
              <a:rPr lang="en" altLang="zh-CN" sz="2000" dirty="0"/>
              <a:t>NLU</a:t>
            </a:r>
            <a:r>
              <a:rPr lang="zh-CN" altLang="en" sz="2000" dirty="0"/>
              <a:t>）</a:t>
            </a:r>
            <a:r>
              <a:rPr lang="zh-CN" altLang="en-US" sz="2000" dirty="0"/>
              <a:t>中的情感分析，其关注点不仅仅在于文本的情感极性，而在于找出情感极性所相关的方面词（</a:t>
            </a:r>
            <a:r>
              <a:rPr lang="en" altLang="zh-CN" sz="2000" dirty="0"/>
              <a:t>aspect term</a:t>
            </a:r>
            <a:r>
              <a:rPr lang="zh-CN" altLang="en" sz="2000" dirty="0"/>
              <a:t>）</a:t>
            </a:r>
            <a:r>
              <a:rPr lang="zh-CN" altLang="en-US" sz="2000" dirty="0"/>
              <a:t>和观点词（</a:t>
            </a:r>
            <a:r>
              <a:rPr lang="en" altLang="zh-CN" sz="2000" dirty="0"/>
              <a:t>opinion term</a:t>
            </a:r>
            <a:r>
              <a:rPr lang="zh-CN" altLang="en" sz="2000" dirty="0"/>
              <a:t>）。</a:t>
            </a:r>
            <a:endParaRPr lang="zh-CN" altLang="en-US" sz="3600" dirty="0"/>
          </a:p>
        </p:txBody>
      </p:sp>
    </p:spTree>
    <p:extLst>
      <p:ext uri="{BB962C8B-B14F-4D97-AF65-F5344CB8AC3E}">
        <p14:creationId xmlns:p14="http://schemas.microsoft.com/office/powerpoint/2010/main" val="482321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3262432"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现有的方法</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436855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现有的方法</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文本框 4">
            <a:extLst>
              <a:ext uri="{FF2B5EF4-FFF2-40B4-BE49-F238E27FC236}">
                <a16:creationId xmlns:a16="http://schemas.microsoft.com/office/drawing/2014/main" id="{2177D3CA-5F7A-2641-080A-9AE8803ED855}"/>
              </a:ext>
            </a:extLst>
          </p:cNvPr>
          <p:cNvSpPr txBox="1"/>
          <p:nvPr/>
        </p:nvSpPr>
        <p:spPr>
          <a:xfrm>
            <a:off x="568060" y="899867"/>
            <a:ext cx="11798102" cy="3120854"/>
          </a:xfrm>
          <a:prstGeom prst="rect">
            <a:avLst/>
          </a:prstGeom>
          <a:noFill/>
        </p:spPr>
        <p:txBody>
          <a:bodyPr wrap="none" rtlCol="0">
            <a:spAutoFit/>
          </a:bodyPr>
          <a:lstStyle/>
          <a:p>
            <a:r>
              <a:rPr kumimoji="1" lang="zh-CN" altLang="en-US" sz="2400" b="1" dirty="0"/>
              <a:t>基于自然语言理解（</a:t>
            </a:r>
            <a:r>
              <a:rPr lang="en" altLang="zh-CN" sz="2400" b="1" dirty="0"/>
              <a:t>natural</a:t>
            </a:r>
            <a:r>
              <a:rPr lang="zh-CN" altLang="en-US" sz="2400" b="1" dirty="0"/>
              <a:t> </a:t>
            </a:r>
            <a:r>
              <a:rPr lang="en" altLang="zh-CN" sz="2400" b="1" dirty="0"/>
              <a:t>language understanding </a:t>
            </a:r>
            <a:r>
              <a:rPr lang="zh-CN" altLang="en-US" sz="2400" b="1" dirty="0"/>
              <a:t>，</a:t>
            </a:r>
            <a:r>
              <a:rPr lang="en" altLang="zh-CN" sz="2400" b="1" dirty="0"/>
              <a:t>NLU </a:t>
            </a:r>
            <a:r>
              <a:rPr kumimoji="1" lang="zh-CN" altLang="en-US" sz="2400" b="1" dirty="0"/>
              <a:t>）的方法：</a:t>
            </a:r>
            <a:endParaRPr kumimoji="1" lang="en-US" altLang="zh-CN" sz="2400" b="1" dirty="0"/>
          </a:p>
          <a:p>
            <a:r>
              <a:rPr kumimoji="1" lang="en-US" altLang="zh-CN" dirty="0"/>
              <a:t>	</a:t>
            </a:r>
            <a:r>
              <a:rPr kumimoji="1" lang="en-US" altLang="zh-CN" sz="2000" dirty="0"/>
              <a:t>1.</a:t>
            </a:r>
            <a:r>
              <a:rPr kumimoji="1" lang="zh-CN" altLang="en-US" sz="2000" dirty="0"/>
              <a:t>将</a:t>
            </a:r>
            <a:r>
              <a:rPr kumimoji="1" lang="en-US" altLang="zh-CN" sz="2000" dirty="0"/>
              <a:t>aspect</a:t>
            </a:r>
            <a:r>
              <a:rPr kumimoji="1" lang="zh-CN" altLang="en-US" sz="2000" dirty="0"/>
              <a:t> </a:t>
            </a:r>
            <a:r>
              <a:rPr kumimoji="1" lang="en-US" altLang="zh-CN" sz="2000" dirty="0"/>
              <a:t>term</a:t>
            </a:r>
            <a:r>
              <a:rPr kumimoji="1" lang="zh-CN" altLang="en-US" sz="2000" dirty="0"/>
              <a:t>和</a:t>
            </a:r>
            <a:r>
              <a:rPr kumimoji="1" lang="en-US" altLang="zh-CN" sz="2000" dirty="0"/>
              <a:t>opinion</a:t>
            </a:r>
            <a:r>
              <a:rPr kumimoji="1" lang="zh-CN" altLang="en-US" sz="2000" dirty="0"/>
              <a:t> </a:t>
            </a:r>
            <a:r>
              <a:rPr kumimoji="1" lang="en-US" altLang="zh-CN" sz="2000" dirty="0"/>
              <a:t>term</a:t>
            </a:r>
            <a:r>
              <a:rPr kumimoji="1" lang="zh-CN" altLang="en-US" sz="2000" dirty="0"/>
              <a:t>的提取建模为</a:t>
            </a:r>
            <a:r>
              <a:rPr lang="en" altLang="zh-CN" sz="2000" dirty="0"/>
              <a:t>sequence</a:t>
            </a:r>
            <a:r>
              <a:rPr kumimoji="1" lang="zh-CN" altLang="en-US" sz="2000" dirty="0"/>
              <a:t> </a:t>
            </a:r>
            <a:r>
              <a:rPr kumimoji="1" lang="en-US" altLang="zh-CN" sz="2000" dirty="0"/>
              <a:t>tagging</a:t>
            </a:r>
            <a:r>
              <a:rPr kumimoji="1" lang="zh-CN" altLang="en-US" sz="2000" dirty="0"/>
              <a:t>问题</a:t>
            </a:r>
            <a:endParaRPr kumimoji="1" lang="en-US" altLang="zh-CN" sz="2000" dirty="0"/>
          </a:p>
          <a:p>
            <a:r>
              <a:rPr kumimoji="1" lang="en-US" altLang="zh-CN" sz="2000" dirty="0"/>
              <a:t>	2.</a:t>
            </a:r>
            <a:r>
              <a:rPr kumimoji="1" lang="zh-CN" altLang="en-US" sz="2000" dirty="0"/>
              <a:t>将情感极性和</a:t>
            </a:r>
            <a:r>
              <a:rPr kumimoji="1" lang="en-US" altLang="zh-CN" sz="2000" dirty="0"/>
              <a:t>aspect</a:t>
            </a:r>
            <a:r>
              <a:rPr kumimoji="1" lang="zh-CN" altLang="en-US" sz="2000" dirty="0"/>
              <a:t>类别建模为分类问题，对多个子任务采用</a:t>
            </a:r>
            <a:r>
              <a:rPr kumimoji="1" lang="en-US" altLang="zh-CN" sz="2000" dirty="0"/>
              <a:t>pipeline</a:t>
            </a:r>
            <a:r>
              <a:rPr kumimoji="1" lang="zh-CN" altLang="en-US" sz="2000" dirty="0"/>
              <a:t>的方案或者端到端的方案</a:t>
            </a:r>
            <a:endParaRPr kumimoji="1" lang="en-US" altLang="zh-CN" sz="2000" dirty="0"/>
          </a:p>
          <a:p>
            <a:r>
              <a:rPr kumimoji="1" lang="zh-CN" altLang="en-US" sz="2000" b="1" dirty="0">
                <a:solidFill>
                  <a:srgbClr val="00B050"/>
                </a:solidFill>
              </a:rPr>
              <a:t>优势</a:t>
            </a:r>
            <a:endParaRPr kumimoji="1" lang="en-US" altLang="zh-CN" sz="2000" b="1" dirty="0">
              <a:solidFill>
                <a:srgbClr val="00B050"/>
              </a:solidFill>
            </a:endParaRPr>
          </a:p>
          <a:p>
            <a:r>
              <a:rPr kumimoji="1" lang="en-US" altLang="zh-CN" sz="2000" b="1" dirty="0"/>
              <a:t>	1.</a:t>
            </a:r>
            <a:r>
              <a:rPr kumimoji="1" lang="zh-CN" altLang="en-US" sz="2000" b="1" dirty="0"/>
              <a:t>全程并行推理，效率高</a:t>
            </a:r>
            <a:endParaRPr kumimoji="1" lang="en-US" altLang="zh-CN" sz="2000" b="1" dirty="0"/>
          </a:p>
          <a:p>
            <a:r>
              <a:rPr kumimoji="1" lang="zh-CN" altLang="en-US" sz="2000" b="1" dirty="0">
                <a:solidFill>
                  <a:srgbClr val="FF0000"/>
                </a:solidFill>
              </a:rPr>
              <a:t>劣势</a:t>
            </a:r>
            <a:endParaRPr kumimoji="1" lang="en-US" altLang="zh-CN" sz="2000" b="1" dirty="0">
              <a:solidFill>
                <a:srgbClr val="FF0000"/>
              </a:solidFill>
            </a:endParaRPr>
          </a:p>
          <a:p>
            <a:r>
              <a:rPr kumimoji="1" lang="en-US" altLang="zh-CN" sz="1600" b="1" dirty="0"/>
              <a:t>	</a:t>
            </a:r>
            <a:r>
              <a:rPr kumimoji="1" lang="en-US" altLang="zh-CN" sz="2000" b="1" dirty="0"/>
              <a:t>1.</a:t>
            </a:r>
            <a:r>
              <a:rPr kumimoji="1" lang="zh-CN" altLang="en-US" sz="2000" b="1" dirty="0"/>
              <a:t>过于依赖人工设计，</a:t>
            </a:r>
            <a:r>
              <a:rPr kumimoji="1" lang="en-US" altLang="zh-CN" sz="2000" b="1" dirty="0"/>
              <a:t>8</a:t>
            </a:r>
            <a:r>
              <a:rPr kumimoji="1" lang="zh-CN" altLang="en-US" sz="2000" b="1" dirty="0"/>
              <a:t>个</a:t>
            </a:r>
            <a:r>
              <a:rPr kumimoji="1" lang="en-US" altLang="zh-CN" sz="2000" b="1" dirty="0"/>
              <a:t>ABSA</a:t>
            </a:r>
            <a:r>
              <a:rPr kumimoji="1" lang="zh-CN" altLang="en-US" sz="2000" b="1" dirty="0"/>
              <a:t>任务往往需要对应</a:t>
            </a:r>
            <a:r>
              <a:rPr kumimoji="1" lang="en-US" altLang="zh-CN" sz="2000" b="1" dirty="0"/>
              <a:t>8</a:t>
            </a:r>
            <a:r>
              <a:rPr kumimoji="1" lang="zh-CN" altLang="en-US" sz="2000" b="1" dirty="0"/>
              <a:t>种不同的模型架构</a:t>
            </a:r>
            <a:endParaRPr kumimoji="1" lang="en-US" altLang="zh-CN" sz="2000" b="1" dirty="0"/>
          </a:p>
          <a:p>
            <a:r>
              <a:rPr kumimoji="1" lang="en-US" altLang="zh-CN" sz="2000" b="1" dirty="0"/>
              <a:t>	2.</a:t>
            </a:r>
            <a:r>
              <a:rPr kumimoji="1" lang="zh-CN" altLang="en-US" sz="2000" b="1" dirty="0"/>
              <a:t>没有充分激发预训练模型的潜能，忽略了</a:t>
            </a:r>
            <a:r>
              <a:rPr kumimoji="1" lang="en-US" altLang="zh-CN" sz="2000" b="1" dirty="0"/>
              <a:t>label</a:t>
            </a:r>
            <a:r>
              <a:rPr kumimoji="1" lang="zh-CN" altLang="en-US" sz="2000" b="1" dirty="0"/>
              <a:t>中丰富的语义，性能相对差</a:t>
            </a:r>
            <a:endParaRPr kumimoji="1" lang="en-US" altLang="zh-CN" sz="2000" b="1" dirty="0"/>
          </a:p>
          <a:p>
            <a:endParaRPr kumimoji="1" lang="en-US" altLang="zh-CN" sz="2000" dirty="0"/>
          </a:p>
        </p:txBody>
      </p:sp>
      <p:sp>
        <p:nvSpPr>
          <p:cNvPr id="6" name="文本框 5">
            <a:extLst>
              <a:ext uri="{FF2B5EF4-FFF2-40B4-BE49-F238E27FC236}">
                <a16:creationId xmlns:a16="http://schemas.microsoft.com/office/drawing/2014/main" id="{F7BA41B1-AEFA-9A0C-8161-0CAD5949A8AE}"/>
              </a:ext>
            </a:extLst>
          </p:cNvPr>
          <p:cNvSpPr txBox="1"/>
          <p:nvPr/>
        </p:nvSpPr>
        <p:spPr>
          <a:xfrm>
            <a:off x="568060" y="3824895"/>
            <a:ext cx="9632765" cy="4610493"/>
          </a:xfrm>
          <a:prstGeom prst="rect">
            <a:avLst/>
          </a:prstGeom>
          <a:noFill/>
        </p:spPr>
        <p:txBody>
          <a:bodyPr wrap="none" rtlCol="0">
            <a:spAutoFit/>
          </a:bodyPr>
          <a:lstStyle/>
          <a:p>
            <a:r>
              <a:rPr kumimoji="1" lang="zh-CN" altLang="en-US" sz="2400" b="1" dirty="0"/>
              <a:t>基于自然语言生成（</a:t>
            </a:r>
            <a:r>
              <a:rPr lang="en" altLang="zh-CN" sz="2400" b="1" dirty="0"/>
              <a:t>natural</a:t>
            </a:r>
            <a:r>
              <a:rPr lang="zh-CN" altLang="en-US" sz="2400" b="1" dirty="0"/>
              <a:t> </a:t>
            </a:r>
            <a:r>
              <a:rPr lang="en" altLang="zh-CN" sz="2400" b="1" dirty="0"/>
              <a:t>language generation</a:t>
            </a:r>
            <a:r>
              <a:rPr lang="zh-CN" altLang="en-US" sz="2400" b="1" dirty="0"/>
              <a:t>，</a:t>
            </a:r>
            <a:r>
              <a:rPr lang="en" altLang="zh-CN" sz="2400" b="1" dirty="0"/>
              <a:t>NL</a:t>
            </a:r>
            <a:r>
              <a:rPr lang="en-US" altLang="zh-CN" sz="2400" b="1" dirty="0"/>
              <a:t>G</a:t>
            </a:r>
            <a:r>
              <a:rPr lang="en" altLang="zh-CN" sz="2400" b="1" dirty="0"/>
              <a:t> </a:t>
            </a:r>
            <a:r>
              <a:rPr kumimoji="1" lang="zh-CN" altLang="en-US" sz="2400" b="1" dirty="0"/>
              <a:t>）的方法：</a:t>
            </a:r>
            <a:endParaRPr kumimoji="1" lang="en-US" altLang="zh-CN" sz="2400" b="1" dirty="0"/>
          </a:p>
          <a:p>
            <a:r>
              <a:rPr kumimoji="1" lang="en-US" altLang="zh-CN" dirty="0"/>
              <a:t>	</a:t>
            </a:r>
            <a:r>
              <a:rPr kumimoji="1" lang="zh-CN" altLang="en-US" sz="2000" dirty="0"/>
              <a:t>直接将问题建模为</a:t>
            </a:r>
            <a:r>
              <a:rPr kumimoji="1" lang="en-US" altLang="zh-CN" sz="2000" dirty="0"/>
              <a:t>seq2seq</a:t>
            </a:r>
            <a:r>
              <a:rPr kumimoji="1" lang="zh-CN" altLang="en-US" sz="2000" dirty="0"/>
              <a:t>的生成问题，端到端自回归生成</a:t>
            </a:r>
            <a:r>
              <a:rPr kumimoji="1" lang="en-US" altLang="zh-CN" sz="2000" dirty="0"/>
              <a:t>ABSA</a:t>
            </a:r>
            <a:r>
              <a:rPr kumimoji="1" lang="zh-CN" altLang="en-US" sz="2000" dirty="0"/>
              <a:t>结果</a:t>
            </a:r>
            <a:endParaRPr kumimoji="1" lang="en-US" altLang="zh-CN" sz="2000" dirty="0"/>
          </a:p>
          <a:p>
            <a:r>
              <a:rPr kumimoji="1" lang="zh-CN" altLang="en-US" sz="2000" b="1" dirty="0">
                <a:solidFill>
                  <a:srgbClr val="00B050"/>
                </a:solidFill>
              </a:rPr>
              <a:t>优势</a:t>
            </a:r>
            <a:endParaRPr kumimoji="1" lang="en-US" altLang="zh-CN" sz="2000" b="1" dirty="0">
              <a:solidFill>
                <a:srgbClr val="00B050"/>
              </a:solidFill>
            </a:endParaRPr>
          </a:p>
          <a:p>
            <a:r>
              <a:rPr kumimoji="1" lang="en-US" altLang="zh-CN" sz="2800" b="1" dirty="0"/>
              <a:t>	</a:t>
            </a:r>
            <a:r>
              <a:rPr kumimoji="1" lang="en-US" altLang="zh-CN" sz="2000" b="1" dirty="0"/>
              <a:t>1.</a:t>
            </a:r>
            <a:r>
              <a:rPr kumimoji="1" lang="zh-CN" altLang="en-US" sz="2000" b="1" dirty="0"/>
              <a:t>充分利用</a:t>
            </a:r>
            <a:r>
              <a:rPr kumimoji="1" lang="en-US" altLang="zh-CN" sz="2000" b="1" dirty="0"/>
              <a:t>label</a:t>
            </a:r>
            <a:r>
              <a:rPr kumimoji="1" lang="zh-CN" altLang="en-US" sz="2000" b="1" dirty="0"/>
              <a:t>中的语义信息，性能强大</a:t>
            </a:r>
            <a:endParaRPr kumimoji="1" lang="en-US" altLang="zh-CN" sz="2000" b="1" dirty="0"/>
          </a:p>
          <a:p>
            <a:r>
              <a:rPr kumimoji="1" lang="en-US" altLang="zh-CN" sz="2000" b="1" dirty="0"/>
              <a:t>	2.</a:t>
            </a:r>
            <a:r>
              <a:rPr kumimoji="1" lang="zh-CN" altLang="en-US" sz="2000" b="1" dirty="0"/>
              <a:t>不依赖人工设计，不同的</a:t>
            </a:r>
            <a:r>
              <a:rPr kumimoji="1" lang="en-US" altLang="zh-CN" sz="2000" b="1" dirty="0"/>
              <a:t>ABSA</a:t>
            </a:r>
            <a:r>
              <a:rPr kumimoji="1" lang="zh-CN" altLang="en-US" sz="2000" b="1" dirty="0"/>
              <a:t>任务可以用统一的框架建模</a:t>
            </a:r>
            <a:endParaRPr kumimoji="1" lang="en-US" altLang="zh-CN" sz="2800" b="1" dirty="0"/>
          </a:p>
          <a:p>
            <a:r>
              <a:rPr kumimoji="1" lang="zh-CN" altLang="en-US" sz="2000" b="1" dirty="0">
                <a:solidFill>
                  <a:srgbClr val="FF0000"/>
                </a:solidFill>
              </a:rPr>
              <a:t>劣势</a:t>
            </a:r>
            <a:endParaRPr kumimoji="1" lang="en-US" altLang="zh-CN" sz="2000" b="1" dirty="0">
              <a:solidFill>
                <a:srgbClr val="FF0000"/>
              </a:solidFill>
            </a:endParaRPr>
          </a:p>
          <a:p>
            <a:r>
              <a:rPr kumimoji="1" lang="en-US" altLang="zh-CN" sz="2000" b="1" dirty="0"/>
              <a:t>	1.</a:t>
            </a:r>
            <a:r>
              <a:rPr kumimoji="1" lang="zh-CN" altLang="en-US" sz="2000" b="1" dirty="0"/>
              <a:t>自回归的生成方法在推理效率上存在劣势</a:t>
            </a:r>
            <a:endParaRPr kumimoji="1" lang="en-US" altLang="zh-CN" sz="2000" b="1" dirty="0"/>
          </a:p>
          <a:p>
            <a:endParaRPr kumimoji="1" lang="en-US" altLang="zh-CN" sz="2000" b="1" dirty="0"/>
          </a:p>
          <a:p>
            <a:r>
              <a:rPr kumimoji="1" lang="zh-CN" altLang="en-US" sz="2400" b="1" dirty="0"/>
              <a:t>基于大语言模型的方法：</a:t>
            </a:r>
            <a:endParaRPr kumimoji="1" lang="en-US" altLang="zh-CN" sz="2400" b="1" dirty="0"/>
          </a:p>
          <a:p>
            <a:r>
              <a:rPr kumimoji="1" lang="zh-CN" altLang="en-US" sz="2000" b="1" dirty="0">
                <a:solidFill>
                  <a:srgbClr val="00B050"/>
                </a:solidFill>
              </a:rPr>
              <a:t>优势：无需训练开箱即用，只需要对提示工程进行定制</a:t>
            </a:r>
            <a:endParaRPr kumimoji="1" lang="en-US" altLang="zh-CN" sz="2000" b="1" dirty="0">
              <a:solidFill>
                <a:srgbClr val="00B050"/>
              </a:solidFill>
            </a:endParaRPr>
          </a:p>
          <a:p>
            <a:r>
              <a:rPr kumimoji="1" lang="zh-CN" altLang="en-US" sz="2000" b="1" dirty="0">
                <a:solidFill>
                  <a:srgbClr val="FF0000"/>
                </a:solidFill>
              </a:rPr>
              <a:t>劣势：对于精度要求非常高的场景难以实现，完全依赖模型本身的能力以及</a:t>
            </a:r>
            <a:r>
              <a:rPr kumimoji="1" lang="en-US" altLang="zh-CN" sz="2000" b="1" dirty="0">
                <a:solidFill>
                  <a:srgbClr val="FF0000"/>
                </a:solidFill>
              </a:rPr>
              <a:t>prompt</a:t>
            </a:r>
          </a:p>
          <a:p>
            <a:endParaRPr kumimoji="1" lang="en-US" altLang="zh-CN" sz="2000" b="1" dirty="0">
              <a:solidFill>
                <a:srgbClr val="00B050"/>
              </a:solidFill>
            </a:endParaRPr>
          </a:p>
          <a:p>
            <a:endParaRPr kumimoji="1" lang="zh-CN" altLang="en-US" dirty="0"/>
          </a:p>
        </p:txBody>
      </p:sp>
    </p:spTree>
    <p:extLst>
      <p:ext uri="{BB962C8B-B14F-4D97-AF65-F5344CB8AC3E}">
        <p14:creationId xmlns:p14="http://schemas.microsoft.com/office/powerpoint/2010/main" val="4431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现有的方法</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——NLU</a:t>
            </a:r>
          </a:p>
        </p:txBody>
      </p:sp>
      <p:pic>
        <p:nvPicPr>
          <p:cNvPr id="2" name="Picture 3">
            <a:extLst>
              <a:ext uri="{FF2B5EF4-FFF2-40B4-BE49-F238E27FC236}">
                <a16:creationId xmlns:a16="http://schemas.microsoft.com/office/drawing/2014/main" id="{E5905CC8-01A6-5428-9873-1D691D3D7960}"/>
              </a:ext>
            </a:extLst>
          </p:cNvPr>
          <p:cNvPicPr>
            <a:picLocks noChangeAspect="1"/>
          </p:cNvPicPr>
          <p:nvPr/>
        </p:nvPicPr>
        <p:blipFill>
          <a:blip r:embed="rId2"/>
          <a:stretch>
            <a:fillRect/>
          </a:stretch>
        </p:blipFill>
        <p:spPr>
          <a:xfrm>
            <a:off x="7711382" y="232384"/>
            <a:ext cx="4339591" cy="5674042"/>
          </a:xfrm>
          <a:prstGeom prst="rect">
            <a:avLst/>
          </a:prstGeom>
        </p:spPr>
      </p:pic>
      <p:sp>
        <p:nvSpPr>
          <p:cNvPr id="4" name="文本框 3">
            <a:extLst>
              <a:ext uri="{FF2B5EF4-FFF2-40B4-BE49-F238E27FC236}">
                <a16:creationId xmlns:a16="http://schemas.microsoft.com/office/drawing/2014/main" id="{FA589139-3B5D-4986-06BF-64C65702081F}"/>
              </a:ext>
            </a:extLst>
          </p:cNvPr>
          <p:cNvSpPr txBox="1"/>
          <p:nvPr/>
        </p:nvSpPr>
        <p:spPr>
          <a:xfrm>
            <a:off x="2878453" y="1827763"/>
            <a:ext cx="3217547"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酒   店   很   干   净</a:t>
            </a:r>
          </a:p>
        </p:txBody>
      </p:sp>
      <p:sp>
        <p:nvSpPr>
          <p:cNvPr id="7" name="文本框 6">
            <a:extLst>
              <a:ext uri="{FF2B5EF4-FFF2-40B4-BE49-F238E27FC236}">
                <a16:creationId xmlns:a16="http://schemas.microsoft.com/office/drawing/2014/main" id="{AF3E4A01-2ADB-B609-1F00-E76F0FCCA557}"/>
              </a:ext>
            </a:extLst>
          </p:cNvPr>
          <p:cNvSpPr txBox="1"/>
          <p:nvPr/>
        </p:nvSpPr>
        <p:spPr>
          <a:xfrm>
            <a:off x="2857613" y="5301278"/>
            <a:ext cx="3238387"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B</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 name="文本框 7">
            <a:extLst>
              <a:ext uri="{FF2B5EF4-FFF2-40B4-BE49-F238E27FC236}">
                <a16:creationId xmlns:a16="http://schemas.microsoft.com/office/drawing/2014/main" id="{B5E66D7E-63B7-F28C-D28B-02FD5C5196C8}"/>
              </a:ext>
            </a:extLst>
          </p:cNvPr>
          <p:cNvSpPr txBox="1"/>
          <p:nvPr/>
        </p:nvSpPr>
        <p:spPr>
          <a:xfrm>
            <a:off x="2857612" y="4796235"/>
            <a:ext cx="3328155"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1</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1</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0</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0</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0</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文本框 8">
            <a:extLst>
              <a:ext uri="{FF2B5EF4-FFF2-40B4-BE49-F238E27FC236}">
                <a16:creationId xmlns:a16="http://schemas.microsoft.com/office/drawing/2014/main" id="{AE12A9F8-1CA7-6604-9980-F3BD6C655B2E}"/>
              </a:ext>
            </a:extLst>
          </p:cNvPr>
          <p:cNvSpPr txBox="1"/>
          <p:nvPr/>
        </p:nvSpPr>
        <p:spPr>
          <a:xfrm>
            <a:off x="988662" y="1827601"/>
            <a:ext cx="928459"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输入</a:t>
            </a:r>
          </a:p>
        </p:txBody>
      </p:sp>
      <p:sp>
        <p:nvSpPr>
          <p:cNvPr id="10" name="文本框 9">
            <a:extLst>
              <a:ext uri="{FF2B5EF4-FFF2-40B4-BE49-F238E27FC236}">
                <a16:creationId xmlns:a16="http://schemas.microsoft.com/office/drawing/2014/main" id="{7D1601DA-F606-BB19-0A78-28E847B262E9}"/>
              </a:ext>
            </a:extLst>
          </p:cNvPr>
          <p:cNvSpPr txBox="1"/>
          <p:nvPr/>
        </p:nvSpPr>
        <p:spPr>
          <a:xfrm>
            <a:off x="437197" y="4793246"/>
            <a:ext cx="1887055"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sentiment</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文本框 10">
            <a:extLst>
              <a:ext uri="{FF2B5EF4-FFF2-40B4-BE49-F238E27FC236}">
                <a16:creationId xmlns:a16="http://schemas.microsoft.com/office/drawing/2014/main" id="{1ED54542-9A34-9F82-089E-3C2B801697B5}"/>
              </a:ext>
            </a:extLst>
          </p:cNvPr>
          <p:cNvSpPr txBox="1"/>
          <p:nvPr/>
        </p:nvSpPr>
        <p:spPr>
          <a:xfrm>
            <a:off x="744974" y="5331855"/>
            <a:ext cx="1271502"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下箭头 11">
            <a:extLst>
              <a:ext uri="{FF2B5EF4-FFF2-40B4-BE49-F238E27FC236}">
                <a16:creationId xmlns:a16="http://schemas.microsoft.com/office/drawing/2014/main" id="{36B9E0CE-0F0C-0DE1-DFF1-E60381B57409}"/>
              </a:ext>
            </a:extLst>
          </p:cNvPr>
          <p:cNvSpPr/>
          <p:nvPr/>
        </p:nvSpPr>
        <p:spPr>
          <a:xfrm>
            <a:off x="2977662" y="2366210"/>
            <a:ext cx="562707" cy="57628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3" name="圆角矩形 12">
            <a:extLst>
              <a:ext uri="{FF2B5EF4-FFF2-40B4-BE49-F238E27FC236}">
                <a16:creationId xmlns:a16="http://schemas.microsoft.com/office/drawing/2014/main" id="{CAF8945A-3788-0476-54FF-4BAE6FCB8DE6}"/>
              </a:ext>
            </a:extLst>
          </p:cNvPr>
          <p:cNvSpPr/>
          <p:nvPr/>
        </p:nvSpPr>
        <p:spPr>
          <a:xfrm>
            <a:off x="1383323" y="3048000"/>
            <a:ext cx="3915508" cy="1066800"/>
          </a:xfrm>
          <a:prstGeom prst="round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4" name="下箭头 13">
            <a:extLst>
              <a:ext uri="{FF2B5EF4-FFF2-40B4-BE49-F238E27FC236}">
                <a16:creationId xmlns:a16="http://schemas.microsoft.com/office/drawing/2014/main" id="{3E5560B9-DA19-D66A-1C43-034106FB7F1D}"/>
              </a:ext>
            </a:extLst>
          </p:cNvPr>
          <p:cNvSpPr/>
          <p:nvPr/>
        </p:nvSpPr>
        <p:spPr>
          <a:xfrm>
            <a:off x="2977661" y="4114800"/>
            <a:ext cx="562707" cy="57628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616A9A29-C8B1-28BF-3B2C-BA4BED03667F}"/>
              </a:ext>
            </a:extLst>
          </p:cNvPr>
          <p:cNvSpPr txBox="1"/>
          <p:nvPr/>
        </p:nvSpPr>
        <p:spPr>
          <a:xfrm>
            <a:off x="2432792" y="3312095"/>
            <a:ext cx="1715534"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NLU</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模型</a:t>
            </a:r>
          </a:p>
        </p:txBody>
      </p:sp>
      <p:sp>
        <p:nvSpPr>
          <p:cNvPr id="17" name="矩形 16">
            <a:extLst>
              <a:ext uri="{FF2B5EF4-FFF2-40B4-BE49-F238E27FC236}">
                <a16:creationId xmlns:a16="http://schemas.microsoft.com/office/drawing/2014/main" id="{D807B46C-5B5B-9004-4B3E-DAB346622B1D}"/>
              </a:ext>
            </a:extLst>
          </p:cNvPr>
          <p:cNvSpPr/>
          <p:nvPr/>
        </p:nvSpPr>
        <p:spPr>
          <a:xfrm>
            <a:off x="576648" y="6827556"/>
            <a:ext cx="11038703" cy="584775"/>
          </a:xfrm>
          <a:prstGeom prst="rect">
            <a:avLst/>
          </a:prstGeom>
        </p:spPr>
        <p:txBody>
          <a:bodyPr wrap="square">
            <a:spAutoFit/>
          </a:bodyPr>
          <a:lstStyle/>
          <a:p>
            <a:r>
              <a:rPr lang="en" altLang="zh-CN" sz="1600" dirty="0"/>
              <a:t>Yang H, Zeng B, Yang J H, et al. A multi-task learning model for </a:t>
            </a:r>
            <a:r>
              <a:rPr lang="en" altLang="zh-CN" sz="1600" dirty="0" err="1"/>
              <a:t>chinese</a:t>
            </a:r>
            <a:r>
              <a:rPr lang="en" altLang="zh-CN" sz="1600" dirty="0"/>
              <a:t>-oriented aspect polarity classification and aspect term extraction[J]. Neurocomputing, 2021, 419: 344-356.</a:t>
            </a:r>
            <a:endParaRPr lang="zh-CN" altLang="en-US" sz="1600" dirty="0"/>
          </a:p>
        </p:txBody>
      </p:sp>
    </p:spTree>
    <p:extLst>
      <p:ext uri="{BB962C8B-B14F-4D97-AF65-F5344CB8AC3E}">
        <p14:creationId xmlns:p14="http://schemas.microsoft.com/office/powerpoint/2010/main" val="18946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现有的方法</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——NLG</a:t>
            </a:r>
          </a:p>
        </p:txBody>
      </p:sp>
      <p:sp>
        <p:nvSpPr>
          <p:cNvPr id="4" name="文本框 3">
            <a:extLst>
              <a:ext uri="{FF2B5EF4-FFF2-40B4-BE49-F238E27FC236}">
                <a16:creationId xmlns:a16="http://schemas.microsoft.com/office/drawing/2014/main" id="{FA589139-3B5D-4986-06BF-64C65702081F}"/>
              </a:ext>
            </a:extLst>
          </p:cNvPr>
          <p:cNvSpPr txBox="1"/>
          <p:nvPr/>
        </p:nvSpPr>
        <p:spPr>
          <a:xfrm>
            <a:off x="2690884" y="1979342"/>
            <a:ext cx="3217547"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酒   店   很   干   净</a:t>
            </a:r>
          </a:p>
        </p:txBody>
      </p:sp>
      <p:sp>
        <p:nvSpPr>
          <p:cNvPr id="9" name="文本框 8">
            <a:extLst>
              <a:ext uri="{FF2B5EF4-FFF2-40B4-BE49-F238E27FC236}">
                <a16:creationId xmlns:a16="http://schemas.microsoft.com/office/drawing/2014/main" id="{AE12A9F8-1CA7-6604-9980-F3BD6C655B2E}"/>
              </a:ext>
            </a:extLst>
          </p:cNvPr>
          <p:cNvSpPr txBox="1"/>
          <p:nvPr/>
        </p:nvSpPr>
        <p:spPr>
          <a:xfrm>
            <a:off x="801093" y="1979180"/>
            <a:ext cx="928459"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输入</a:t>
            </a:r>
          </a:p>
        </p:txBody>
      </p:sp>
      <p:sp>
        <p:nvSpPr>
          <p:cNvPr id="12" name="下箭头 11">
            <a:extLst>
              <a:ext uri="{FF2B5EF4-FFF2-40B4-BE49-F238E27FC236}">
                <a16:creationId xmlns:a16="http://schemas.microsoft.com/office/drawing/2014/main" id="{36B9E0CE-0F0C-0DE1-DFF1-E60381B57409}"/>
              </a:ext>
            </a:extLst>
          </p:cNvPr>
          <p:cNvSpPr/>
          <p:nvPr/>
        </p:nvSpPr>
        <p:spPr>
          <a:xfrm>
            <a:off x="2790093" y="2517789"/>
            <a:ext cx="562707" cy="57628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3" name="圆角矩形 12">
            <a:extLst>
              <a:ext uri="{FF2B5EF4-FFF2-40B4-BE49-F238E27FC236}">
                <a16:creationId xmlns:a16="http://schemas.microsoft.com/office/drawing/2014/main" id="{CAF8945A-3788-0476-54FF-4BAE6FCB8DE6}"/>
              </a:ext>
            </a:extLst>
          </p:cNvPr>
          <p:cNvSpPr/>
          <p:nvPr/>
        </p:nvSpPr>
        <p:spPr>
          <a:xfrm>
            <a:off x="1195754" y="3199579"/>
            <a:ext cx="3915508" cy="1066800"/>
          </a:xfrm>
          <a:prstGeom prst="round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4" name="下箭头 13">
            <a:extLst>
              <a:ext uri="{FF2B5EF4-FFF2-40B4-BE49-F238E27FC236}">
                <a16:creationId xmlns:a16="http://schemas.microsoft.com/office/drawing/2014/main" id="{3E5560B9-DA19-D66A-1C43-034106FB7F1D}"/>
              </a:ext>
            </a:extLst>
          </p:cNvPr>
          <p:cNvSpPr/>
          <p:nvPr/>
        </p:nvSpPr>
        <p:spPr>
          <a:xfrm>
            <a:off x="2790092" y="4266379"/>
            <a:ext cx="562707" cy="57628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616A9A29-C8B1-28BF-3B2C-BA4BED03667F}"/>
              </a:ext>
            </a:extLst>
          </p:cNvPr>
          <p:cNvSpPr txBox="1"/>
          <p:nvPr/>
        </p:nvSpPr>
        <p:spPr>
          <a:xfrm>
            <a:off x="2245223" y="3463674"/>
            <a:ext cx="1648208"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NLG</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模型</a:t>
            </a:r>
          </a:p>
        </p:txBody>
      </p:sp>
      <p:sp>
        <p:nvSpPr>
          <p:cNvPr id="5" name="文本框 4">
            <a:extLst>
              <a:ext uri="{FF2B5EF4-FFF2-40B4-BE49-F238E27FC236}">
                <a16:creationId xmlns:a16="http://schemas.microsoft.com/office/drawing/2014/main" id="{93BFD586-B146-4A44-49A2-521E076C3C9A}"/>
              </a:ext>
            </a:extLst>
          </p:cNvPr>
          <p:cNvSpPr txBox="1"/>
          <p:nvPr/>
        </p:nvSpPr>
        <p:spPr>
          <a:xfrm>
            <a:off x="1692187" y="5014028"/>
            <a:ext cx="2754280" cy="1431161"/>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酒店；</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Opinion:</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干净；</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en-US" altLang="zh-CN" sz="2900" dirty="0" err="1">
                <a:latin typeface="Amazon Ember" panose="020B0603020204020204" pitchFamily="34" charset="0"/>
                <a:ea typeface="Amazon Ember" panose="020B0603020204020204" pitchFamily="34" charset="0"/>
                <a:cs typeface="Amazon Ember" panose="020B0603020204020204" pitchFamily="34" charset="0"/>
              </a:rPr>
              <a:t>Sentiment:POS</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8" name="图片 17">
            <a:extLst>
              <a:ext uri="{FF2B5EF4-FFF2-40B4-BE49-F238E27FC236}">
                <a16:creationId xmlns:a16="http://schemas.microsoft.com/office/drawing/2014/main" id="{828C57AF-FA85-41B3-9019-89060368C358}"/>
              </a:ext>
            </a:extLst>
          </p:cNvPr>
          <p:cNvPicPr>
            <a:picLocks noChangeAspect="1"/>
          </p:cNvPicPr>
          <p:nvPr/>
        </p:nvPicPr>
        <p:blipFill>
          <a:blip r:embed="rId2"/>
          <a:stretch>
            <a:fillRect/>
          </a:stretch>
        </p:blipFill>
        <p:spPr>
          <a:xfrm>
            <a:off x="6441576" y="1204019"/>
            <a:ext cx="7772400" cy="2267307"/>
          </a:xfrm>
          <a:prstGeom prst="rect">
            <a:avLst/>
          </a:prstGeom>
        </p:spPr>
      </p:pic>
      <p:pic>
        <p:nvPicPr>
          <p:cNvPr id="20" name="图片 19">
            <a:extLst>
              <a:ext uri="{FF2B5EF4-FFF2-40B4-BE49-F238E27FC236}">
                <a16:creationId xmlns:a16="http://schemas.microsoft.com/office/drawing/2014/main" id="{AB1C62CE-DB58-7533-9961-A8BACD48F5C3}"/>
              </a:ext>
            </a:extLst>
          </p:cNvPr>
          <p:cNvPicPr>
            <a:picLocks noChangeAspect="1"/>
          </p:cNvPicPr>
          <p:nvPr/>
        </p:nvPicPr>
        <p:blipFill>
          <a:blip r:embed="rId3"/>
          <a:stretch>
            <a:fillRect/>
          </a:stretch>
        </p:blipFill>
        <p:spPr>
          <a:xfrm>
            <a:off x="6441576" y="3471326"/>
            <a:ext cx="7772400" cy="3315898"/>
          </a:xfrm>
          <a:prstGeom prst="rect">
            <a:avLst/>
          </a:prstGeom>
        </p:spPr>
      </p:pic>
      <p:sp>
        <p:nvSpPr>
          <p:cNvPr id="21" name="文本框 20">
            <a:extLst>
              <a:ext uri="{FF2B5EF4-FFF2-40B4-BE49-F238E27FC236}">
                <a16:creationId xmlns:a16="http://schemas.microsoft.com/office/drawing/2014/main" id="{74384E2C-7633-67B3-23FA-E7E4184C5920}"/>
              </a:ext>
            </a:extLst>
          </p:cNvPr>
          <p:cNvSpPr txBox="1"/>
          <p:nvPr/>
        </p:nvSpPr>
        <p:spPr>
          <a:xfrm>
            <a:off x="574431" y="7233137"/>
            <a:ext cx="12520246" cy="430887"/>
          </a:xfrm>
          <a:prstGeom prst="rect">
            <a:avLst/>
          </a:prstGeom>
          <a:noFill/>
        </p:spPr>
        <p:txBody>
          <a:bodyPr wrap="square" rtlCol="0">
            <a:spAutoFit/>
          </a:bodyPr>
          <a:lstStyle/>
          <a:p>
            <a:pPr algn="l"/>
            <a:r>
              <a:rPr lang="en" altLang="zh-CN" sz="1100" b="0" i="0" u="none" strike="noStrike" dirty="0" err="1">
                <a:effectLst/>
                <a:latin typeface="Arial" panose="020B0604020202020204" pitchFamily="34" charset="0"/>
              </a:rPr>
              <a:t>Haoran</a:t>
            </a:r>
            <a:r>
              <a:rPr lang="en" altLang="zh-CN" sz="1100" b="0" i="0" u="none" strike="noStrike" dirty="0">
                <a:effectLst/>
                <a:latin typeface="Arial" panose="020B0604020202020204" pitchFamily="34" charset="0"/>
              </a:rPr>
              <a:t> </a:t>
            </a:r>
            <a:r>
              <a:rPr lang="en" altLang="zh-CN" sz="1100" b="0" i="0" u="none" strike="noStrike" dirty="0" err="1">
                <a:effectLst/>
                <a:latin typeface="Arial" panose="020B0604020202020204" pitchFamily="34" charset="0"/>
              </a:rPr>
              <a:t>Lv</a:t>
            </a:r>
            <a:r>
              <a:rPr lang="en" altLang="zh-CN" sz="1100" b="0" i="0" u="none" strike="noStrike" dirty="0">
                <a:effectLst/>
                <a:latin typeface="Arial" panose="020B0604020202020204" pitchFamily="34" charset="0"/>
              </a:rPr>
              <a:t>, </a:t>
            </a:r>
            <a:r>
              <a:rPr lang="en" altLang="zh-CN" sz="1100" b="0" i="0" u="none" strike="noStrike" dirty="0" err="1">
                <a:effectLst/>
                <a:latin typeface="Arial" panose="020B0604020202020204" pitchFamily="34" charset="0"/>
              </a:rPr>
              <a:t>Junyi</a:t>
            </a:r>
            <a:r>
              <a:rPr lang="en" altLang="zh-CN" sz="1100" b="0" i="0" u="none" strike="noStrike" dirty="0">
                <a:effectLst/>
                <a:latin typeface="Arial" panose="020B0604020202020204" pitchFamily="34" charset="0"/>
              </a:rPr>
              <a:t> Liu, Henan Wang, </a:t>
            </a:r>
            <a:r>
              <a:rPr lang="en" altLang="zh-CN" sz="1100" b="0" i="0" u="none" strike="noStrike" dirty="0" err="1">
                <a:effectLst/>
                <a:latin typeface="Arial" panose="020B0604020202020204" pitchFamily="34" charset="0"/>
              </a:rPr>
              <a:t>Yaoming</a:t>
            </a:r>
            <a:r>
              <a:rPr lang="en" altLang="zh-CN" sz="1100" b="0" i="0" u="none" strike="noStrike" dirty="0">
                <a:effectLst/>
                <a:latin typeface="Arial" panose="020B0604020202020204" pitchFamily="34" charset="0"/>
              </a:rPr>
              <a:t> Wang, </a:t>
            </a:r>
            <a:r>
              <a:rPr lang="en" altLang="zh-CN" sz="1100" b="0" i="0" u="none" strike="noStrike" dirty="0" err="1">
                <a:effectLst/>
                <a:latin typeface="Arial" panose="020B0604020202020204" pitchFamily="34" charset="0"/>
              </a:rPr>
              <a:t>Jixiang</a:t>
            </a:r>
            <a:r>
              <a:rPr lang="en" altLang="zh-CN" sz="1100" b="0" i="0" u="none" strike="noStrike" dirty="0">
                <a:effectLst/>
                <a:latin typeface="Arial" panose="020B0604020202020204" pitchFamily="34" charset="0"/>
              </a:rPr>
              <a:t> Luo, </a:t>
            </a:r>
            <a:r>
              <a:rPr lang="en" altLang="zh-CN" sz="1100" b="0" i="0" u="none" strike="noStrike" dirty="0" err="1">
                <a:effectLst/>
                <a:latin typeface="Arial" panose="020B0604020202020204" pitchFamily="34" charset="0"/>
              </a:rPr>
              <a:t>Yaxiao</a:t>
            </a:r>
            <a:r>
              <a:rPr lang="en" altLang="zh-CN" sz="1100" b="0" i="0" u="none" strike="noStrike" dirty="0">
                <a:effectLst/>
                <a:latin typeface="Arial" panose="020B0604020202020204" pitchFamily="34" charset="0"/>
              </a:rPr>
              <a:t> Liu, " Efficient Hybrid Generation Framework for Aspect-Based Sentiment Analysis", In Proceedings of the 17th Conference of the European Chapter of the Association for Computational Linguistics (EACL 2023), Dubrovnik, Croatia, May 3-5, 2023.</a:t>
            </a:r>
            <a:endParaRPr kumimoji="1" lang="zh-CN" altLang="en-US" sz="1600" dirty="0" err="1">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447185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2EA5295-C47E-0316-48D9-8CF31ADA5C66}"/>
              </a:ext>
            </a:extLst>
          </p:cNvPr>
          <p:cNvSpPr txBox="1"/>
          <p:nvPr/>
        </p:nvSpPr>
        <p:spPr>
          <a:xfrm>
            <a:off x="346229" y="293245"/>
            <a:ext cx="7315200" cy="646331"/>
          </a:xfrm>
          <a:prstGeom prst="rect">
            <a:avLst/>
          </a:prstGeom>
          <a:noFill/>
        </p:spPr>
        <p:txBody>
          <a:bodyPr wrap="squar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现有的方法</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——LLM</a:t>
            </a:r>
          </a:p>
        </p:txBody>
      </p:sp>
      <p:sp>
        <p:nvSpPr>
          <p:cNvPr id="2" name="文本框 1">
            <a:extLst>
              <a:ext uri="{FF2B5EF4-FFF2-40B4-BE49-F238E27FC236}">
                <a16:creationId xmlns:a16="http://schemas.microsoft.com/office/drawing/2014/main" id="{CF568122-CFB6-1588-A142-FC7A89F82654}"/>
              </a:ext>
            </a:extLst>
          </p:cNvPr>
          <p:cNvSpPr txBox="1"/>
          <p:nvPr/>
        </p:nvSpPr>
        <p:spPr>
          <a:xfrm>
            <a:off x="878266" y="1225533"/>
            <a:ext cx="13056782" cy="6297108"/>
          </a:xfrm>
          <a:prstGeom prst="rect">
            <a:avLst/>
          </a:prstGeom>
          <a:noFill/>
        </p:spPr>
        <p:style>
          <a:lnRef idx="2">
            <a:schemeClr val="accent4"/>
          </a:lnRef>
          <a:fillRef idx="1">
            <a:schemeClr val="lt1"/>
          </a:fillRef>
          <a:effectRef idx="0">
            <a:schemeClr val="accent4"/>
          </a:effectRef>
          <a:fontRef idx="minor">
            <a:schemeClr val="dk1"/>
          </a:fontRef>
        </p:style>
        <p:txBody>
          <a:bodyPr wrap="square">
            <a:spAutoFit/>
          </a:bodyPr>
          <a:lstStyle/>
          <a:p>
            <a:r>
              <a:rPr lang="en" altLang="zh-CN" b="0" i="0" dirty="0">
                <a:solidFill>
                  <a:schemeClr val="tx1"/>
                </a:solidFill>
                <a:effectLst/>
                <a:latin typeface="NotoSansSC"/>
              </a:rPr>
              <a:t>Your goal is to analyze the ABSA results of the following comments as fully as possible.</a:t>
            </a:r>
            <a:br>
              <a:rPr lang="en" altLang="zh-CN" dirty="0">
                <a:solidFill>
                  <a:schemeClr val="tx1"/>
                </a:solidFill>
              </a:rPr>
            </a:br>
            <a:r>
              <a:rPr lang="en" altLang="zh-CN" b="0" i="0" dirty="0">
                <a:solidFill>
                  <a:schemeClr val="tx1"/>
                </a:solidFill>
                <a:effectLst/>
                <a:latin typeface="NotoSansSC"/>
              </a:rPr>
              <a:t>Please answer in English and organize the output into CSV format </a:t>
            </a:r>
            <a:r>
              <a:rPr lang="zh-CN" altLang="en" b="0" i="0" dirty="0">
                <a:solidFill>
                  <a:schemeClr val="tx1"/>
                </a:solidFill>
                <a:effectLst/>
                <a:latin typeface="NotoSansSC"/>
              </a:rPr>
              <a:t>：</a:t>
            </a:r>
            <a:r>
              <a:rPr lang="en" altLang="zh-CN" b="0" i="0" dirty="0">
                <a:solidFill>
                  <a:schemeClr val="tx1"/>
                </a:solidFill>
                <a:effectLst/>
                <a:latin typeface="NotoSansSC"/>
              </a:rPr>
              <a:t>aspect term, aspect category, opinion term, sentiment polarity.</a:t>
            </a:r>
            <a:br>
              <a:rPr lang="en" altLang="zh-CN" dirty="0">
                <a:solidFill>
                  <a:schemeClr val="tx1"/>
                </a:solidFill>
              </a:rPr>
            </a:br>
            <a:r>
              <a:rPr lang="en" altLang="zh-CN" b="0" i="0" dirty="0">
                <a:solidFill>
                  <a:schemeClr val="tx1"/>
                </a:solidFill>
                <a:effectLst/>
                <a:latin typeface="NotoSansSC"/>
              </a:rPr>
              <a:t>The aspect category is selected only in the following range </a:t>
            </a:r>
            <a:r>
              <a:rPr lang="zh-CN" altLang="en" b="0" i="0" dirty="0">
                <a:solidFill>
                  <a:schemeClr val="tx1"/>
                </a:solidFill>
                <a:effectLst/>
                <a:latin typeface="NotoSansSC"/>
              </a:rPr>
              <a:t>：</a:t>
            </a:r>
            <a:r>
              <a:rPr lang="en" altLang="zh-CN" b="0" i="0" dirty="0">
                <a:solidFill>
                  <a:schemeClr val="tx1"/>
                </a:solidFill>
                <a:effectLst/>
                <a:latin typeface="NotoSansSC"/>
              </a:rPr>
              <a:t>{</a:t>
            </a:r>
            <a:r>
              <a:rPr lang="zh-CN" altLang="en-US" b="0" i="0" dirty="0">
                <a:solidFill>
                  <a:srgbClr val="FF0000"/>
                </a:solidFill>
                <a:effectLst/>
                <a:latin typeface="NotoSansSC"/>
              </a:rPr>
              <a:t>所有的</a:t>
            </a:r>
            <a:r>
              <a:rPr lang="en" altLang="zh-CN" b="0" i="0" dirty="0">
                <a:solidFill>
                  <a:srgbClr val="FF0000"/>
                </a:solidFill>
                <a:effectLst/>
                <a:latin typeface="NotoSansSC"/>
              </a:rPr>
              <a:t>category</a:t>
            </a:r>
            <a:r>
              <a:rPr lang="en" altLang="zh-CN" b="0" i="0" dirty="0">
                <a:solidFill>
                  <a:schemeClr val="tx1"/>
                </a:solidFill>
                <a:effectLst/>
                <a:latin typeface="NotoSansSC"/>
              </a:rPr>
              <a:t>}.</a:t>
            </a:r>
            <a:br>
              <a:rPr lang="en" altLang="zh-CN" dirty="0">
                <a:solidFill>
                  <a:schemeClr val="tx1"/>
                </a:solidFill>
              </a:rPr>
            </a:br>
            <a:r>
              <a:rPr lang="en" altLang="zh-CN" b="0" i="0" dirty="0">
                <a:solidFill>
                  <a:schemeClr val="tx1"/>
                </a:solidFill>
                <a:effectLst/>
                <a:latin typeface="NotoSansSC"/>
              </a:rPr>
              <a:t>The aspect term can only use words or phrases that have appeared in the comments, if it is some macro sense of the aspect term please use “None” to refer to.</a:t>
            </a:r>
            <a:br>
              <a:rPr lang="en" altLang="zh-CN" dirty="0">
                <a:solidFill>
                  <a:schemeClr val="tx1"/>
                </a:solidFill>
              </a:rPr>
            </a:br>
            <a:r>
              <a:rPr lang="en" altLang="zh-CN" b="0" i="0" dirty="0">
                <a:solidFill>
                  <a:schemeClr val="tx1"/>
                </a:solidFill>
                <a:effectLst/>
                <a:latin typeface="NotoSansSC"/>
              </a:rPr>
              <a:t>Try not to use the results of outputting neutral sentiment polarity.</a:t>
            </a:r>
            <a:br>
              <a:rPr lang="en" altLang="zh-CN" dirty="0">
                <a:solidFill>
                  <a:schemeClr val="tx1"/>
                </a:solidFill>
              </a:rPr>
            </a:br>
            <a:r>
              <a:rPr lang="en" altLang="zh-CN" b="0" i="0" dirty="0">
                <a:solidFill>
                  <a:schemeClr val="tx1"/>
                </a:solidFill>
                <a:effectLst/>
                <a:latin typeface="NotoSansSC"/>
              </a:rPr>
              <a:t>Please return “-,-,-,-” if no result is analyzed in the comment.</a:t>
            </a:r>
          </a:p>
          <a:p>
            <a:r>
              <a:rPr lang="en" altLang="zh-CN" b="0" i="0" dirty="0">
                <a:solidFill>
                  <a:schemeClr val="tx1"/>
                </a:solidFill>
                <a:effectLst/>
                <a:latin typeface="NotoSansSC"/>
              </a:rPr>
              <a:t>Comment</a:t>
            </a:r>
            <a:r>
              <a:rPr lang="zh-CN" altLang="en" b="0" i="0" dirty="0">
                <a:solidFill>
                  <a:schemeClr val="tx1"/>
                </a:solidFill>
                <a:effectLst/>
                <a:latin typeface="NotoSansSC"/>
              </a:rPr>
              <a:t>： </a:t>
            </a:r>
            <a:r>
              <a:rPr lang="en" altLang="zh-CN" b="0" i="0" dirty="0">
                <a:solidFill>
                  <a:schemeClr val="tx1"/>
                </a:solidFill>
                <a:effectLst/>
                <a:latin typeface="NotoSansSC"/>
              </a:rPr>
              <a:t>The screen of this phone is very good, but the battery does not last.</a:t>
            </a:r>
            <a:br>
              <a:rPr lang="en" altLang="zh-CN" dirty="0">
                <a:solidFill>
                  <a:schemeClr val="tx1"/>
                </a:solidFill>
              </a:rPr>
            </a:br>
            <a:r>
              <a:rPr lang="en" altLang="zh-CN" b="0" i="0" dirty="0">
                <a:solidFill>
                  <a:schemeClr val="tx1"/>
                </a:solidFill>
                <a:effectLst/>
                <a:latin typeface="NotoSansSC"/>
              </a:rPr>
              <a:t>Output </a:t>
            </a:r>
            <a:r>
              <a:rPr lang="zh-CN" altLang="en" b="0" i="0" dirty="0">
                <a:solidFill>
                  <a:schemeClr val="tx1"/>
                </a:solidFill>
                <a:effectLst/>
                <a:latin typeface="NotoSansSC"/>
              </a:rPr>
              <a:t>： </a:t>
            </a:r>
            <a:r>
              <a:rPr lang="en" altLang="zh-CN" b="0" i="0" dirty="0">
                <a:solidFill>
                  <a:schemeClr val="tx1"/>
                </a:solidFill>
                <a:effectLst/>
                <a:latin typeface="NotoSansSC"/>
              </a:rPr>
              <a:t>aspect term, aspect category, opinion term, sentiment polarity \n screen, Display performance, very good, Positive \n battery, Battery duration, does not last, Negative</a:t>
            </a:r>
          </a:p>
          <a:p>
            <a:r>
              <a:rPr lang="en" altLang="zh-CN" b="0" i="0" dirty="0">
                <a:solidFill>
                  <a:schemeClr val="tx1"/>
                </a:solidFill>
                <a:effectLst/>
                <a:latin typeface="NotoSansSC"/>
              </a:rPr>
              <a:t>Comment </a:t>
            </a:r>
            <a:r>
              <a:rPr lang="zh-CN" altLang="en" b="0" i="0" dirty="0">
                <a:solidFill>
                  <a:schemeClr val="tx1"/>
                </a:solidFill>
                <a:effectLst/>
                <a:latin typeface="NotoSansSC"/>
              </a:rPr>
              <a:t>：</a:t>
            </a:r>
            <a:r>
              <a:rPr lang="en" altLang="zh-CN" b="0" i="0" dirty="0">
                <a:solidFill>
                  <a:schemeClr val="tx1"/>
                </a:solidFill>
                <a:effectLst/>
                <a:latin typeface="NotoSansSC"/>
              </a:rPr>
              <a:t>{</a:t>
            </a:r>
            <a:r>
              <a:rPr lang="zh-CN" altLang="en-US" b="0" i="0" dirty="0">
                <a:solidFill>
                  <a:srgbClr val="FF0000"/>
                </a:solidFill>
                <a:effectLst/>
                <a:latin typeface="NotoSansSC"/>
              </a:rPr>
              <a:t>单条评论数据</a:t>
            </a:r>
            <a:r>
              <a:rPr lang="en-US" altLang="zh-CN" b="0" i="0" dirty="0">
                <a:solidFill>
                  <a:schemeClr val="tx1"/>
                </a:solidFill>
                <a:effectLst/>
                <a:latin typeface="NotoSansSC"/>
              </a:rPr>
              <a:t>}</a:t>
            </a:r>
            <a:br>
              <a:rPr lang="zh-CN" altLang="en-US" dirty="0">
                <a:solidFill>
                  <a:schemeClr val="tx1"/>
                </a:solidFill>
              </a:rPr>
            </a:br>
            <a:r>
              <a:rPr lang="en" altLang="zh-CN" b="0" i="0" dirty="0">
                <a:solidFill>
                  <a:schemeClr val="tx1"/>
                </a:solidFill>
                <a:effectLst/>
                <a:latin typeface="NotoSansSC"/>
              </a:rPr>
              <a:t>Output </a:t>
            </a:r>
            <a:r>
              <a:rPr lang="zh-CN" altLang="en" b="0" i="0" dirty="0">
                <a:solidFill>
                  <a:schemeClr val="tx1"/>
                </a:solidFill>
                <a:effectLst/>
                <a:latin typeface="NotoSansSC"/>
              </a:rPr>
              <a:t>：</a:t>
            </a:r>
            <a:endParaRPr lang="zh-CN" altLang="en-US" dirty="0">
              <a:solidFill>
                <a:schemeClr val="tx1"/>
              </a:solidFill>
            </a:endParaRPr>
          </a:p>
        </p:txBody>
      </p:sp>
    </p:spTree>
    <p:extLst>
      <p:ext uri="{BB962C8B-B14F-4D97-AF65-F5344CB8AC3E}">
        <p14:creationId xmlns:p14="http://schemas.microsoft.com/office/powerpoint/2010/main" val="2757853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264687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真实案例</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3228868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CA3AE8-3CEE-AA11-D8A9-AEC04A3CF99F}"/>
              </a:ext>
            </a:extLst>
          </p:cNvPr>
          <p:cNvSpPr txBox="1"/>
          <p:nvPr/>
        </p:nvSpPr>
        <p:spPr>
          <a:xfrm>
            <a:off x="539261" y="433754"/>
            <a:ext cx="8494633"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某互联网科技公司</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酒店评论分析需求</a:t>
            </a:r>
          </a:p>
        </p:txBody>
      </p:sp>
      <p:sp>
        <p:nvSpPr>
          <p:cNvPr id="4" name="文本框 3">
            <a:extLst>
              <a:ext uri="{FF2B5EF4-FFF2-40B4-BE49-F238E27FC236}">
                <a16:creationId xmlns:a16="http://schemas.microsoft.com/office/drawing/2014/main" id="{C6752D5D-1F18-E36E-0313-AF2621FE6784}"/>
              </a:ext>
            </a:extLst>
          </p:cNvPr>
          <p:cNvSpPr txBox="1"/>
          <p:nvPr/>
        </p:nvSpPr>
        <p:spPr>
          <a:xfrm>
            <a:off x="773722" y="1437753"/>
            <a:ext cx="2031325"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需求背景</a:t>
            </a:r>
          </a:p>
        </p:txBody>
      </p:sp>
      <p:sp>
        <p:nvSpPr>
          <p:cNvPr id="8" name="文本框 7">
            <a:extLst>
              <a:ext uri="{FF2B5EF4-FFF2-40B4-BE49-F238E27FC236}">
                <a16:creationId xmlns:a16="http://schemas.microsoft.com/office/drawing/2014/main" id="{2D499E25-82B7-34BC-7123-4EC0A500637C}"/>
              </a:ext>
            </a:extLst>
          </p:cNvPr>
          <p:cNvSpPr txBox="1"/>
          <p:nvPr/>
        </p:nvSpPr>
        <p:spPr>
          <a:xfrm>
            <a:off x="1297366" y="2441753"/>
            <a:ext cx="12820568" cy="1431161"/>
          </a:xfrm>
          <a:prstGeom prst="rect">
            <a:avLst/>
          </a:prstGeom>
          <a:noFill/>
        </p:spPr>
        <p:txBody>
          <a:bodyPr wrap="squar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酒店预定场景中存在大量的用户评论（日增量</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4W</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左右），如何有效利用用户评论数据优化酒店产品成为售后团队比较关注的问题，目前有</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1</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万左右的人工标注数据可供训练</a:t>
            </a:r>
          </a:p>
        </p:txBody>
      </p:sp>
      <p:sp>
        <p:nvSpPr>
          <p:cNvPr id="9" name="文本框 8">
            <a:extLst>
              <a:ext uri="{FF2B5EF4-FFF2-40B4-BE49-F238E27FC236}">
                <a16:creationId xmlns:a16="http://schemas.microsoft.com/office/drawing/2014/main" id="{6F759996-1828-851D-DA4A-C8B2669E6DED}"/>
              </a:ext>
            </a:extLst>
          </p:cNvPr>
          <p:cNvSpPr txBox="1"/>
          <p:nvPr/>
        </p:nvSpPr>
        <p:spPr>
          <a:xfrm>
            <a:off x="773722" y="3989877"/>
            <a:ext cx="3877985"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问题定义以及做法</a:t>
            </a:r>
          </a:p>
        </p:txBody>
      </p:sp>
      <p:sp>
        <p:nvSpPr>
          <p:cNvPr id="10" name="文本框 9">
            <a:extLst>
              <a:ext uri="{FF2B5EF4-FFF2-40B4-BE49-F238E27FC236}">
                <a16:creationId xmlns:a16="http://schemas.microsoft.com/office/drawing/2014/main" id="{E080C870-7260-7A55-136B-BBFCE16B68D6}"/>
              </a:ext>
            </a:extLst>
          </p:cNvPr>
          <p:cNvSpPr txBox="1"/>
          <p:nvPr/>
        </p:nvSpPr>
        <p:spPr>
          <a:xfrm>
            <a:off x="1297366" y="4802963"/>
            <a:ext cx="12820568" cy="1431161"/>
          </a:xfrm>
          <a:prstGeom prst="rect">
            <a:avLst/>
          </a:prstGeom>
          <a:noFill/>
        </p:spPr>
        <p:txBody>
          <a:bodyPr wrap="squar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标准的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ABSA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场景，且数据量较大</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使用</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G-ABSA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NLG</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模型，</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ACL</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2021</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）以及</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Dual-MRC</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NLU</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模型，</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ACL</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2020</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）分别训练并进行深入对比</a:t>
            </a:r>
          </a:p>
        </p:txBody>
      </p:sp>
    </p:spTree>
    <p:extLst>
      <p:ext uri="{BB962C8B-B14F-4D97-AF65-F5344CB8AC3E}">
        <p14:creationId xmlns:p14="http://schemas.microsoft.com/office/powerpoint/2010/main" val="12020637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CA3AE8-3CEE-AA11-D8A9-AEC04A3CF99F}"/>
              </a:ext>
            </a:extLst>
          </p:cNvPr>
          <p:cNvSpPr txBox="1"/>
          <p:nvPr/>
        </p:nvSpPr>
        <p:spPr>
          <a:xfrm>
            <a:off x="539261" y="433754"/>
            <a:ext cx="8494633"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某互联网科技公司</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酒店评论分析需求</a:t>
            </a:r>
          </a:p>
        </p:txBody>
      </p:sp>
      <p:graphicFrame>
        <p:nvGraphicFramePr>
          <p:cNvPr id="2" name="表格 3">
            <a:extLst>
              <a:ext uri="{FF2B5EF4-FFF2-40B4-BE49-F238E27FC236}">
                <a16:creationId xmlns:a16="http://schemas.microsoft.com/office/drawing/2014/main" id="{2DB5B70D-BA1D-3724-036D-0F4DA425F5BB}"/>
              </a:ext>
            </a:extLst>
          </p:cNvPr>
          <p:cNvGraphicFramePr>
            <a:graphicFrameLocks noGrp="1"/>
          </p:cNvGraphicFramePr>
          <p:nvPr>
            <p:extLst>
              <p:ext uri="{D42A27DB-BD31-4B8C-83A1-F6EECF244321}">
                <p14:modId xmlns:p14="http://schemas.microsoft.com/office/powerpoint/2010/main" val="2923623142"/>
              </p:ext>
            </p:extLst>
          </p:nvPr>
        </p:nvGraphicFramePr>
        <p:xfrm>
          <a:off x="167130" y="1606060"/>
          <a:ext cx="14108570" cy="3247293"/>
        </p:xfrm>
        <a:graphic>
          <a:graphicData uri="http://schemas.openxmlformats.org/drawingml/2006/table">
            <a:tbl>
              <a:tblPr firstRow="1" bandRow="1">
                <a:tableStyleId>{21E4AEA4-8DFA-4A89-87EB-49C32662AFE0}</a:tableStyleId>
              </a:tblPr>
              <a:tblGrid>
                <a:gridCol w="1444313">
                  <a:extLst>
                    <a:ext uri="{9D8B030D-6E8A-4147-A177-3AD203B41FA5}">
                      <a16:colId xmlns:a16="http://schemas.microsoft.com/office/drawing/2014/main" val="1040098318"/>
                    </a:ext>
                  </a:extLst>
                </a:gridCol>
                <a:gridCol w="1410041">
                  <a:extLst>
                    <a:ext uri="{9D8B030D-6E8A-4147-A177-3AD203B41FA5}">
                      <a16:colId xmlns:a16="http://schemas.microsoft.com/office/drawing/2014/main" val="2651997329"/>
                    </a:ext>
                  </a:extLst>
                </a:gridCol>
                <a:gridCol w="1406777">
                  <a:extLst>
                    <a:ext uri="{9D8B030D-6E8A-4147-A177-3AD203B41FA5}">
                      <a16:colId xmlns:a16="http://schemas.microsoft.com/office/drawing/2014/main" val="3322618150"/>
                    </a:ext>
                  </a:extLst>
                </a:gridCol>
                <a:gridCol w="1406777">
                  <a:extLst>
                    <a:ext uri="{9D8B030D-6E8A-4147-A177-3AD203B41FA5}">
                      <a16:colId xmlns:a16="http://schemas.microsoft.com/office/drawing/2014/main" val="3996070770"/>
                    </a:ext>
                  </a:extLst>
                </a:gridCol>
                <a:gridCol w="1406777">
                  <a:extLst>
                    <a:ext uri="{9D8B030D-6E8A-4147-A177-3AD203B41FA5}">
                      <a16:colId xmlns:a16="http://schemas.microsoft.com/office/drawing/2014/main" val="3582222025"/>
                    </a:ext>
                  </a:extLst>
                </a:gridCol>
                <a:gridCol w="1406777">
                  <a:extLst>
                    <a:ext uri="{9D8B030D-6E8A-4147-A177-3AD203B41FA5}">
                      <a16:colId xmlns:a16="http://schemas.microsoft.com/office/drawing/2014/main" val="608746896"/>
                    </a:ext>
                  </a:extLst>
                </a:gridCol>
                <a:gridCol w="1406777">
                  <a:extLst>
                    <a:ext uri="{9D8B030D-6E8A-4147-A177-3AD203B41FA5}">
                      <a16:colId xmlns:a16="http://schemas.microsoft.com/office/drawing/2014/main" val="2375637927"/>
                    </a:ext>
                  </a:extLst>
                </a:gridCol>
                <a:gridCol w="1406777">
                  <a:extLst>
                    <a:ext uri="{9D8B030D-6E8A-4147-A177-3AD203B41FA5}">
                      <a16:colId xmlns:a16="http://schemas.microsoft.com/office/drawing/2014/main" val="995560200"/>
                    </a:ext>
                  </a:extLst>
                </a:gridCol>
                <a:gridCol w="1406777">
                  <a:extLst>
                    <a:ext uri="{9D8B030D-6E8A-4147-A177-3AD203B41FA5}">
                      <a16:colId xmlns:a16="http://schemas.microsoft.com/office/drawing/2014/main" val="2152511396"/>
                    </a:ext>
                  </a:extLst>
                </a:gridCol>
                <a:gridCol w="1406777">
                  <a:extLst>
                    <a:ext uri="{9D8B030D-6E8A-4147-A177-3AD203B41FA5}">
                      <a16:colId xmlns:a16="http://schemas.microsoft.com/office/drawing/2014/main" val="3949746825"/>
                    </a:ext>
                  </a:extLst>
                </a:gridCol>
              </a:tblGrid>
              <a:tr h="792574">
                <a:tc rowSpan="2">
                  <a:txBody>
                    <a:bodyPr/>
                    <a:lstStyle/>
                    <a:p>
                      <a:r>
                        <a:rPr lang="zh-CN" altLang="en-US" dirty="0"/>
                        <a:t>模型</a:t>
                      </a:r>
                    </a:p>
                  </a:txBody>
                  <a:tcPr/>
                </a:tc>
                <a:tc gridSpan="3">
                  <a:txBody>
                    <a:bodyPr/>
                    <a:lstStyle/>
                    <a:p>
                      <a:r>
                        <a:rPr lang="en-US" altLang="zh-CN" dirty="0"/>
                        <a:t>AE</a:t>
                      </a:r>
                      <a:endParaRPr lang="zh-CN" altLang="en-US" dirty="0"/>
                    </a:p>
                  </a:txBody>
                  <a:tcPr/>
                </a:tc>
                <a:tc hMerge="1">
                  <a:txBody>
                    <a:bodyPr/>
                    <a:lstStyle/>
                    <a:p>
                      <a:endParaRPr lang="zh-CN" altLang="en-US" dirty="0"/>
                    </a:p>
                  </a:txBody>
                  <a:tcPr/>
                </a:tc>
                <a:tc hMerge="1">
                  <a:txBody>
                    <a:bodyPr/>
                    <a:lstStyle/>
                    <a:p>
                      <a:endParaRPr lang="zh-CN" altLang="en-US" dirty="0"/>
                    </a:p>
                  </a:txBody>
                  <a:tcPr/>
                </a:tc>
                <a:tc gridSpan="3">
                  <a:txBody>
                    <a:bodyPr/>
                    <a:lstStyle/>
                    <a:p>
                      <a:r>
                        <a:rPr lang="en-US" altLang="zh-CN" dirty="0"/>
                        <a:t>SC</a:t>
                      </a:r>
                      <a:endParaRPr lang="zh-CN" altLang="en-US" dirty="0"/>
                    </a:p>
                  </a:txBody>
                  <a:tcPr/>
                </a:tc>
                <a:tc hMerge="1">
                  <a:txBody>
                    <a:bodyPr/>
                    <a:lstStyle/>
                    <a:p>
                      <a:endParaRPr lang="zh-CN" altLang="en-US" dirty="0"/>
                    </a:p>
                  </a:txBody>
                  <a:tcPr/>
                </a:tc>
                <a:tc hMerge="1">
                  <a:txBody>
                    <a:bodyPr/>
                    <a:lstStyle/>
                    <a:p>
                      <a:endParaRPr lang="zh-CN" altLang="en-US" dirty="0"/>
                    </a:p>
                  </a:txBody>
                  <a:tcPr/>
                </a:tc>
                <a:tc gridSpan="3">
                  <a:txBody>
                    <a:bodyPr/>
                    <a:lstStyle/>
                    <a:p>
                      <a:r>
                        <a:rPr lang="en-US" altLang="zh-CN" dirty="0"/>
                        <a:t>TOTAL(E2E)</a:t>
                      </a:r>
                      <a:endParaRPr lang="zh-CN" altLang="en-US" dirty="0"/>
                    </a:p>
                  </a:txBody>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2609975285"/>
                  </a:ext>
                </a:extLst>
              </a:tr>
              <a:tr h="869571">
                <a:tc vMerge="1">
                  <a:txBody>
                    <a:bodyPr/>
                    <a:lstStyle/>
                    <a:p>
                      <a:endParaRPr lang="zh-CN" altLang="en-US" dirty="0"/>
                    </a:p>
                  </a:txBody>
                  <a:tcPr/>
                </a:tc>
                <a:tc>
                  <a:txBody>
                    <a:bodyPr/>
                    <a:lstStyle/>
                    <a:p>
                      <a:r>
                        <a:rPr lang="en-US" altLang="zh-CN" dirty="0"/>
                        <a:t>P</a:t>
                      </a:r>
                      <a:endParaRPr lang="zh-CN" altLang="en-US" dirty="0"/>
                    </a:p>
                  </a:txBody>
                  <a:tcPr/>
                </a:tc>
                <a:tc>
                  <a:txBody>
                    <a:bodyPr/>
                    <a:lstStyle/>
                    <a:p>
                      <a:r>
                        <a:rPr lang="en-US" altLang="zh-CN" dirty="0"/>
                        <a:t>R</a:t>
                      </a:r>
                      <a:endParaRPr lang="zh-CN" altLang="en-US" dirty="0"/>
                    </a:p>
                  </a:txBody>
                  <a:tcPr/>
                </a:tc>
                <a:tc>
                  <a:txBody>
                    <a:bodyPr/>
                    <a:lstStyle/>
                    <a:p>
                      <a:r>
                        <a:rPr lang="en-US" altLang="zh-CN" dirty="0"/>
                        <a:t>F1</a:t>
                      </a:r>
                      <a:endParaRPr lang="zh-CN" altLang="en-US" dirty="0"/>
                    </a:p>
                  </a:txBody>
                  <a:tcPr/>
                </a:tc>
                <a:tc>
                  <a:txBody>
                    <a:bodyPr/>
                    <a:lstStyle/>
                    <a:p>
                      <a:r>
                        <a:rPr lang="en-US" altLang="zh-CN" dirty="0"/>
                        <a:t>P</a:t>
                      </a:r>
                      <a:endParaRPr lang="zh-CN" altLang="en-US" dirty="0"/>
                    </a:p>
                  </a:txBody>
                  <a:tcPr/>
                </a:tc>
                <a:tc>
                  <a:txBody>
                    <a:bodyPr/>
                    <a:lstStyle/>
                    <a:p>
                      <a:r>
                        <a:rPr lang="en-US" altLang="zh-CN" dirty="0"/>
                        <a:t>R</a:t>
                      </a:r>
                      <a:endParaRPr lang="zh-CN" altLang="en-US" dirty="0"/>
                    </a:p>
                  </a:txBody>
                  <a:tcPr/>
                </a:tc>
                <a:tc>
                  <a:txBody>
                    <a:bodyPr/>
                    <a:lstStyle/>
                    <a:p>
                      <a:r>
                        <a:rPr lang="en-US" altLang="zh-CN" dirty="0"/>
                        <a:t>F1</a:t>
                      </a:r>
                      <a:endParaRPr lang="zh-CN" altLang="en-US" dirty="0"/>
                    </a:p>
                  </a:txBody>
                  <a:tcPr/>
                </a:tc>
                <a:tc>
                  <a:txBody>
                    <a:bodyPr/>
                    <a:lstStyle/>
                    <a:p>
                      <a:r>
                        <a:rPr lang="en-US" altLang="zh-CN" dirty="0"/>
                        <a:t>P</a:t>
                      </a:r>
                      <a:endParaRPr lang="zh-CN" altLang="en-US" dirty="0"/>
                    </a:p>
                  </a:txBody>
                  <a:tcPr/>
                </a:tc>
                <a:tc>
                  <a:txBody>
                    <a:bodyPr/>
                    <a:lstStyle/>
                    <a:p>
                      <a:r>
                        <a:rPr lang="en-US" altLang="zh-CN" dirty="0"/>
                        <a:t>R</a:t>
                      </a:r>
                      <a:endParaRPr lang="zh-CN" altLang="en-US" dirty="0"/>
                    </a:p>
                  </a:txBody>
                  <a:tcPr/>
                </a:tc>
                <a:tc>
                  <a:txBody>
                    <a:bodyPr/>
                    <a:lstStyle/>
                    <a:p>
                      <a:r>
                        <a:rPr lang="en-US" altLang="zh-CN" dirty="0"/>
                        <a:t>F1</a:t>
                      </a:r>
                      <a:endParaRPr lang="zh-CN" altLang="en-US" dirty="0"/>
                    </a:p>
                  </a:txBody>
                  <a:tcPr/>
                </a:tc>
                <a:extLst>
                  <a:ext uri="{0D108BD9-81ED-4DB2-BD59-A6C34878D82A}">
                    <a16:rowId xmlns:a16="http://schemas.microsoft.com/office/drawing/2014/main" val="817018463"/>
                  </a:ext>
                </a:extLst>
              </a:tr>
              <a:tr h="792574">
                <a:tc>
                  <a:txBody>
                    <a:bodyPr/>
                    <a:lstStyle/>
                    <a:p>
                      <a:r>
                        <a:rPr lang="en-US" altLang="zh-CN" sz="2400" dirty="0"/>
                        <a:t>NLU</a:t>
                      </a:r>
                      <a:endParaRPr lang="zh-CN" altLang="en-US" sz="2400" dirty="0"/>
                    </a:p>
                  </a:txBody>
                  <a:tcPr/>
                </a:tc>
                <a:tc>
                  <a:txBody>
                    <a:bodyPr/>
                    <a:lstStyle/>
                    <a:p>
                      <a:r>
                        <a:rPr lang="en-US" altLang="zh-CN" dirty="0"/>
                        <a:t>0.922</a:t>
                      </a:r>
                      <a:endParaRPr lang="zh-CN" altLang="en-US" dirty="0"/>
                    </a:p>
                  </a:txBody>
                  <a:tcPr/>
                </a:tc>
                <a:tc>
                  <a:txBody>
                    <a:bodyPr/>
                    <a:lstStyle/>
                    <a:p>
                      <a:r>
                        <a:rPr lang="en-US" altLang="zh-CN" dirty="0"/>
                        <a:t>0.755</a:t>
                      </a:r>
                      <a:endParaRPr lang="zh-CN" altLang="en-US" dirty="0"/>
                    </a:p>
                  </a:txBody>
                  <a:tcPr/>
                </a:tc>
                <a:tc>
                  <a:txBody>
                    <a:bodyPr/>
                    <a:lstStyle/>
                    <a:p>
                      <a:r>
                        <a:rPr lang="en-US" altLang="zh-CN" dirty="0"/>
                        <a:t>0.830</a:t>
                      </a:r>
                      <a:endParaRPr lang="zh-CN" altLang="en-US" dirty="0"/>
                    </a:p>
                  </a:txBody>
                  <a:tcPr/>
                </a:tc>
                <a:tc>
                  <a:txBody>
                    <a:bodyPr/>
                    <a:lstStyle/>
                    <a:p>
                      <a:r>
                        <a:rPr lang="en-US" altLang="zh-CN" dirty="0"/>
                        <a:t>0.945</a:t>
                      </a:r>
                      <a:endParaRPr lang="zh-CN" altLang="en-US" dirty="0"/>
                    </a:p>
                  </a:txBody>
                  <a:tcPr/>
                </a:tc>
                <a:tc>
                  <a:txBody>
                    <a:bodyPr/>
                    <a:lstStyle/>
                    <a:p>
                      <a:r>
                        <a:rPr lang="en-US" altLang="zh-CN" dirty="0"/>
                        <a:t>0.945</a:t>
                      </a:r>
                      <a:endParaRPr lang="zh-CN" altLang="en-US" dirty="0"/>
                    </a:p>
                  </a:txBody>
                  <a:tcPr/>
                </a:tc>
                <a:tc>
                  <a:txBody>
                    <a:bodyPr/>
                    <a:lstStyle/>
                    <a:p>
                      <a:r>
                        <a:rPr lang="en-US" altLang="zh-CN" dirty="0"/>
                        <a:t>0.945</a:t>
                      </a:r>
                      <a:endParaRPr lang="zh-CN" altLang="en-US" dirty="0"/>
                    </a:p>
                  </a:txBody>
                  <a:tcPr/>
                </a:tc>
                <a:tc>
                  <a:txBody>
                    <a:bodyPr/>
                    <a:lstStyle/>
                    <a:p>
                      <a:r>
                        <a:rPr lang="en-US" altLang="zh-CN" dirty="0"/>
                        <a:t>0.893</a:t>
                      </a:r>
                      <a:endParaRPr lang="zh-CN" altLang="en-US" dirty="0"/>
                    </a:p>
                  </a:txBody>
                  <a:tcPr/>
                </a:tc>
                <a:tc>
                  <a:txBody>
                    <a:bodyPr/>
                    <a:lstStyle/>
                    <a:p>
                      <a:r>
                        <a:rPr lang="en-US" altLang="zh-CN" dirty="0"/>
                        <a:t>0.731</a:t>
                      </a:r>
                      <a:endParaRPr lang="zh-CN" altLang="en-US" dirty="0"/>
                    </a:p>
                  </a:txBody>
                  <a:tcPr/>
                </a:tc>
                <a:tc>
                  <a:txBody>
                    <a:bodyPr/>
                    <a:lstStyle/>
                    <a:p>
                      <a:r>
                        <a:rPr lang="en-US" altLang="zh-CN" dirty="0"/>
                        <a:t>0.804</a:t>
                      </a:r>
                      <a:endParaRPr lang="zh-CN" altLang="en-US" dirty="0"/>
                    </a:p>
                  </a:txBody>
                  <a:tcPr/>
                </a:tc>
                <a:extLst>
                  <a:ext uri="{0D108BD9-81ED-4DB2-BD59-A6C34878D82A}">
                    <a16:rowId xmlns:a16="http://schemas.microsoft.com/office/drawing/2014/main" val="1481538550"/>
                  </a:ext>
                </a:extLst>
              </a:tr>
              <a:tr h="792574">
                <a:tc>
                  <a:txBody>
                    <a:bodyPr/>
                    <a:lstStyle/>
                    <a:p>
                      <a:r>
                        <a:rPr lang="en-US" altLang="zh-CN" sz="2800" dirty="0"/>
                        <a:t>NLG</a:t>
                      </a:r>
                      <a:endParaRPr lang="zh-CN" altLang="en-US" sz="2800" dirty="0"/>
                    </a:p>
                  </a:txBody>
                  <a:tcPr/>
                </a:tc>
                <a:tc>
                  <a:txBody>
                    <a:bodyPr/>
                    <a:lstStyle/>
                    <a:p>
                      <a:r>
                        <a:rPr lang="en-US" altLang="zh-CN" dirty="0"/>
                        <a:t>0.980</a:t>
                      </a:r>
                      <a:endParaRPr lang="zh-CN" altLang="en-US" dirty="0"/>
                    </a:p>
                  </a:txBody>
                  <a:tcPr/>
                </a:tc>
                <a:tc>
                  <a:txBody>
                    <a:bodyPr/>
                    <a:lstStyle/>
                    <a:p>
                      <a:r>
                        <a:rPr lang="en-US" altLang="zh-CN" dirty="0"/>
                        <a:t>0.984</a:t>
                      </a:r>
                      <a:endParaRPr lang="zh-CN" altLang="en-US" dirty="0"/>
                    </a:p>
                  </a:txBody>
                  <a:tcPr/>
                </a:tc>
                <a:tc>
                  <a:txBody>
                    <a:bodyPr/>
                    <a:lstStyle/>
                    <a:p>
                      <a:r>
                        <a:rPr lang="en-US" altLang="zh-CN" dirty="0"/>
                        <a:t>0.982</a:t>
                      </a:r>
                      <a:endParaRPr lang="zh-CN" altLang="en-US" dirty="0"/>
                    </a:p>
                  </a:txBody>
                  <a:tcPr/>
                </a:tc>
                <a:tc>
                  <a:txBody>
                    <a:bodyPr/>
                    <a:lstStyle/>
                    <a:p>
                      <a:r>
                        <a:rPr lang="en-US" altLang="zh-CN" dirty="0"/>
                        <a:t>0.964</a:t>
                      </a:r>
                      <a:endParaRPr lang="zh-CN" altLang="en-US" dirty="0"/>
                    </a:p>
                  </a:txBody>
                  <a:tcPr/>
                </a:tc>
                <a:tc>
                  <a:txBody>
                    <a:bodyPr/>
                    <a:lstStyle/>
                    <a:p>
                      <a:r>
                        <a:rPr lang="en-US" altLang="zh-CN" dirty="0"/>
                        <a:t>0.964</a:t>
                      </a:r>
                      <a:endParaRPr lang="zh-CN" altLang="en-US" dirty="0"/>
                    </a:p>
                  </a:txBody>
                  <a:tcPr/>
                </a:tc>
                <a:tc>
                  <a:txBody>
                    <a:bodyPr/>
                    <a:lstStyle/>
                    <a:p>
                      <a:r>
                        <a:rPr lang="en-US" altLang="zh-CN" dirty="0"/>
                        <a:t>0.964</a:t>
                      </a:r>
                      <a:endParaRPr lang="zh-CN" altLang="en-US" dirty="0"/>
                    </a:p>
                  </a:txBody>
                  <a:tcPr/>
                </a:tc>
                <a:tc>
                  <a:txBody>
                    <a:bodyPr/>
                    <a:lstStyle/>
                    <a:p>
                      <a:r>
                        <a:rPr lang="en-US" altLang="zh-CN" sz="2880" kern="1200" dirty="0">
                          <a:solidFill>
                            <a:schemeClr val="dk1"/>
                          </a:solidFill>
                          <a:effectLst/>
                          <a:latin typeface="+mn-lt"/>
                          <a:ea typeface="+mn-ea"/>
                          <a:cs typeface="+mn-cs"/>
                        </a:rPr>
                        <a:t>0.975</a:t>
                      </a:r>
                      <a:endParaRPr lang="zh-CN" altLang="en-US" dirty="0"/>
                    </a:p>
                  </a:txBody>
                  <a:tcPr/>
                </a:tc>
                <a:tc>
                  <a:txBody>
                    <a:bodyPr/>
                    <a:lstStyle/>
                    <a:p>
                      <a:r>
                        <a:rPr lang="en-US" altLang="zh-CN" dirty="0"/>
                        <a:t>0.979</a:t>
                      </a:r>
                      <a:endParaRPr lang="zh-CN" altLang="en-US" dirty="0"/>
                    </a:p>
                  </a:txBody>
                  <a:tcPr/>
                </a:tc>
                <a:tc>
                  <a:txBody>
                    <a:bodyPr/>
                    <a:lstStyle/>
                    <a:p>
                      <a:r>
                        <a:rPr lang="en-US" altLang="zh-CN" dirty="0"/>
                        <a:t>0.977</a:t>
                      </a:r>
                      <a:endParaRPr lang="zh-CN" altLang="en-US" dirty="0"/>
                    </a:p>
                  </a:txBody>
                  <a:tcPr/>
                </a:tc>
                <a:extLst>
                  <a:ext uri="{0D108BD9-81ED-4DB2-BD59-A6C34878D82A}">
                    <a16:rowId xmlns:a16="http://schemas.microsoft.com/office/drawing/2014/main" val="642334705"/>
                  </a:ext>
                </a:extLst>
              </a:tr>
            </a:tbl>
          </a:graphicData>
        </a:graphic>
      </p:graphicFrame>
      <p:sp>
        <p:nvSpPr>
          <p:cNvPr id="3" name="Text Placeholder 2">
            <a:extLst>
              <a:ext uri="{FF2B5EF4-FFF2-40B4-BE49-F238E27FC236}">
                <a16:creationId xmlns:a16="http://schemas.microsoft.com/office/drawing/2014/main" id="{097AEAA9-2F83-0028-42A9-79A0CE475B7C}"/>
              </a:ext>
            </a:extLst>
          </p:cNvPr>
          <p:cNvSpPr txBox="1">
            <a:spLocks/>
          </p:cNvSpPr>
          <p:nvPr/>
        </p:nvSpPr>
        <p:spPr>
          <a:xfrm>
            <a:off x="393561" y="5421986"/>
            <a:ext cx="3228871" cy="2115953"/>
          </a:xfrm>
          <a:prstGeom prst="rect">
            <a:avLst/>
          </a:prstGeom>
          <a:solidFill>
            <a:schemeClr val="accent1"/>
          </a:solidFill>
          <a:ln>
            <a:solidFill>
              <a:schemeClr val="accent1"/>
            </a:solidFill>
          </a:ln>
        </p:spPr>
        <p:txBody>
          <a:bodyPr/>
          <a:lstStyle>
            <a:lvl1pPr marL="0" indent="0" algn="l" defTabSz="731520" rtl="0" eaLnBrk="1" latinLnBrk="0" hangingPunct="1">
              <a:spcBef>
                <a:spcPct val="20000"/>
              </a:spcBef>
              <a:buFontTx/>
              <a:buNone/>
              <a:defRPr sz="2900" b="0" i="0" kern="1200">
                <a:solidFill>
                  <a:schemeClr val="bg2"/>
                </a:solidFill>
                <a:latin typeface="Amazon Ember Regular" charset="0"/>
                <a:ea typeface="+mn-ea"/>
                <a:cs typeface="Amazon Ember Regular" charset="0"/>
              </a:defRPr>
            </a:lvl1pPr>
            <a:lvl2pPr marL="1188720" indent="-457200" algn="l" defTabSz="731520" rtl="0" eaLnBrk="1" latinLnBrk="0" hangingPunct="1">
              <a:spcBef>
                <a:spcPct val="20000"/>
              </a:spcBef>
              <a:buFont typeface="Arial"/>
              <a:buChar char="•"/>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en-CN" sz="2000">
                <a:solidFill>
                  <a:schemeClr val="tx1"/>
                </a:solidFill>
              </a:rPr>
              <a:t>输</a:t>
            </a:r>
            <a:r>
              <a:rPr lang="en-US" sz="2000" dirty="0" err="1">
                <a:solidFill>
                  <a:schemeClr val="tx1"/>
                </a:solidFill>
              </a:rPr>
              <a:t>入</a:t>
            </a:r>
            <a:r>
              <a:rPr lang="zh-CN" altLang="en-US" sz="2000" dirty="0">
                <a:solidFill>
                  <a:schemeClr val="tx1"/>
                </a:solidFill>
              </a:rPr>
              <a:t> </a:t>
            </a:r>
            <a:endParaRPr lang="en-US" altLang="zh-CN" sz="2000" dirty="0">
              <a:solidFill>
                <a:schemeClr val="tx1"/>
              </a:solidFill>
            </a:endParaRPr>
          </a:p>
          <a:p>
            <a:endParaRPr lang="en-US" altLang="zh-CN" sz="2000" dirty="0">
              <a:solidFill>
                <a:schemeClr val="tx1"/>
              </a:solidFill>
            </a:endParaRPr>
          </a:p>
          <a:p>
            <a:r>
              <a:rPr lang="zh-CN" altLang="en-US" sz="2000" dirty="0">
                <a:solidFill>
                  <a:schemeClr val="tx1"/>
                </a:solidFill>
              </a:rPr>
              <a:t>性价比感觉还好，房间的空调面板不能随便动，容易出问题，因为设置问题导致一晚上无法启动</a:t>
            </a:r>
            <a:endParaRPr lang="en-CN" sz="2000" dirty="0">
              <a:solidFill>
                <a:schemeClr val="tx1"/>
              </a:solidFill>
            </a:endParaRPr>
          </a:p>
        </p:txBody>
      </p:sp>
      <p:sp>
        <p:nvSpPr>
          <p:cNvPr id="6" name="Text Placeholder 2">
            <a:extLst>
              <a:ext uri="{FF2B5EF4-FFF2-40B4-BE49-F238E27FC236}">
                <a16:creationId xmlns:a16="http://schemas.microsoft.com/office/drawing/2014/main" id="{34283229-810F-36C2-72E1-CA383E1A9465}"/>
              </a:ext>
            </a:extLst>
          </p:cNvPr>
          <p:cNvSpPr txBox="1">
            <a:spLocks/>
          </p:cNvSpPr>
          <p:nvPr/>
        </p:nvSpPr>
        <p:spPr>
          <a:xfrm>
            <a:off x="4583722" y="5421986"/>
            <a:ext cx="3544528" cy="2115953"/>
          </a:xfrm>
          <a:prstGeom prst="rect">
            <a:avLst/>
          </a:prstGeom>
          <a:solidFill>
            <a:schemeClr val="accent4"/>
          </a:solidFill>
          <a:ln>
            <a:solidFill>
              <a:schemeClr val="accent1"/>
            </a:solidFill>
          </a:ln>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2"/>
                </a:solidFill>
                <a:latin typeface="Amazon Ember Regular" charset="0"/>
                <a:ea typeface="+mn-ea"/>
                <a:cs typeface="Amazon Ember Regular" charset="0"/>
              </a:defRPr>
            </a:lvl1pPr>
            <a:lvl2pPr marL="731520" indent="0" algn="l" defTabSz="731520" rtl="0" eaLnBrk="1" latinLnBrk="0" hangingPunct="1">
              <a:spcBef>
                <a:spcPct val="20000"/>
              </a:spcBef>
              <a:buFont typeface="Arial"/>
              <a:buNone/>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zh-CN" altLang="en-US" sz="1800" dirty="0">
                <a:solidFill>
                  <a:schemeClr val="bg1">
                    <a:lumMod val="10000"/>
                    <a:lumOff val="90000"/>
                  </a:schemeClr>
                </a:solidFill>
              </a:rPr>
              <a:t>推理结果 </a:t>
            </a:r>
            <a:r>
              <a:rPr lang="en-US" altLang="zh-CN" sz="1800" dirty="0">
                <a:solidFill>
                  <a:schemeClr val="bg1">
                    <a:lumMod val="10000"/>
                    <a:lumOff val="90000"/>
                  </a:schemeClr>
                </a:solidFill>
              </a:rPr>
              <a:t>(NLG)</a:t>
            </a:r>
          </a:p>
          <a:p>
            <a:endParaRPr lang="en-US" altLang="zh-CN" sz="1800" dirty="0">
              <a:solidFill>
                <a:schemeClr val="bg1">
                  <a:lumMod val="10000"/>
                  <a:lumOff val="90000"/>
                </a:schemeClr>
              </a:solidFill>
            </a:endParaRPr>
          </a:p>
          <a:p>
            <a:r>
              <a:rPr lang="en-US" altLang="zh-CN" sz="1800" dirty="0"/>
              <a:t>(</a:t>
            </a:r>
            <a:r>
              <a:rPr lang="zh-CN" altLang="en-US" sz="1800" dirty="0"/>
              <a:t>性价比</a:t>
            </a:r>
            <a:r>
              <a:rPr lang="en-US" altLang="zh-CN" sz="1800" dirty="0"/>
              <a:t>, </a:t>
            </a:r>
            <a:r>
              <a:rPr lang="en-GB" sz="1800" dirty="0"/>
              <a:t>value, </a:t>
            </a:r>
            <a:r>
              <a:rPr lang="zh-CN" altLang="en-US" sz="1800" dirty="0"/>
              <a:t>还好</a:t>
            </a:r>
            <a:r>
              <a:rPr lang="en-US" altLang="zh-CN" sz="1800" dirty="0"/>
              <a:t>, </a:t>
            </a:r>
            <a:r>
              <a:rPr lang="zh-CN" altLang="en-US" sz="1800" dirty="0"/>
              <a:t>正</a:t>
            </a:r>
            <a:r>
              <a:rPr lang="en-US" altLang="zh-CN" sz="1800" dirty="0"/>
              <a:t>); (</a:t>
            </a:r>
            <a:r>
              <a:rPr lang="zh-CN" altLang="en-US" sz="1800" dirty="0"/>
              <a:t>空调</a:t>
            </a:r>
            <a:r>
              <a:rPr lang="en-US" altLang="zh-CN" sz="1800" dirty="0"/>
              <a:t>, </a:t>
            </a:r>
            <a:r>
              <a:rPr lang="en-GB" sz="1800" dirty="0" err="1"/>
              <a:t>air_conditioner</a:t>
            </a:r>
            <a:r>
              <a:rPr lang="en-GB" sz="1800" dirty="0"/>
              <a:t>, </a:t>
            </a:r>
            <a:r>
              <a:rPr lang="zh-CN" altLang="en-US" sz="1800" dirty="0"/>
              <a:t>不能</a:t>
            </a:r>
            <a:r>
              <a:rPr lang="en-US" altLang="zh-CN" sz="1800" dirty="0"/>
              <a:t>, </a:t>
            </a:r>
            <a:r>
              <a:rPr lang="zh-CN" altLang="en-US" sz="1800" dirty="0"/>
              <a:t>负</a:t>
            </a:r>
            <a:r>
              <a:rPr lang="en-US" altLang="zh-CN" sz="1800" dirty="0"/>
              <a:t>); (</a:t>
            </a:r>
            <a:r>
              <a:rPr lang="zh-CN" altLang="en-US" sz="1800" dirty="0"/>
              <a:t>空调</a:t>
            </a:r>
            <a:r>
              <a:rPr lang="en-US" altLang="zh-CN" sz="1800" dirty="0"/>
              <a:t>, </a:t>
            </a:r>
            <a:r>
              <a:rPr lang="en-GB" sz="1800" dirty="0" err="1"/>
              <a:t>facility_air_conditioning</a:t>
            </a:r>
            <a:r>
              <a:rPr lang="en-GB" sz="1800" dirty="0"/>
              <a:t>, </a:t>
            </a:r>
            <a:r>
              <a:rPr lang="zh-CN" altLang="en-US" sz="1800" dirty="0"/>
              <a:t>不能</a:t>
            </a:r>
            <a:r>
              <a:rPr lang="en-US" altLang="zh-CN" sz="1800" dirty="0"/>
              <a:t>, </a:t>
            </a:r>
            <a:r>
              <a:rPr lang="zh-CN" altLang="en-US" sz="1800" dirty="0"/>
              <a:t>负</a:t>
            </a:r>
            <a:r>
              <a:rPr lang="en-US" altLang="zh-CN" sz="1800" dirty="0"/>
              <a:t>)</a:t>
            </a:r>
            <a:endParaRPr lang="en-CN" sz="1800" dirty="0">
              <a:solidFill>
                <a:schemeClr val="bg1">
                  <a:lumMod val="10000"/>
                  <a:lumOff val="90000"/>
                </a:schemeClr>
              </a:solidFill>
            </a:endParaRPr>
          </a:p>
        </p:txBody>
      </p:sp>
      <p:sp>
        <p:nvSpPr>
          <p:cNvPr id="7" name="Text Placeholder 2">
            <a:extLst>
              <a:ext uri="{FF2B5EF4-FFF2-40B4-BE49-F238E27FC236}">
                <a16:creationId xmlns:a16="http://schemas.microsoft.com/office/drawing/2014/main" id="{F6220AB5-0A2A-BBD5-17E4-DEF86AB0B441}"/>
              </a:ext>
            </a:extLst>
          </p:cNvPr>
          <p:cNvSpPr txBox="1">
            <a:spLocks/>
          </p:cNvSpPr>
          <p:nvPr/>
        </p:nvSpPr>
        <p:spPr>
          <a:xfrm>
            <a:off x="9280518" y="5379328"/>
            <a:ext cx="3544528" cy="2158611"/>
          </a:xfrm>
          <a:prstGeom prst="rect">
            <a:avLst/>
          </a:prstGeom>
          <a:solidFill>
            <a:schemeClr val="accent6"/>
          </a:solidFill>
          <a:ln>
            <a:solidFill>
              <a:schemeClr val="accent1"/>
            </a:solidFill>
          </a:ln>
        </p:spPr>
        <p:txBody>
          <a:bodyPr vert="horz" lIns="91440" tIns="45720" rIns="91440" bIns="45720" rtlCol="0">
            <a:noAutofit/>
          </a:bodyPr>
          <a:lstStyle>
            <a:lvl1pPr marL="0" indent="0" algn="l" defTabSz="731520" rtl="0" eaLnBrk="1" latinLnBrk="0" hangingPunct="1">
              <a:spcBef>
                <a:spcPct val="20000"/>
              </a:spcBef>
              <a:buFontTx/>
              <a:buNone/>
              <a:defRPr sz="2900" b="0" i="0" kern="1200">
                <a:solidFill>
                  <a:schemeClr val="tx2"/>
                </a:solidFill>
                <a:latin typeface="Amazon Ember Regular" charset="0"/>
                <a:ea typeface="+mn-ea"/>
                <a:cs typeface="Amazon Ember Regular" charset="0"/>
              </a:defRPr>
            </a:lvl1pPr>
            <a:lvl2pPr marL="731520" indent="0" algn="l" defTabSz="731520" rtl="0" eaLnBrk="1" latinLnBrk="0" hangingPunct="1">
              <a:spcBef>
                <a:spcPct val="20000"/>
              </a:spcBef>
              <a:buFont typeface="Arial"/>
              <a:buNone/>
              <a:defRPr sz="2900" b="0" i="0" kern="1200">
                <a:solidFill>
                  <a:schemeClr val="bg2"/>
                </a:solidFill>
                <a:latin typeface="Amazon Ember Regular" charset="0"/>
                <a:ea typeface="+mn-ea"/>
                <a:cs typeface="Amazon Ember Regular" charset="0"/>
              </a:defRPr>
            </a:lvl2pPr>
            <a:lvl3pPr marL="1828800" indent="-365760" algn="l" defTabSz="731520" rtl="0" eaLnBrk="1" latinLnBrk="0" hangingPunct="1">
              <a:spcBef>
                <a:spcPct val="20000"/>
              </a:spcBef>
              <a:buFont typeface="Arial"/>
              <a:buChar char="•"/>
              <a:defRPr sz="2600" b="0" i="0" kern="1200">
                <a:solidFill>
                  <a:schemeClr val="bg2"/>
                </a:solidFill>
                <a:latin typeface="Amazon Ember Regular" charset="0"/>
                <a:ea typeface="+mn-ea"/>
                <a:cs typeface="Amazon Ember Regular" charset="0"/>
              </a:defRPr>
            </a:lvl3pPr>
            <a:lvl4pPr marL="2560320" indent="-365760" algn="l" defTabSz="731520" rtl="0" eaLnBrk="1" latinLnBrk="0" hangingPunct="1">
              <a:spcBef>
                <a:spcPct val="20000"/>
              </a:spcBef>
              <a:buFont typeface="Arial"/>
              <a:buChar char="–"/>
              <a:defRPr sz="2200" b="0" i="0" kern="1200">
                <a:solidFill>
                  <a:schemeClr val="bg2"/>
                </a:solidFill>
                <a:latin typeface="Amazon Ember Regular" charset="0"/>
                <a:ea typeface="+mn-ea"/>
                <a:cs typeface="Amazon Ember Regular" charset="0"/>
              </a:defRPr>
            </a:lvl4pPr>
            <a:lvl5pPr marL="3291840" indent="-365760" algn="l" defTabSz="731520" rtl="0" eaLnBrk="1" latinLnBrk="0" hangingPunct="1">
              <a:spcBef>
                <a:spcPct val="20000"/>
              </a:spcBef>
              <a:buFont typeface="Arial"/>
              <a:buChar char="»"/>
              <a:defRPr sz="1900" b="0" i="0" kern="1200">
                <a:solidFill>
                  <a:schemeClr val="bg2"/>
                </a:solidFill>
                <a:latin typeface="Amazon Ember Regular" charset="0"/>
                <a:ea typeface="+mn-ea"/>
                <a:cs typeface="Amazon Ember Regular" charset="0"/>
              </a:defRPr>
            </a:lvl5pPr>
            <a:lvl6pPr marL="4023360" indent="-365760" algn="l" defTabSz="731520" rtl="0" eaLnBrk="1" latinLnBrk="0" hangingPunct="1">
              <a:spcBef>
                <a:spcPct val="20000"/>
              </a:spcBef>
              <a:buFont typeface="Arial"/>
              <a:buChar char="•"/>
              <a:defRPr sz="3200" kern="1200">
                <a:solidFill>
                  <a:schemeClr val="tx1"/>
                </a:solidFill>
                <a:latin typeface="+mn-lt"/>
                <a:ea typeface="+mn-ea"/>
                <a:cs typeface="+mn-cs"/>
              </a:defRPr>
            </a:lvl6pPr>
            <a:lvl7pPr marL="4754880" indent="-365760" algn="l" defTabSz="731520" rtl="0" eaLnBrk="1" latinLnBrk="0" hangingPunct="1">
              <a:spcBef>
                <a:spcPct val="20000"/>
              </a:spcBef>
              <a:buFont typeface="Arial"/>
              <a:buChar char="•"/>
              <a:defRPr sz="3200" kern="1200">
                <a:solidFill>
                  <a:schemeClr val="tx1"/>
                </a:solidFill>
                <a:latin typeface="+mn-lt"/>
                <a:ea typeface="+mn-ea"/>
                <a:cs typeface="+mn-cs"/>
              </a:defRPr>
            </a:lvl7pPr>
            <a:lvl8pPr marL="5486400" indent="-365760" algn="l" defTabSz="731520" rtl="0" eaLnBrk="1" latinLnBrk="0" hangingPunct="1">
              <a:spcBef>
                <a:spcPct val="20000"/>
              </a:spcBef>
              <a:buFont typeface="Arial"/>
              <a:buChar char="•"/>
              <a:defRPr sz="3200" kern="1200">
                <a:solidFill>
                  <a:schemeClr val="tx1"/>
                </a:solidFill>
                <a:latin typeface="+mn-lt"/>
                <a:ea typeface="+mn-ea"/>
                <a:cs typeface="+mn-cs"/>
              </a:defRPr>
            </a:lvl8pPr>
            <a:lvl9pPr marL="6217920" indent="-365760" algn="l" defTabSz="731520" rtl="0" eaLnBrk="1" latinLnBrk="0" hangingPunct="1">
              <a:spcBef>
                <a:spcPct val="20000"/>
              </a:spcBef>
              <a:buFont typeface="Arial"/>
              <a:buChar char="•"/>
              <a:defRPr sz="3200" kern="1200">
                <a:solidFill>
                  <a:schemeClr val="tx1"/>
                </a:solidFill>
                <a:latin typeface="+mn-lt"/>
                <a:ea typeface="+mn-ea"/>
                <a:cs typeface="+mn-cs"/>
              </a:defRPr>
            </a:lvl9pPr>
          </a:lstStyle>
          <a:p>
            <a:r>
              <a:rPr lang="zh-CN" altLang="en-US" sz="1800" dirty="0">
                <a:solidFill>
                  <a:schemeClr val="bg1">
                    <a:lumMod val="10000"/>
                    <a:lumOff val="90000"/>
                  </a:schemeClr>
                </a:solidFill>
              </a:rPr>
              <a:t>推理结果 </a:t>
            </a:r>
            <a:r>
              <a:rPr lang="en-US" altLang="zh-CN" sz="1800" dirty="0">
                <a:solidFill>
                  <a:schemeClr val="bg1">
                    <a:lumMod val="10000"/>
                    <a:lumOff val="90000"/>
                  </a:schemeClr>
                </a:solidFill>
              </a:rPr>
              <a:t>(NLU)</a:t>
            </a:r>
          </a:p>
          <a:p>
            <a:endParaRPr lang="en-US" altLang="zh-CN" sz="1800" dirty="0">
              <a:solidFill>
                <a:schemeClr val="bg1">
                  <a:lumMod val="10000"/>
                  <a:lumOff val="90000"/>
                </a:schemeClr>
              </a:solidFill>
            </a:endParaRPr>
          </a:p>
          <a:p>
            <a:r>
              <a:rPr lang="en-GB" sz="1800" dirty="0"/>
              <a:t>aspect': ['</a:t>
            </a:r>
            <a:r>
              <a:rPr lang="zh-CN" altLang="en-US" sz="1800" dirty="0"/>
              <a:t>性 价 比</a:t>
            </a:r>
            <a:r>
              <a:rPr lang="en-US" altLang="zh-CN" sz="1800" dirty="0"/>
              <a:t>', '</a:t>
            </a:r>
            <a:r>
              <a:rPr lang="zh-CN" altLang="en-US" sz="1800" dirty="0"/>
              <a:t>空 调</a:t>
            </a:r>
            <a:r>
              <a:rPr lang="en-US" altLang="zh-CN" sz="1800" dirty="0"/>
              <a:t>’],</a:t>
            </a:r>
          </a:p>
          <a:p>
            <a:r>
              <a:rPr lang="en-US" altLang="zh-CN" sz="1800" dirty="0"/>
              <a:t>'</a:t>
            </a:r>
            <a:r>
              <a:rPr lang="en-GB" sz="1800" dirty="0"/>
              <a:t>position': [[0, 1, 2], [11, 12]], 'sentiment': ['Positive', 'Negative']}</a:t>
            </a:r>
            <a:endParaRPr lang="en-CN" sz="1800" dirty="0">
              <a:solidFill>
                <a:schemeClr val="bg1">
                  <a:lumMod val="10000"/>
                  <a:lumOff val="90000"/>
                </a:schemeClr>
              </a:solidFill>
            </a:endParaRPr>
          </a:p>
        </p:txBody>
      </p:sp>
    </p:spTree>
    <p:extLst>
      <p:ext uri="{BB962C8B-B14F-4D97-AF65-F5344CB8AC3E}">
        <p14:creationId xmlns:p14="http://schemas.microsoft.com/office/powerpoint/2010/main" val="402796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CA3AE8-3CEE-AA11-D8A9-AEC04A3CF99F}"/>
              </a:ext>
            </a:extLst>
          </p:cNvPr>
          <p:cNvSpPr txBox="1"/>
          <p:nvPr/>
        </p:nvSpPr>
        <p:spPr>
          <a:xfrm>
            <a:off x="539261" y="433754"/>
            <a:ext cx="8747908"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某跨境电商公司</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小样本场景下的</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ABSA</a:t>
            </a:r>
            <a:endPar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 name="文本框 2">
            <a:extLst>
              <a:ext uri="{FF2B5EF4-FFF2-40B4-BE49-F238E27FC236}">
                <a16:creationId xmlns:a16="http://schemas.microsoft.com/office/drawing/2014/main" id="{4FDB3ECF-9261-ABE6-5507-63381610727A}"/>
              </a:ext>
            </a:extLst>
          </p:cNvPr>
          <p:cNvSpPr txBox="1"/>
          <p:nvPr/>
        </p:nvSpPr>
        <p:spPr>
          <a:xfrm>
            <a:off x="773722" y="1437753"/>
            <a:ext cx="2031325"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需求背景</a:t>
            </a:r>
          </a:p>
        </p:txBody>
      </p:sp>
      <p:sp>
        <p:nvSpPr>
          <p:cNvPr id="4" name="文本框 3">
            <a:extLst>
              <a:ext uri="{FF2B5EF4-FFF2-40B4-BE49-F238E27FC236}">
                <a16:creationId xmlns:a16="http://schemas.microsoft.com/office/drawing/2014/main" id="{B5AF9DD2-0526-AEAB-5CAB-63E79265EBC8}"/>
              </a:ext>
            </a:extLst>
          </p:cNvPr>
          <p:cNvSpPr txBox="1"/>
          <p:nvPr/>
        </p:nvSpPr>
        <p:spPr>
          <a:xfrm>
            <a:off x="1297366" y="2321400"/>
            <a:ext cx="12820568" cy="1877437"/>
          </a:xfrm>
          <a:prstGeom prst="rect">
            <a:avLst/>
          </a:prstGeom>
          <a:noFill/>
        </p:spPr>
        <p:txBody>
          <a:bodyPr wrap="squar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该客户致力于跨境领域的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VOC</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分析服务建设，在本项目开启之前已经通过一次项目合作帮助其建立的基础算法，由于此领域存在大量</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SKU</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品类以及未标注数据（某些品类下仅有十几条甚至几条标注数据），故希望探索少量标注下的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ABSA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性能极限。</a:t>
            </a:r>
          </a:p>
        </p:txBody>
      </p:sp>
      <p:sp>
        <p:nvSpPr>
          <p:cNvPr id="6" name="文本框 5">
            <a:extLst>
              <a:ext uri="{FF2B5EF4-FFF2-40B4-BE49-F238E27FC236}">
                <a16:creationId xmlns:a16="http://schemas.microsoft.com/office/drawing/2014/main" id="{09DCB32C-5CCE-1FF7-C79E-7D8A412B83C2}"/>
              </a:ext>
            </a:extLst>
          </p:cNvPr>
          <p:cNvSpPr txBox="1"/>
          <p:nvPr/>
        </p:nvSpPr>
        <p:spPr>
          <a:xfrm>
            <a:off x="773722" y="4317495"/>
            <a:ext cx="3877985"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问题定义以及做法</a:t>
            </a:r>
          </a:p>
        </p:txBody>
      </p:sp>
      <p:sp>
        <p:nvSpPr>
          <p:cNvPr id="7" name="文本框 6">
            <a:extLst>
              <a:ext uri="{FF2B5EF4-FFF2-40B4-BE49-F238E27FC236}">
                <a16:creationId xmlns:a16="http://schemas.microsoft.com/office/drawing/2014/main" id="{E6ABE4C7-89EE-0F5B-EED4-216094B909A0}"/>
              </a:ext>
            </a:extLst>
          </p:cNvPr>
          <p:cNvSpPr txBox="1"/>
          <p:nvPr/>
        </p:nvSpPr>
        <p:spPr>
          <a:xfrm>
            <a:off x="1297366" y="5082484"/>
            <a:ext cx="12820568" cy="1877437"/>
          </a:xfrm>
          <a:prstGeom prst="rect">
            <a:avLst/>
          </a:prstGeom>
          <a:noFill/>
        </p:spPr>
        <p:txBody>
          <a:bodyPr wrap="squar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小样本场景下的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ABSA</a:t>
            </a: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使用</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G-ABSA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NLG</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模型，</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ACL</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2021</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）作为基础模型，进一步引入</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prompt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learning</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辅助小样本训练</a:t>
            </a:r>
          </a:p>
        </p:txBody>
      </p:sp>
    </p:spTree>
    <p:extLst>
      <p:ext uri="{BB962C8B-B14F-4D97-AF65-F5344CB8AC3E}">
        <p14:creationId xmlns:p14="http://schemas.microsoft.com/office/powerpoint/2010/main" val="33576214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CA3AE8-3CEE-AA11-D8A9-AEC04A3CF99F}"/>
              </a:ext>
            </a:extLst>
          </p:cNvPr>
          <p:cNvSpPr txBox="1"/>
          <p:nvPr/>
        </p:nvSpPr>
        <p:spPr>
          <a:xfrm>
            <a:off x="539261" y="433754"/>
            <a:ext cx="8747908" cy="646331"/>
          </a:xfrm>
          <a:prstGeom prst="rect">
            <a:avLst/>
          </a:prstGeom>
          <a:noFill/>
        </p:spPr>
        <p:txBody>
          <a:bodyPr wrap="none" rtlCol="0">
            <a:spAutoFit/>
          </a:bodyPr>
          <a:lstStyle/>
          <a:p>
            <a:pPr algn="l"/>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某跨境电商公司</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小样本场景下的</a:t>
            </a:r>
            <a:r>
              <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rPr>
              <a:t>ABSA</a:t>
            </a:r>
            <a:endPar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3" name="文本框 2">
            <a:extLst>
              <a:ext uri="{FF2B5EF4-FFF2-40B4-BE49-F238E27FC236}">
                <a16:creationId xmlns:a16="http://schemas.microsoft.com/office/drawing/2014/main" id="{ED1EF45A-C99D-26B7-5AC6-F3FF1C47A15D}"/>
              </a:ext>
            </a:extLst>
          </p:cNvPr>
          <p:cNvSpPr txBox="1"/>
          <p:nvPr/>
        </p:nvSpPr>
        <p:spPr>
          <a:xfrm>
            <a:off x="981851" y="1145506"/>
            <a:ext cx="9469259" cy="538609"/>
          </a:xfrm>
          <a:prstGeom prst="rect">
            <a:avLst/>
          </a:prstGeom>
          <a:noFill/>
        </p:spPr>
        <p:txBody>
          <a:bodyPr wrap="none" rtlCol="0">
            <a:spAutoFit/>
          </a:bodyPr>
          <a:lstStyle/>
          <a:p>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Input: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food</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delicious,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but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service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not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good.</a:t>
            </a:r>
            <a:endParaRPr kumimoji="1" lang="zh-CN" altLang="en-US" sz="29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圆角矩形 5">
            <a:extLst>
              <a:ext uri="{FF2B5EF4-FFF2-40B4-BE49-F238E27FC236}">
                <a16:creationId xmlns:a16="http://schemas.microsoft.com/office/drawing/2014/main" id="{1B53FEB2-9B9E-139F-7A61-B0CE806B524E}"/>
              </a:ext>
            </a:extLst>
          </p:cNvPr>
          <p:cNvSpPr/>
          <p:nvPr/>
        </p:nvSpPr>
        <p:spPr>
          <a:xfrm>
            <a:off x="2766349" y="2164464"/>
            <a:ext cx="5370654" cy="129636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t>G-ABSA</a:t>
            </a:r>
            <a:endParaRPr kumimoji="1" lang="zh-CN" altLang="en-US" dirty="0"/>
          </a:p>
        </p:txBody>
      </p:sp>
      <p:sp>
        <p:nvSpPr>
          <p:cNvPr id="7" name="下箭头 6">
            <a:extLst>
              <a:ext uri="{FF2B5EF4-FFF2-40B4-BE49-F238E27FC236}">
                <a16:creationId xmlns:a16="http://schemas.microsoft.com/office/drawing/2014/main" id="{A387DB48-C7B8-509D-D4A2-A02501B6B739}"/>
              </a:ext>
            </a:extLst>
          </p:cNvPr>
          <p:cNvSpPr/>
          <p:nvPr/>
        </p:nvSpPr>
        <p:spPr>
          <a:xfrm>
            <a:off x="5359078" y="1742374"/>
            <a:ext cx="405114" cy="422090"/>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8" name="下箭头 7">
            <a:extLst>
              <a:ext uri="{FF2B5EF4-FFF2-40B4-BE49-F238E27FC236}">
                <a16:creationId xmlns:a16="http://schemas.microsoft.com/office/drawing/2014/main" id="{D0EE44BB-DD0D-1EA9-3F4C-BB36C806B973}"/>
              </a:ext>
            </a:extLst>
          </p:cNvPr>
          <p:cNvSpPr/>
          <p:nvPr/>
        </p:nvSpPr>
        <p:spPr>
          <a:xfrm>
            <a:off x="5359078" y="3460829"/>
            <a:ext cx="405114" cy="422090"/>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9" name="文本框 8">
            <a:extLst>
              <a:ext uri="{FF2B5EF4-FFF2-40B4-BE49-F238E27FC236}">
                <a16:creationId xmlns:a16="http://schemas.microsoft.com/office/drawing/2014/main" id="{9169F3E9-44E3-FE65-025C-927384C1DB9E}"/>
              </a:ext>
            </a:extLst>
          </p:cNvPr>
          <p:cNvSpPr txBox="1"/>
          <p:nvPr/>
        </p:nvSpPr>
        <p:spPr>
          <a:xfrm>
            <a:off x="995423" y="3854369"/>
            <a:ext cx="10993715"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Output: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[(food,</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delicious,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positive),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(service,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not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good,</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negative)]</a:t>
            </a:r>
          </a:p>
        </p:txBody>
      </p:sp>
      <p:sp>
        <p:nvSpPr>
          <p:cNvPr id="10" name="文本框 9">
            <a:extLst>
              <a:ext uri="{FF2B5EF4-FFF2-40B4-BE49-F238E27FC236}">
                <a16:creationId xmlns:a16="http://schemas.microsoft.com/office/drawing/2014/main" id="{5711A284-ECCF-85DD-27EF-381962F3E555}"/>
              </a:ext>
            </a:extLst>
          </p:cNvPr>
          <p:cNvSpPr txBox="1"/>
          <p:nvPr/>
        </p:nvSpPr>
        <p:spPr>
          <a:xfrm>
            <a:off x="9815332" y="2488556"/>
            <a:ext cx="3986989" cy="538609"/>
          </a:xfrm>
          <a:prstGeom prst="rect">
            <a:avLst/>
          </a:prstGeom>
          <a:noFill/>
        </p:spPr>
        <p:txBody>
          <a:bodyPr wrap="none" rtlCol="0">
            <a:spAutoFit/>
          </a:bodyPr>
          <a:lstStyle/>
          <a:p>
            <a:pPr algn="l"/>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小样本下仅有</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32%</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的</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F1</a:t>
            </a:r>
            <a:endParaRPr kumimoji="1" lang="zh-CN" altLang="en-US" sz="2900" dirty="0" err="1">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文本框 10">
            <a:extLst>
              <a:ext uri="{FF2B5EF4-FFF2-40B4-BE49-F238E27FC236}">
                <a16:creationId xmlns:a16="http://schemas.microsoft.com/office/drawing/2014/main" id="{4444B4A9-D00F-4A43-638B-279F923B2038}"/>
              </a:ext>
            </a:extLst>
          </p:cNvPr>
          <p:cNvSpPr txBox="1"/>
          <p:nvPr/>
        </p:nvSpPr>
        <p:spPr>
          <a:xfrm>
            <a:off x="1037728" y="4404553"/>
            <a:ext cx="9469259" cy="538609"/>
          </a:xfrm>
          <a:prstGeom prst="rect">
            <a:avLst/>
          </a:prstGeom>
          <a:noFill/>
        </p:spPr>
        <p:txBody>
          <a:bodyPr wrap="none" rtlCol="0">
            <a:spAutoFit/>
          </a:bodyPr>
          <a:lstStyle/>
          <a:p>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Input: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food</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delicious,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but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service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not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good.</a:t>
            </a:r>
            <a:endParaRPr kumimoji="1" lang="zh-CN" altLang="en-US" sz="29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12" name="圆角矩形 11">
            <a:extLst>
              <a:ext uri="{FF2B5EF4-FFF2-40B4-BE49-F238E27FC236}">
                <a16:creationId xmlns:a16="http://schemas.microsoft.com/office/drawing/2014/main" id="{8AB37862-BD20-69C8-CC36-CF3501D4E863}"/>
              </a:ext>
            </a:extLst>
          </p:cNvPr>
          <p:cNvSpPr/>
          <p:nvPr/>
        </p:nvSpPr>
        <p:spPr>
          <a:xfrm>
            <a:off x="2822226" y="5423511"/>
            <a:ext cx="5370654" cy="129636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en-US" altLang="zh-CN" dirty="0"/>
              <a:t>G-ABSA</a:t>
            </a:r>
            <a:endParaRPr kumimoji="1" lang="zh-CN" altLang="en-US" dirty="0"/>
          </a:p>
        </p:txBody>
      </p:sp>
      <p:sp>
        <p:nvSpPr>
          <p:cNvPr id="13" name="下箭头 12">
            <a:extLst>
              <a:ext uri="{FF2B5EF4-FFF2-40B4-BE49-F238E27FC236}">
                <a16:creationId xmlns:a16="http://schemas.microsoft.com/office/drawing/2014/main" id="{BA64FC61-55CD-6FEA-11D7-73FBB22707DE}"/>
              </a:ext>
            </a:extLst>
          </p:cNvPr>
          <p:cNvSpPr/>
          <p:nvPr/>
        </p:nvSpPr>
        <p:spPr>
          <a:xfrm>
            <a:off x="5414955" y="5001421"/>
            <a:ext cx="405114" cy="422090"/>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4" name="下箭头 13">
            <a:extLst>
              <a:ext uri="{FF2B5EF4-FFF2-40B4-BE49-F238E27FC236}">
                <a16:creationId xmlns:a16="http://schemas.microsoft.com/office/drawing/2014/main" id="{62BB0033-5DC0-53DE-4853-A49C5F86DE51}"/>
              </a:ext>
            </a:extLst>
          </p:cNvPr>
          <p:cNvSpPr/>
          <p:nvPr/>
        </p:nvSpPr>
        <p:spPr>
          <a:xfrm>
            <a:off x="5414955" y="6719876"/>
            <a:ext cx="405114" cy="422090"/>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952F2552-DFEF-6514-DF36-1871B79EAB11}"/>
              </a:ext>
            </a:extLst>
          </p:cNvPr>
          <p:cNvSpPr txBox="1"/>
          <p:nvPr/>
        </p:nvSpPr>
        <p:spPr>
          <a:xfrm>
            <a:off x="1051300" y="7113416"/>
            <a:ext cx="9220153" cy="984885"/>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Output: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food</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positive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because</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it</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delicious;</a:t>
            </a:r>
          </a:p>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The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service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negative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because</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it</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is</a:t>
            </a:r>
            <a:r>
              <a:rPr kumimoji="1" lang="zh-CN" altLang="en-US" sz="2900"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not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good</a:t>
            </a:r>
          </a:p>
        </p:txBody>
      </p:sp>
      <p:sp>
        <p:nvSpPr>
          <p:cNvPr id="16" name="文本框 15">
            <a:extLst>
              <a:ext uri="{FF2B5EF4-FFF2-40B4-BE49-F238E27FC236}">
                <a16:creationId xmlns:a16="http://schemas.microsoft.com/office/drawing/2014/main" id="{6B342B6A-F338-FC81-F664-B47C8FAA5B31}"/>
              </a:ext>
            </a:extLst>
          </p:cNvPr>
          <p:cNvSpPr txBox="1"/>
          <p:nvPr/>
        </p:nvSpPr>
        <p:spPr>
          <a:xfrm>
            <a:off x="9871209" y="5747603"/>
            <a:ext cx="3986989" cy="538609"/>
          </a:xfrm>
          <a:prstGeom prst="rect">
            <a:avLst/>
          </a:prstGeom>
          <a:noFill/>
        </p:spPr>
        <p:txBody>
          <a:bodyPr wrap="none" rtlCol="0">
            <a:spAutoFit/>
          </a:bodyPr>
          <a:lstStyle/>
          <a:p>
            <a:pPr algn="l"/>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小样本下达到</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47%</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的</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F1</a:t>
            </a:r>
            <a:endParaRPr kumimoji="1" lang="zh-CN" altLang="en-US" sz="2900" dirty="0" err="1">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7" name="圆角矩形 16">
            <a:extLst>
              <a:ext uri="{FF2B5EF4-FFF2-40B4-BE49-F238E27FC236}">
                <a16:creationId xmlns:a16="http://schemas.microsoft.com/office/drawing/2014/main" id="{E03E6AC0-9681-8302-DABD-3F8FC1B645A8}"/>
              </a:ext>
            </a:extLst>
          </p:cNvPr>
          <p:cNvSpPr/>
          <p:nvPr/>
        </p:nvSpPr>
        <p:spPr>
          <a:xfrm>
            <a:off x="731133" y="1122741"/>
            <a:ext cx="13332107" cy="3344435"/>
          </a:xfrm>
          <a:prstGeom prst="roundRect">
            <a:avLst/>
          </a:prstGeom>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zh-CN" altLang="en-US" dirty="0"/>
          </a:p>
        </p:txBody>
      </p:sp>
      <p:sp>
        <p:nvSpPr>
          <p:cNvPr id="18" name="文本框 17">
            <a:extLst>
              <a:ext uri="{FF2B5EF4-FFF2-40B4-BE49-F238E27FC236}">
                <a16:creationId xmlns:a16="http://schemas.microsoft.com/office/drawing/2014/main" id="{D79DE45A-435C-CA1C-78BF-52633D641BAA}"/>
              </a:ext>
            </a:extLst>
          </p:cNvPr>
          <p:cNvSpPr txBox="1"/>
          <p:nvPr/>
        </p:nvSpPr>
        <p:spPr>
          <a:xfrm>
            <a:off x="10972208" y="1163254"/>
            <a:ext cx="2618024" cy="538609"/>
          </a:xfrm>
          <a:prstGeom prst="rect">
            <a:avLst/>
          </a:prstGeom>
          <a:noFill/>
        </p:spPr>
        <p:txBody>
          <a:bodyPr wrap="none" rtlCol="0">
            <a:spAutoFit/>
          </a:bodyPr>
          <a:lstStyle/>
          <a:p>
            <a:pPr algn="l"/>
            <a:r>
              <a:rPr kumimoji="1" lang="zh-CN" altLang="en-US" sz="2900" b="1"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不使用</a:t>
            </a:r>
            <a:r>
              <a:rPr kumimoji="1" lang="en-US" altLang="zh-CN" sz="2900" b="1"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prompt</a:t>
            </a:r>
            <a:endParaRPr kumimoji="1" lang="zh-CN" altLang="en-US" sz="2900" b="1" dirty="0" err="1">
              <a:solidFill>
                <a:srgbClr val="FFFF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19" name="圆角矩形 18">
            <a:extLst>
              <a:ext uri="{FF2B5EF4-FFF2-40B4-BE49-F238E27FC236}">
                <a16:creationId xmlns:a16="http://schemas.microsoft.com/office/drawing/2014/main" id="{A98911AD-0AB1-A530-463E-B4E33F3C2C0D}"/>
              </a:ext>
            </a:extLst>
          </p:cNvPr>
          <p:cNvSpPr/>
          <p:nvPr/>
        </p:nvSpPr>
        <p:spPr>
          <a:xfrm>
            <a:off x="722207" y="4507689"/>
            <a:ext cx="13341033" cy="3590612"/>
          </a:xfrm>
          <a:prstGeom prst="roundRect">
            <a:avLst/>
          </a:prstGeom>
          <a:noFill/>
          <a:ln/>
        </p:spPr>
        <p:style>
          <a:lnRef idx="2">
            <a:schemeClr val="accent3"/>
          </a:lnRef>
          <a:fillRef idx="1">
            <a:schemeClr val="lt1"/>
          </a:fillRef>
          <a:effectRef idx="0">
            <a:schemeClr val="accent3"/>
          </a:effectRef>
          <a:fontRef idx="minor">
            <a:schemeClr val="dk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7BFAD0C5-D0A8-3380-5CBD-DBEE70EA73E0}"/>
              </a:ext>
            </a:extLst>
          </p:cNvPr>
          <p:cNvSpPr txBox="1"/>
          <p:nvPr/>
        </p:nvSpPr>
        <p:spPr>
          <a:xfrm>
            <a:off x="10985120" y="4649163"/>
            <a:ext cx="2246128" cy="538609"/>
          </a:xfrm>
          <a:prstGeom prst="rect">
            <a:avLst/>
          </a:prstGeom>
          <a:noFill/>
        </p:spPr>
        <p:txBody>
          <a:bodyPr wrap="none" rtlCol="0">
            <a:spAutoFit/>
          </a:bodyPr>
          <a:lstStyle/>
          <a:p>
            <a:pPr algn="l"/>
            <a:r>
              <a:rPr kumimoji="1" lang="zh-CN" altLang="en-US" sz="2900" b="1"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使用</a:t>
            </a:r>
            <a:r>
              <a:rPr kumimoji="1" lang="en-US" altLang="zh-CN" sz="2900" b="1" dirty="0">
                <a:solidFill>
                  <a:srgbClr val="FFFF00"/>
                </a:solidFill>
                <a:latin typeface="Amazon Ember" panose="020B0603020204020204" pitchFamily="34" charset="0"/>
                <a:ea typeface="Amazon Ember" panose="020B0603020204020204" pitchFamily="34" charset="0"/>
                <a:cs typeface="Amazon Ember" panose="020B0603020204020204" pitchFamily="34" charset="0"/>
              </a:rPr>
              <a:t>prompt</a:t>
            </a:r>
            <a:endParaRPr kumimoji="1" lang="zh-CN" altLang="en-US" sz="2900" b="1" dirty="0" err="1">
              <a:solidFill>
                <a:srgbClr val="FFFF00"/>
              </a:solidFill>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1088768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264687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展现形态</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5288735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6CA3AE8-3CEE-AA11-D8A9-AEC04A3CF99F}"/>
              </a:ext>
            </a:extLst>
          </p:cNvPr>
          <p:cNvSpPr txBox="1"/>
          <p:nvPr/>
        </p:nvSpPr>
        <p:spPr>
          <a:xfrm>
            <a:off x="187569" y="189171"/>
            <a:ext cx="2031325" cy="646331"/>
          </a:xfrm>
          <a:prstGeom prst="rect">
            <a:avLst/>
          </a:prstGeom>
          <a:noFill/>
        </p:spPr>
        <p:txBody>
          <a:bodyPr wrap="none" rtlCol="0">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最终形态</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graphicFrame>
        <p:nvGraphicFramePr>
          <p:cNvPr id="2" name="Table 3">
            <a:extLst>
              <a:ext uri="{FF2B5EF4-FFF2-40B4-BE49-F238E27FC236}">
                <a16:creationId xmlns:a16="http://schemas.microsoft.com/office/drawing/2014/main" id="{FE86EA9B-5EE4-8D01-4116-207FD4D3F5A7}"/>
              </a:ext>
            </a:extLst>
          </p:cNvPr>
          <p:cNvGraphicFramePr>
            <a:graphicFrameLocks noGrp="1"/>
          </p:cNvGraphicFramePr>
          <p:nvPr>
            <p:extLst>
              <p:ext uri="{D42A27DB-BD31-4B8C-83A1-F6EECF244321}">
                <p14:modId xmlns:p14="http://schemas.microsoft.com/office/powerpoint/2010/main" val="346335395"/>
              </p:ext>
            </p:extLst>
          </p:nvPr>
        </p:nvGraphicFramePr>
        <p:xfrm>
          <a:off x="133741" y="5290874"/>
          <a:ext cx="9043140" cy="1895176"/>
        </p:xfrm>
        <a:graphic>
          <a:graphicData uri="http://schemas.openxmlformats.org/drawingml/2006/table">
            <a:tbl>
              <a:tblPr firstRow="1" firstCol="1">
                <a:tableStyleId>{5C22544A-7EE6-4342-B048-85BDC9FD1C3A}</a:tableStyleId>
              </a:tblPr>
              <a:tblGrid>
                <a:gridCol w="4975004">
                  <a:extLst>
                    <a:ext uri="{9D8B030D-6E8A-4147-A177-3AD203B41FA5}">
                      <a16:colId xmlns:a16="http://schemas.microsoft.com/office/drawing/2014/main" val="631536324"/>
                    </a:ext>
                  </a:extLst>
                </a:gridCol>
                <a:gridCol w="860269">
                  <a:extLst>
                    <a:ext uri="{9D8B030D-6E8A-4147-A177-3AD203B41FA5}">
                      <a16:colId xmlns:a16="http://schemas.microsoft.com/office/drawing/2014/main" val="3202263801"/>
                    </a:ext>
                  </a:extLst>
                </a:gridCol>
                <a:gridCol w="1066643">
                  <a:extLst>
                    <a:ext uri="{9D8B030D-6E8A-4147-A177-3AD203B41FA5}">
                      <a16:colId xmlns:a16="http://schemas.microsoft.com/office/drawing/2014/main" val="3074406694"/>
                    </a:ext>
                  </a:extLst>
                </a:gridCol>
                <a:gridCol w="920593">
                  <a:extLst>
                    <a:ext uri="{9D8B030D-6E8A-4147-A177-3AD203B41FA5}">
                      <a16:colId xmlns:a16="http://schemas.microsoft.com/office/drawing/2014/main" val="2225310914"/>
                    </a:ext>
                  </a:extLst>
                </a:gridCol>
                <a:gridCol w="1220631">
                  <a:extLst>
                    <a:ext uri="{9D8B030D-6E8A-4147-A177-3AD203B41FA5}">
                      <a16:colId xmlns:a16="http://schemas.microsoft.com/office/drawing/2014/main" val="61228600"/>
                    </a:ext>
                  </a:extLst>
                </a:gridCol>
              </a:tblGrid>
              <a:tr h="313221">
                <a:tc>
                  <a:txBody>
                    <a:bodyPr/>
                    <a:lstStyle/>
                    <a:p>
                      <a:pPr algn="ctr" fontAlgn="t"/>
                      <a:r>
                        <a:rPr lang="en-US" sz="1000" b="0" u="none" strike="noStrike" dirty="0" err="1">
                          <a:effectLst/>
                          <a:latin typeface="+mj-lt"/>
                        </a:rPr>
                        <a:t>recommendReason</a:t>
                      </a:r>
                      <a:endParaRPr lang="en-US" sz="1000" b="0" i="0" u="none" strike="noStrike" dirty="0">
                        <a:solidFill>
                          <a:srgbClr val="000000"/>
                        </a:solidFill>
                        <a:effectLst/>
                        <a:latin typeface="+mj-lt"/>
                      </a:endParaRPr>
                    </a:p>
                  </a:txBody>
                  <a:tcPr marL="8653" marR="8653" marT="8653" marB="0"/>
                </a:tc>
                <a:tc>
                  <a:txBody>
                    <a:bodyPr/>
                    <a:lstStyle/>
                    <a:p>
                      <a:pPr algn="ctr" fontAlgn="t"/>
                      <a:r>
                        <a:rPr lang="en-US" sz="1000" b="0" u="none" strike="noStrike">
                          <a:effectLst/>
                          <a:latin typeface="+mj-lt"/>
                        </a:rPr>
                        <a:t>first_target</a:t>
                      </a:r>
                      <a:endParaRPr lang="en-US" sz="1000" b="0" i="0" u="none" strike="noStrike">
                        <a:solidFill>
                          <a:srgbClr val="000000"/>
                        </a:solidFill>
                        <a:effectLst/>
                        <a:latin typeface="+mj-lt"/>
                      </a:endParaRPr>
                    </a:p>
                  </a:txBody>
                  <a:tcPr marL="8653" marR="8653" marT="8653" marB="0"/>
                </a:tc>
                <a:tc>
                  <a:txBody>
                    <a:bodyPr/>
                    <a:lstStyle/>
                    <a:p>
                      <a:pPr algn="ctr" fontAlgn="t"/>
                      <a:r>
                        <a:rPr lang="en-US" sz="1000" b="0" u="none" strike="noStrike">
                          <a:effectLst/>
                          <a:latin typeface="+mj-lt"/>
                        </a:rPr>
                        <a:t>second_target</a:t>
                      </a:r>
                      <a:endParaRPr lang="en-US" sz="1000" b="0" i="0" u="none" strike="noStrike">
                        <a:solidFill>
                          <a:srgbClr val="000000"/>
                        </a:solidFill>
                        <a:effectLst/>
                        <a:latin typeface="+mj-lt"/>
                      </a:endParaRPr>
                    </a:p>
                  </a:txBody>
                  <a:tcPr marL="8653" marR="8653" marT="8653" marB="0"/>
                </a:tc>
                <a:tc>
                  <a:txBody>
                    <a:bodyPr/>
                    <a:lstStyle/>
                    <a:p>
                      <a:pPr algn="ctr" fontAlgn="t"/>
                      <a:r>
                        <a:rPr lang="en-US" sz="1000" b="0" u="none" strike="noStrike" dirty="0" err="1">
                          <a:effectLst/>
                          <a:latin typeface="+mj-lt"/>
                        </a:rPr>
                        <a:t>third_target</a:t>
                      </a:r>
                      <a:endParaRPr lang="en-US" sz="1000" b="0" i="0" u="none" strike="noStrike" dirty="0">
                        <a:solidFill>
                          <a:srgbClr val="000000"/>
                        </a:solidFill>
                        <a:effectLst/>
                        <a:latin typeface="+mj-lt"/>
                      </a:endParaRPr>
                    </a:p>
                  </a:txBody>
                  <a:tcPr marL="8653" marR="8653" marT="8653" marB="0"/>
                </a:tc>
                <a:tc>
                  <a:txBody>
                    <a:bodyPr/>
                    <a:lstStyle/>
                    <a:p>
                      <a:pPr algn="ctr" fontAlgn="t"/>
                      <a:r>
                        <a:rPr lang="en-US" sz="1000" b="0" u="none" strike="noStrike" dirty="0" err="1">
                          <a:effectLst/>
                          <a:latin typeface="+mj-lt"/>
                        </a:rPr>
                        <a:t>feedback_target</a:t>
                      </a:r>
                      <a:endParaRPr lang="en-US" sz="1000" b="0" i="0" u="none" strike="noStrike" dirty="0">
                        <a:solidFill>
                          <a:srgbClr val="000000"/>
                        </a:solidFill>
                        <a:effectLst/>
                        <a:latin typeface="+mj-lt"/>
                      </a:endParaRPr>
                    </a:p>
                  </a:txBody>
                  <a:tcPr marL="8653" marR="8653" marT="8653" marB="0"/>
                </a:tc>
                <a:extLst>
                  <a:ext uri="{0D108BD9-81ED-4DB2-BD59-A6C34878D82A}">
                    <a16:rowId xmlns:a16="http://schemas.microsoft.com/office/drawing/2014/main" val="331038335"/>
                  </a:ext>
                </a:extLst>
              </a:tr>
              <a:tr h="418434">
                <a:tc>
                  <a:txBody>
                    <a:bodyPr/>
                    <a:lstStyle/>
                    <a:p>
                      <a:pPr algn="l" fontAlgn="b"/>
                      <a:r>
                        <a:rPr lang="zh-CN" altLang="en-US" sz="1000" b="0" u="none" strike="noStrike" dirty="0">
                          <a:effectLst/>
                          <a:latin typeface="+mj-lt"/>
                        </a:rPr>
                        <a:t>更新的很多，就是希望出一些抖音快手小红书什么的或者微博就更好了不希望再出一些现在手机的游戏最好弄一个不用绑定就可以下载的</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产品体验</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绑定解绑</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绑定速度</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正面</a:t>
                      </a:r>
                      <a:endParaRPr lang="zh-CN" altLang="en-US" sz="1000" b="0" i="0" u="none" strike="noStrike" dirty="0">
                        <a:solidFill>
                          <a:srgbClr val="000000"/>
                        </a:solidFill>
                        <a:effectLst/>
                        <a:latin typeface="+mj-lt"/>
                      </a:endParaRPr>
                    </a:p>
                  </a:txBody>
                  <a:tcPr marL="8653" marR="8653" marT="8653" marB="0" anchor="b"/>
                </a:tc>
                <a:extLst>
                  <a:ext uri="{0D108BD9-81ED-4DB2-BD59-A6C34878D82A}">
                    <a16:rowId xmlns:a16="http://schemas.microsoft.com/office/drawing/2014/main" val="3715130487"/>
                  </a:ext>
                </a:extLst>
              </a:tr>
              <a:tr h="415636">
                <a:tc>
                  <a:txBody>
                    <a:bodyPr/>
                    <a:lstStyle/>
                    <a:p>
                      <a:pPr algn="l" fontAlgn="b"/>
                      <a:r>
                        <a:rPr lang="zh-CN" altLang="en-US" sz="1000" b="0" u="none" strike="noStrike" dirty="0">
                          <a:effectLst/>
                          <a:latin typeface="+mj-lt"/>
                        </a:rPr>
                        <a:t>我第一个选九是因为在小天才手表上支付宝上并没有出现条形码所以绑定不了这是令我十分苦恼的但我还是愿意给你们一个九分希望你们再接再厉</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产品体验</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绑定解绑</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绑定体验</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正面</a:t>
                      </a:r>
                      <a:endParaRPr lang="zh-CN" altLang="en-US" sz="1000" b="0" i="0" u="none" strike="noStrike" dirty="0">
                        <a:solidFill>
                          <a:srgbClr val="000000"/>
                        </a:solidFill>
                        <a:effectLst/>
                        <a:latin typeface="+mj-lt"/>
                      </a:endParaRPr>
                    </a:p>
                  </a:txBody>
                  <a:tcPr marL="8653" marR="8653" marT="8653" marB="0" anchor="b"/>
                </a:tc>
                <a:extLst>
                  <a:ext uri="{0D108BD9-81ED-4DB2-BD59-A6C34878D82A}">
                    <a16:rowId xmlns:a16="http://schemas.microsoft.com/office/drawing/2014/main" val="1222031555"/>
                  </a:ext>
                </a:extLst>
              </a:tr>
              <a:tr h="233629">
                <a:tc>
                  <a:txBody>
                    <a:bodyPr/>
                    <a:lstStyle/>
                    <a:p>
                      <a:pPr algn="l" fontAlgn="b"/>
                      <a:r>
                        <a:rPr lang="zh-CN" altLang="en-US" sz="1000" b="0" u="none" strike="noStrike" dirty="0">
                          <a:effectLst/>
                          <a:latin typeface="+mj-lt"/>
                        </a:rPr>
                        <a:t>我希望电池别老漏电</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产品体验</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安全性</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电气安全</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负面</a:t>
                      </a:r>
                      <a:endParaRPr lang="zh-CN" altLang="en-US" sz="1000" b="0" i="0" u="none" strike="noStrike">
                        <a:solidFill>
                          <a:srgbClr val="000000"/>
                        </a:solidFill>
                        <a:effectLst/>
                        <a:latin typeface="+mj-lt"/>
                      </a:endParaRPr>
                    </a:p>
                  </a:txBody>
                  <a:tcPr marL="8653" marR="8653" marT="8653" marB="0" anchor="b"/>
                </a:tc>
                <a:extLst>
                  <a:ext uri="{0D108BD9-81ED-4DB2-BD59-A6C34878D82A}">
                    <a16:rowId xmlns:a16="http://schemas.microsoft.com/office/drawing/2014/main" val="3097421990"/>
                  </a:ext>
                </a:extLst>
              </a:tr>
              <a:tr h="239063">
                <a:tc>
                  <a:txBody>
                    <a:bodyPr/>
                    <a:lstStyle/>
                    <a:p>
                      <a:pPr algn="l" fontAlgn="b"/>
                      <a:r>
                        <a:rPr lang="zh-CN" altLang="en-US" sz="1000" b="0" u="none" strike="noStrike">
                          <a:effectLst/>
                          <a:latin typeface="+mj-lt"/>
                        </a:rPr>
                        <a:t>偶尔会黑屏点亮不起来有时候还会自动关机重启</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产品体验</a:t>
                      </a:r>
                      <a:endParaRPr lang="zh-CN" altLang="en-US" sz="1000" b="0" i="0" u="none" strike="noStrike" dirty="0">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系统稳定性</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重启</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负面</a:t>
                      </a:r>
                      <a:endParaRPr lang="zh-CN" altLang="en-US" sz="1000" b="0" i="0" u="none" strike="noStrike">
                        <a:solidFill>
                          <a:srgbClr val="000000"/>
                        </a:solidFill>
                        <a:effectLst/>
                        <a:latin typeface="+mj-lt"/>
                      </a:endParaRPr>
                    </a:p>
                  </a:txBody>
                  <a:tcPr marL="8653" marR="8653" marT="8653" marB="0" anchor="b"/>
                </a:tc>
                <a:extLst>
                  <a:ext uri="{0D108BD9-81ED-4DB2-BD59-A6C34878D82A}">
                    <a16:rowId xmlns:a16="http://schemas.microsoft.com/office/drawing/2014/main" val="1515327000"/>
                  </a:ext>
                </a:extLst>
              </a:tr>
              <a:tr h="275193">
                <a:tc>
                  <a:txBody>
                    <a:bodyPr/>
                    <a:lstStyle/>
                    <a:p>
                      <a:pPr algn="l" fontAlgn="b"/>
                      <a:r>
                        <a:rPr lang="zh-CN" altLang="en-US" sz="1000" b="0" u="none" strike="noStrike">
                          <a:effectLst/>
                          <a:latin typeface="+mj-lt"/>
                        </a:rPr>
                        <a:t>可以排水很方便电话无卡机很顺畅</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产品体验</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系统稳定性</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a:effectLst/>
                          <a:latin typeface="+mj-lt"/>
                        </a:rPr>
                        <a:t>死机</a:t>
                      </a:r>
                      <a:endParaRPr lang="zh-CN" altLang="en-US" sz="1000" b="0" i="0" u="none" strike="noStrike">
                        <a:solidFill>
                          <a:srgbClr val="000000"/>
                        </a:solidFill>
                        <a:effectLst/>
                        <a:latin typeface="+mj-lt"/>
                      </a:endParaRPr>
                    </a:p>
                  </a:txBody>
                  <a:tcPr marL="8653" marR="8653" marT="8653" marB="0" anchor="b"/>
                </a:tc>
                <a:tc>
                  <a:txBody>
                    <a:bodyPr/>
                    <a:lstStyle/>
                    <a:p>
                      <a:pPr algn="l" fontAlgn="b"/>
                      <a:r>
                        <a:rPr lang="zh-CN" altLang="en-US" sz="1000" b="0" u="none" strike="noStrike" dirty="0">
                          <a:effectLst/>
                          <a:latin typeface="+mj-lt"/>
                        </a:rPr>
                        <a:t>正面</a:t>
                      </a:r>
                      <a:endParaRPr lang="zh-CN" altLang="en-US" sz="1000" b="0" i="0" u="none" strike="noStrike" dirty="0">
                        <a:solidFill>
                          <a:srgbClr val="000000"/>
                        </a:solidFill>
                        <a:effectLst/>
                        <a:latin typeface="+mj-lt"/>
                      </a:endParaRPr>
                    </a:p>
                  </a:txBody>
                  <a:tcPr marL="8653" marR="8653" marT="8653" marB="0" anchor="b"/>
                </a:tc>
                <a:extLst>
                  <a:ext uri="{0D108BD9-81ED-4DB2-BD59-A6C34878D82A}">
                    <a16:rowId xmlns:a16="http://schemas.microsoft.com/office/drawing/2014/main" val="4148567560"/>
                  </a:ext>
                </a:extLst>
              </a:tr>
            </a:tbl>
          </a:graphicData>
        </a:graphic>
      </p:graphicFrame>
      <p:pic>
        <p:nvPicPr>
          <p:cNvPr id="4" name="图片 6">
            <a:extLst>
              <a:ext uri="{FF2B5EF4-FFF2-40B4-BE49-F238E27FC236}">
                <a16:creationId xmlns:a16="http://schemas.microsoft.com/office/drawing/2014/main" id="{AE11CDD4-A4E6-28CA-070C-A996DFCC3A35}"/>
              </a:ext>
            </a:extLst>
          </p:cNvPr>
          <p:cNvPicPr>
            <a:picLocks noChangeAspect="1"/>
          </p:cNvPicPr>
          <p:nvPr/>
        </p:nvPicPr>
        <p:blipFill>
          <a:blip r:embed="rId2"/>
          <a:stretch>
            <a:fillRect/>
          </a:stretch>
        </p:blipFill>
        <p:spPr>
          <a:xfrm>
            <a:off x="9176881" y="5160723"/>
            <a:ext cx="5425809" cy="2048153"/>
          </a:xfrm>
          <a:prstGeom prst="rect">
            <a:avLst/>
          </a:prstGeom>
        </p:spPr>
      </p:pic>
      <p:pic>
        <p:nvPicPr>
          <p:cNvPr id="21" name="Picture 6">
            <a:extLst>
              <a:ext uri="{FF2B5EF4-FFF2-40B4-BE49-F238E27FC236}">
                <a16:creationId xmlns:a16="http://schemas.microsoft.com/office/drawing/2014/main" id="{01E65C7F-D66B-2F25-446C-2CBAA1E4BFAA}"/>
              </a:ext>
            </a:extLst>
          </p:cNvPr>
          <p:cNvPicPr>
            <a:picLocks noChangeAspect="1"/>
          </p:cNvPicPr>
          <p:nvPr/>
        </p:nvPicPr>
        <p:blipFill>
          <a:blip r:embed="rId3"/>
          <a:stretch>
            <a:fillRect/>
          </a:stretch>
        </p:blipFill>
        <p:spPr>
          <a:xfrm>
            <a:off x="383879" y="1200597"/>
            <a:ext cx="8793002" cy="4090277"/>
          </a:xfrm>
          <a:prstGeom prst="rect">
            <a:avLst/>
          </a:prstGeom>
        </p:spPr>
      </p:pic>
      <p:pic>
        <p:nvPicPr>
          <p:cNvPr id="22" name="Picture 4">
            <a:extLst>
              <a:ext uri="{FF2B5EF4-FFF2-40B4-BE49-F238E27FC236}">
                <a16:creationId xmlns:a16="http://schemas.microsoft.com/office/drawing/2014/main" id="{8855DD5C-75BD-B5F7-9BC9-A11B2CFA0886}"/>
              </a:ext>
            </a:extLst>
          </p:cNvPr>
          <p:cNvPicPr>
            <a:picLocks noChangeAspect="1"/>
          </p:cNvPicPr>
          <p:nvPr/>
        </p:nvPicPr>
        <p:blipFill>
          <a:blip r:embed="rId4"/>
          <a:stretch>
            <a:fillRect/>
          </a:stretch>
        </p:blipFill>
        <p:spPr>
          <a:xfrm>
            <a:off x="9191860" y="1145167"/>
            <a:ext cx="4586436" cy="4090278"/>
          </a:xfrm>
          <a:prstGeom prst="rect">
            <a:avLst/>
          </a:prstGeom>
        </p:spPr>
      </p:pic>
    </p:spTree>
    <p:extLst>
      <p:ext uri="{BB962C8B-B14F-4D97-AF65-F5344CB8AC3E}">
        <p14:creationId xmlns:p14="http://schemas.microsoft.com/office/powerpoint/2010/main" val="3966498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264687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数据准备</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571664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7E00FBF-9F25-D5A4-F87D-925B5288E042}"/>
              </a:ext>
            </a:extLst>
          </p:cNvPr>
          <p:cNvSpPr/>
          <p:nvPr/>
        </p:nvSpPr>
        <p:spPr>
          <a:xfrm>
            <a:off x="172096" y="173172"/>
            <a:ext cx="7109639" cy="646331"/>
          </a:xfrm>
          <a:prstGeom prst="rect">
            <a:avLst/>
          </a:prstGeom>
        </p:spPr>
        <p:txBody>
          <a:bodyPr wrap="none">
            <a:spAutoFit/>
          </a:bodyPr>
          <a:lstStyle/>
          <a:p>
            <a:r>
              <a:rPr lang="zh-CN" altLang="en-US" sz="3600" b="1" dirty="0"/>
              <a:t>数据集</a:t>
            </a:r>
            <a:r>
              <a:rPr lang="en-US" altLang="zh-CN" sz="3600" b="1" dirty="0"/>
              <a:t>——</a:t>
            </a:r>
            <a:r>
              <a:rPr lang="zh-CN" altLang="en-US" sz="3600" b="1" dirty="0"/>
              <a:t>现有的公开中文数据集</a:t>
            </a:r>
            <a:endParaRPr kumimoji="1" lang="en-US" altLang="zh-CN" sz="44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文本框 3">
            <a:extLst>
              <a:ext uri="{FF2B5EF4-FFF2-40B4-BE49-F238E27FC236}">
                <a16:creationId xmlns:a16="http://schemas.microsoft.com/office/drawing/2014/main" id="{A264B4FC-541A-3B4F-E68D-0B02FABE6C99}"/>
              </a:ext>
            </a:extLst>
          </p:cNvPr>
          <p:cNvSpPr txBox="1"/>
          <p:nvPr/>
        </p:nvSpPr>
        <p:spPr>
          <a:xfrm>
            <a:off x="650630" y="877543"/>
            <a:ext cx="13329139" cy="2985433"/>
          </a:xfrm>
          <a:prstGeom prst="rect">
            <a:avLst/>
          </a:prstGeom>
          <a:noFill/>
        </p:spPr>
        <p:txBody>
          <a:bodyPr wrap="square" rtlCol="0">
            <a:spAutoFit/>
          </a:bodyPr>
          <a:lstStyle/>
          <a:p>
            <a:r>
              <a:rPr lang="zh-CN" altLang="en-US" sz="2400" u="sng" dirty="0">
                <a:hlinkClick r:id="rId2"/>
              </a:rPr>
              <a:t>北大</a:t>
            </a:r>
            <a:endParaRPr lang="en-US" altLang="zh-CN" sz="2400" u="sng" dirty="0">
              <a:hlinkClick r:id="rId2"/>
            </a:endParaRPr>
          </a:p>
          <a:p>
            <a:r>
              <a:rPr lang="en" altLang="zh-CN" sz="2400" u="sng" dirty="0">
                <a:hlinkClick r:id="rId2"/>
              </a:rPr>
              <a:t>https://github.com/NLPBLCU/Chinese-Multi-Target-Sentiment-Classification-Dataset/blob/master/our_data.7z</a:t>
            </a:r>
            <a:r>
              <a:rPr lang="zh-CN" altLang="en-US" sz="2400" u="sng" dirty="0"/>
              <a:t> </a:t>
            </a:r>
            <a:r>
              <a:rPr lang="en-US" altLang="zh-CN" sz="2400" u="sng" dirty="0"/>
              <a:t>2K</a:t>
            </a:r>
            <a:r>
              <a:rPr lang="zh-CN" altLang="en-US" sz="2400" u="sng" dirty="0"/>
              <a:t>条数据，</a:t>
            </a:r>
            <a:r>
              <a:rPr lang="en-US" altLang="zh-CN" sz="2400" u="sng" dirty="0"/>
              <a:t>6K</a:t>
            </a:r>
            <a:r>
              <a:rPr lang="zh-CN" altLang="en-US" sz="2400" u="sng" dirty="0"/>
              <a:t>个</a:t>
            </a:r>
            <a:r>
              <a:rPr lang="en-US" altLang="zh-CN" sz="2400" u="sng" dirty="0"/>
              <a:t>aspect</a:t>
            </a:r>
          </a:p>
          <a:p>
            <a:endParaRPr kumimoji="1" lang="en-US" altLang="zh-CN" sz="2400" u="sng" dirty="0">
              <a:latin typeface="Amazon Ember" panose="020B0603020204020204" pitchFamily="34" charset="0"/>
              <a:ea typeface="Amazon Ember" panose="020B0603020204020204" pitchFamily="34" charset="0"/>
              <a:cs typeface="Amazon Ember" panose="020B0603020204020204" pitchFamily="34" charset="0"/>
            </a:endParaRPr>
          </a:p>
          <a:p>
            <a:r>
              <a:rPr kumimoji="1" lang="zh-CN" altLang="en-US" sz="2400" dirty="0">
                <a:latin typeface="Amazon Ember" panose="020B0603020204020204" pitchFamily="34" charset="0"/>
                <a:ea typeface="Amazon Ember" panose="020B0603020204020204" pitchFamily="34" charset="0"/>
                <a:cs typeface="Amazon Ember" panose="020B0603020204020204" pitchFamily="34" charset="0"/>
                <a:hlinkClick r:id="rId3"/>
              </a:rPr>
              <a:t>美团</a:t>
            </a:r>
            <a:r>
              <a:rPr kumimoji="1" lang="en" altLang="zh-CN" sz="2400" dirty="0">
                <a:latin typeface="Amazon Ember" panose="020B0603020204020204" pitchFamily="34" charset="0"/>
                <a:ea typeface="Amazon Ember" panose="020B0603020204020204" pitchFamily="34" charset="0"/>
                <a:cs typeface="Amazon Ember" panose="020B0603020204020204" pitchFamily="34" charset="0"/>
                <a:hlinkClick r:id="rId3"/>
              </a:rPr>
              <a:t>https://raw.githubusercontent.com/viewlei/fsauor2018/master/src/sentiment_analysis_trainingset_annotations.pdf</a:t>
            </a:r>
            <a:r>
              <a:rPr kumimoji="1" lang="zh-CN" altLang="en-US" sz="2400" dirty="0">
                <a:latin typeface="Amazon Ember" panose="020B0603020204020204" pitchFamily="34" charset="0"/>
                <a:ea typeface="Amazon Ember" panose="020B0603020204020204" pitchFamily="34" charset="0"/>
                <a:cs typeface="Amazon Ember" panose="020B0603020204020204" pitchFamily="34" charset="0"/>
              </a:rPr>
              <a:t>    </a:t>
            </a:r>
            <a:r>
              <a:rPr lang="zh-CN" altLang="en-US" sz="2000" dirty="0"/>
              <a:t>包含</a:t>
            </a:r>
            <a:r>
              <a:rPr lang="en-US" altLang="zh-CN" sz="2000" dirty="0"/>
              <a:t>105000</a:t>
            </a:r>
            <a:r>
              <a:rPr lang="zh-CN" altLang="en-US" sz="2000" dirty="0"/>
              <a:t>条训练样本以及</a:t>
            </a:r>
            <a:r>
              <a:rPr lang="en-US" altLang="zh-CN" sz="2000" dirty="0"/>
              <a:t>15000</a:t>
            </a:r>
            <a:r>
              <a:rPr lang="zh-CN" altLang="en-US" sz="2000" dirty="0"/>
              <a:t>条测试样本 ，两层</a:t>
            </a:r>
            <a:r>
              <a:rPr lang="en-US" altLang="zh-CN" sz="2000" dirty="0"/>
              <a:t>aspect</a:t>
            </a:r>
            <a:r>
              <a:rPr lang="zh-CN" altLang="en-US" sz="2000" dirty="0"/>
              <a:t>共</a:t>
            </a:r>
            <a:r>
              <a:rPr lang="en-US" altLang="zh-CN" sz="2000" dirty="0"/>
              <a:t>20</a:t>
            </a:r>
            <a:r>
              <a:rPr lang="zh-CN" altLang="en-US" sz="2000" dirty="0"/>
              <a:t>种</a:t>
            </a:r>
            <a:r>
              <a:rPr lang="en-US" altLang="zh-CN" sz="2000" dirty="0"/>
              <a:t>aspect,</a:t>
            </a:r>
            <a:r>
              <a:rPr lang="zh-CN" altLang="en-US" sz="2000" dirty="0"/>
              <a:t> 即传统的多分类问题</a:t>
            </a:r>
            <a:endParaRPr kumimoji="1" lang="zh-CN" altLang="en-US" sz="24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1" name="文本框 20">
            <a:extLst>
              <a:ext uri="{FF2B5EF4-FFF2-40B4-BE49-F238E27FC236}">
                <a16:creationId xmlns:a16="http://schemas.microsoft.com/office/drawing/2014/main" id="{4FB33215-AB41-6D11-EF8D-AB2E3321095C}"/>
              </a:ext>
            </a:extLst>
          </p:cNvPr>
          <p:cNvSpPr txBox="1"/>
          <p:nvPr/>
        </p:nvSpPr>
        <p:spPr>
          <a:xfrm>
            <a:off x="-950976" y="3881359"/>
            <a:ext cx="15660056" cy="538609"/>
          </a:xfrm>
          <a:prstGeom prst="rect">
            <a:avLst/>
          </a:prstGeom>
          <a:noFill/>
        </p:spPr>
        <p:txBody>
          <a:bodyPr wrap="none" rtlCol="0">
            <a:spAutoFit/>
          </a:bodyPr>
          <a:lstStyle/>
          <a:p>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理想标注样例</a:t>
            </a:r>
            <a:r>
              <a:rPr kumimoji="1" lang="en-US" altLang="zh-CN" sz="2900" b="1"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b="1"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 </a:t>
            </a:r>
            <a:r>
              <a:rPr lang="en" altLang="zh-CN" b="1" dirty="0"/>
              <a:t>category</a:t>
            </a:r>
            <a:r>
              <a:rPr lang="zh-CN" altLang="en-US" b="1" dirty="0"/>
              <a:t>，</a:t>
            </a:r>
            <a:r>
              <a:rPr lang="en-US" altLang="zh-CN" b="1" dirty="0"/>
              <a:t>opinion</a:t>
            </a:r>
            <a:r>
              <a:rPr lang="zh-CN" altLang="en-US" b="1" dirty="0"/>
              <a:t>，</a:t>
            </a:r>
            <a:r>
              <a:rPr lang="en" altLang="zh-CN" b="1" dirty="0"/>
              <a:t> sentiment</a:t>
            </a:r>
            <a:r>
              <a:rPr lang="zh-CN" altLang="en-US" b="1" dirty="0"/>
              <a:t>，</a:t>
            </a:r>
            <a:r>
              <a:rPr lang="en-US" altLang="zh-CN" b="1" dirty="0"/>
              <a:t>aspect</a:t>
            </a:r>
            <a:r>
              <a:rPr lang="zh-CN" altLang="en-US" b="1" dirty="0"/>
              <a:t> </a:t>
            </a:r>
            <a:r>
              <a:rPr lang="en-US" altLang="zh-CN" b="1" dirty="0" err="1"/>
              <a:t>idx</a:t>
            </a:r>
            <a:r>
              <a:rPr lang="zh-CN" altLang="en-US" b="1" dirty="0"/>
              <a:t>，</a:t>
            </a:r>
            <a:r>
              <a:rPr lang="en-US" altLang="zh-CN" b="1" dirty="0"/>
              <a:t>opinion</a:t>
            </a:r>
            <a:r>
              <a:rPr lang="zh-CN" altLang="en-US" b="1" dirty="0"/>
              <a:t> </a:t>
            </a:r>
            <a:r>
              <a:rPr lang="en-US" altLang="zh-CN" b="1" dirty="0" err="1"/>
              <a:t>idx</a:t>
            </a:r>
            <a:r>
              <a:rPr kumimoji="1" lang="en-US" altLang="zh-CN" sz="2900" b="1"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a:t>
            </a:r>
          </a:p>
        </p:txBody>
      </p:sp>
      <p:sp>
        <p:nvSpPr>
          <p:cNvPr id="22" name="文本框 21">
            <a:extLst>
              <a:ext uri="{FF2B5EF4-FFF2-40B4-BE49-F238E27FC236}">
                <a16:creationId xmlns:a16="http://schemas.microsoft.com/office/drawing/2014/main" id="{3CD73274-2CF9-A561-0191-A7265C0D9611}"/>
              </a:ext>
            </a:extLst>
          </p:cNvPr>
          <p:cNvSpPr txBox="1"/>
          <p:nvPr/>
        </p:nvSpPr>
        <p:spPr>
          <a:xfrm>
            <a:off x="-112392" y="4508945"/>
            <a:ext cx="15111829" cy="1431161"/>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整体很失望，披萨很凉并且芝士没有完全融化。</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披萨</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食物质量</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很凉</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消极</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,(6,8),(8,10)}</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芝士</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食物质量</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没有完全融化</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消极</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,(12,14),(14,20)}</a:t>
            </a:r>
            <a:endParaRPr kumimoji="1" lang="zh-CN" altLang="en-US" sz="29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3" name="图片 22">
            <a:extLst>
              <a:ext uri="{FF2B5EF4-FFF2-40B4-BE49-F238E27FC236}">
                <a16:creationId xmlns:a16="http://schemas.microsoft.com/office/drawing/2014/main" id="{4A67D5C5-4152-B656-8C94-2788E5714720}"/>
              </a:ext>
            </a:extLst>
          </p:cNvPr>
          <p:cNvPicPr>
            <a:picLocks noChangeAspect="1"/>
          </p:cNvPicPr>
          <p:nvPr/>
        </p:nvPicPr>
        <p:blipFill>
          <a:blip r:embed="rId4"/>
          <a:stretch>
            <a:fillRect/>
          </a:stretch>
        </p:blipFill>
        <p:spPr>
          <a:xfrm>
            <a:off x="9153192" y="6346877"/>
            <a:ext cx="3467100" cy="1612900"/>
          </a:xfrm>
          <a:prstGeom prst="rect">
            <a:avLst/>
          </a:prstGeom>
        </p:spPr>
      </p:pic>
      <p:sp>
        <p:nvSpPr>
          <p:cNvPr id="24" name="文本框 23">
            <a:extLst>
              <a:ext uri="{FF2B5EF4-FFF2-40B4-BE49-F238E27FC236}">
                <a16:creationId xmlns:a16="http://schemas.microsoft.com/office/drawing/2014/main" id="{4BED11C1-A856-98B7-3B41-2DED1E873047}"/>
              </a:ext>
            </a:extLst>
          </p:cNvPr>
          <p:cNvSpPr txBox="1"/>
          <p:nvPr/>
        </p:nvSpPr>
        <p:spPr>
          <a:xfrm>
            <a:off x="172096" y="6298387"/>
            <a:ext cx="6135013" cy="538609"/>
          </a:xfrm>
          <a:prstGeom prst="rect">
            <a:avLst/>
          </a:prstGeom>
          <a:noFill/>
        </p:spPr>
        <p:txBody>
          <a:bodyPr wrap="none" rtlCol="0">
            <a:spAutoFit/>
          </a:bodyPr>
          <a:lstStyle/>
          <a:p>
            <a:pPr algn="l"/>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现有英文公开数据集规模以及样例：</a:t>
            </a:r>
          </a:p>
        </p:txBody>
      </p:sp>
      <p:pic>
        <p:nvPicPr>
          <p:cNvPr id="25" name="图片 24">
            <a:extLst>
              <a:ext uri="{FF2B5EF4-FFF2-40B4-BE49-F238E27FC236}">
                <a16:creationId xmlns:a16="http://schemas.microsoft.com/office/drawing/2014/main" id="{DD73BE0C-036D-D6EE-C27C-2C4F9FBB92F5}"/>
              </a:ext>
            </a:extLst>
          </p:cNvPr>
          <p:cNvPicPr>
            <a:picLocks noChangeAspect="1"/>
          </p:cNvPicPr>
          <p:nvPr/>
        </p:nvPicPr>
        <p:blipFill>
          <a:blip r:embed="rId5"/>
          <a:stretch>
            <a:fillRect/>
          </a:stretch>
        </p:blipFill>
        <p:spPr>
          <a:xfrm>
            <a:off x="865885" y="6793257"/>
            <a:ext cx="7302500" cy="1117600"/>
          </a:xfrm>
          <a:prstGeom prst="rect">
            <a:avLst/>
          </a:prstGeom>
        </p:spPr>
      </p:pic>
    </p:spTree>
    <p:extLst>
      <p:ext uri="{BB962C8B-B14F-4D97-AF65-F5344CB8AC3E}">
        <p14:creationId xmlns:p14="http://schemas.microsoft.com/office/powerpoint/2010/main" val="4082998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2A19128-F50A-BE5D-AA4A-C359F98823A3}"/>
              </a:ext>
            </a:extLst>
          </p:cNvPr>
          <p:cNvSpPr/>
          <p:nvPr/>
        </p:nvSpPr>
        <p:spPr>
          <a:xfrm>
            <a:off x="-589904" y="109068"/>
            <a:ext cx="5539978" cy="646331"/>
          </a:xfrm>
          <a:prstGeom prst="rect">
            <a:avLst/>
          </a:prstGeom>
        </p:spPr>
        <p:txBody>
          <a:bodyPr wrap="none">
            <a:spAutoFit/>
          </a:bodyPr>
          <a:lstStyle/>
          <a:p>
            <a:pPr lvl="1"/>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标注工具介绍以及使用</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5" name="文本框 4">
            <a:extLst>
              <a:ext uri="{FF2B5EF4-FFF2-40B4-BE49-F238E27FC236}">
                <a16:creationId xmlns:a16="http://schemas.microsoft.com/office/drawing/2014/main" id="{74702C13-C571-BDEE-E342-29E89CF783D9}"/>
              </a:ext>
            </a:extLst>
          </p:cNvPr>
          <p:cNvSpPr txBox="1"/>
          <p:nvPr/>
        </p:nvSpPr>
        <p:spPr>
          <a:xfrm>
            <a:off x="973016" y="961292"/>
            <a:ext cx="6824304" cy="538609"/>
          </a:xfrm>
          <a:prstGeom prst="rect">
            <a:avLst/>
          </a:prstGeom>
          <a:noFill/>
        </p:spPr>
        <p:txBody>
          <a:bodyPr wrap="none" rtlCol="0">
            <a:spAutoFit/>
          </a:bodyPr>
          <a:lstStyle/>
          <a:p>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BRAT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 altLang="zh-CN" sz="2900" dirty="0">
                <a:latin typeface="Amazon Ember" panose="020B0603020204020204" pitchFamily="34" charset="0"/>
                <a:ea typeface="Amazon Ember" panose="020B0603020204020204" pitchFamily="34" charset="0"/>
                <a:cs typeface="Amazon Ember" panose="020B0603020204020204" pitchFamily="34" charset="0"/>
              </a:rPr>
              <a:t>https://</a:t>
            </a:r>
            <a:r>
              <a:rPr kumimoji="1" lang="en" altLang="zh-CN" sz="2900" dirty="0" err="1">
                <a:latin typeface="Amazon Ember" panose="020B0603020204020204" pitchFamily="34" charset="0"/>
                <a:ea typeface="Amazon Ember" panose="020B0603020204020204" pitchFamily="34" charset="0"/>
                <a:cs typeface="Amazon Ember" panose="020B0603020204020204" pitchFamily="34" charset="0"/>
              </a:rPr>
              <a:t>github.com</a:t>
            </a:r>
            <a:r>
              <a:rPr kumimoji="1" lang="en"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 altLang="zh-CN" sz="2900" dirty="0" err="1">
                <a:latin typeface="Amazon Ember" panose="020B0603020204020204" pitchFamily="34" charset="0"/>
                <a:ea typeface="Amazon Ember" panose="020B0603020204020204" pitchFamily="34" charset="0"/>
                <a:cs typeface="Amazon Ember" panose="020B0603020204020204" pitchFamily="34" charset="0"/>
              </a:rPr>
              <a:t>nlplab</a:t>
            </a:r>
            <a:r>
              <a:rPr kumimoji="1" lang="en" altLang="zh-CN" sz="2900" dirty="0">
                <a:latin typeface="Amazon Ember" panose="020B0603020204020204" pitchFamily="34" charset="0"/>
                <a:ea typeface="Amazon Ember" panose="020B0603020204020204" pitchFamily="34" charset="0"/>
                <a:cs typeface="Amazon Ember" panose="020B0603020204020204" pitchFamily="34" charset="0"/>
              </a:rPr>
              <a:t>/brat</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文本框 5">
            <a:extLst>
              <a:ext uri="{FF2B5EF4-FFF2-40B4-BE49-F238E27FC236}">
                <a16:creationId xmlns:a16="http://schemas.microsoft.com/office/drawing/2014/main" id="{4111B864-1810-6CA3-4784-EFD5565AE1B6}"/>
              </a:ext>
            </a:extLst>
          </p:cNvPr>
          <p:cNvSpPr txBox="1"/>
          <p:nvPr/>
        </p:nvSpPr>
        <p:spPr>
          <a:xfrm>
            <a:off x="9390185" y="961292"/>
            <a:ext cx="2608406" cy="538609"/>
          </a:xfrm>
          <a:prstGeom prst="rect">
            <a:avLst/>
          </a:prstGeom>
          <a:noFill/>
        </p:spPr>
        <p:txBody>
          <a:bodyPr wrap="none" rtlCol="0">
            <a:spAutoFit/>
          </a:bodyPr>
          <a:lstStyle/>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Branch</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v1.3p1</a:t>
            </a:r>
            <a:endParaRPr kumimoji="1" lang="zh-CN" altLang="en-US" sz="29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矩形 6">
            <a:extLst>
              <a:ext uri="{FF2B5EF4-FFF2-40B4-BE49-F238E27FC236}">
                <a16:creationId xmlns:a16="http://schemas.microsoft.com/office/drawing/2014/main" id="{6AC603F4-5C86-1503-ADB5-FFD5B26C776A}"/>
              </a:ext>
            </a:extLst>
          </p:cNvPr>
          <p:cNvSpPr/>
          <p:nvPr/>
        </p:nvSpPr>
        <p:spPr>
          <a:xfrm>
            <a:off x="973016" y="1465657"/>
            <a:ext cx="15028984" cy="535531"/>
          </a:xfrm>
          <a:prstGeom prst="rect">
            <a:avLst/>
          </a:prstGeom>
        </p:spPr>
        <p:txBody>
          <a:bodyPr wrap="square">
            <a:spAutoFit/>
          </a:bodyPr>
          <a:lstStyle/>
          <a:p>
            <a:r>
              <a:rPr lang="en-US" altLang="zh-CN" dirty="0"/>
              <a:t>Paper</a:t>
            </a:r>
            <a:r>
              <a:rPr lang="zh-CN" altLang="en-US" dirty="0"/>
              <a:t>：</a:t>
            </a:r>
            <a:r>
              <a:rPr lang="en" altLang="zh-CN" dirty="0"/>
              <a:t>brat: a Web-based Tool for NLP-Assisted Text Annotation</a:t>
            </a:r>
            <a:r>
              <a:rPr lang="en-US" altLang="zh-CN" dirty="0"/>
              <a:t>(ACL</a:t>
            </a:r>
            <a:r>
              <a:rPr lang="zh-CN" altLang="en-US" dirty="0"/>
              <a:t> </a:t>
            </a:r>
            <a:r>
              <a:rPr lang="en-US" altLang="zh-CN" dirty="0"/>
              <a:t>2012)</a:t>
            </a:r>
            <a:endParaRPr lang="zh-CN" altLang="en-US" dirty="0"/>
          </a:p>
        </p:txBody>
      </p:sp>
      <p:sp>
        <p:nvSpPr>
          <p:cNvPr id="8" name="文本框 7">
            <a:extLst>
              <a:ext uri="{FF2B5EF4-FFF2-40B4-BE49-F238E27FC236}">
                <a16:creationId xmlns:a16="http://schemas.microsoft.com/office/drawing/2014/main" id="{A85F5B67-0436-96C2-7809-01EBCCAB61CF}"/>
              </a:ext>
            </a:extLst>
          </p:cNvPr>
          <p:cNvSpPr txBox="1"/>
          <p:nvPr/>
        </p:nvSpPr>
        <p:spPr>
          <a:xfrm>
            <a:off x="2450123" y="2684585"/>
            <a:ext cx="8754320" cy="5262979"/>
          </a:xfrm>
          <a:prstGeom prst="rect">
            <a:avLst/>
          </a:prstGeom>
          <a:noFill/>
        </p:spPr>
        <p:txBody>
          <a:bodyPr wrap="none" rtlCol="0">
            <a:spAutoFit/>
          </a:bodyPr>
          <a:lstStyle/>
          <a:p>
            <a:r>
              <a:rPr lang="zh-CN" altLang="en-US" sz="3200" b="1" dirty="0">
                <a:solidFill>
                  <a:srgbClr val="FF0000"/>
                </a:solidFill>
              </a:rPr>
              <a:t>编译</a:t>
            </a:r>
            <a:endParaRPr lang="en-US" altLang="zh-CN" sz="3200" b="1" dirty="0">
              <a:solidFill>
                <a:srgbClr val="FF0000"/>
              </a:solidFill>
            </a:endParaRPr>
          </a:p>
          <a:p>
            <a:r>
              <a:rPr lang="en" altLang="zh-CN" sz="2400" dirty="0"/>
              <a:t>cd brat-1.3p1</a:t>
            </a:r>
            <a:endParaRPr lang="en" altLang="zh-CN" dirty="0"/>
          </a:p>
          <a:p>
            <a:r>
              <a:rPr lang="en" altLang="zh-CN" sz="2400" dirty="0"/>
              <a:t>./</a:t>
            </a:r>
            <a:r>
              <a:rPr lang="en" altLang="zh-CN" sz="2400" dirty="0" err="1"/>
              <a:t>install.sh</a:t>
            </a:r>
            <a:r>
              <a:rPr lang="en" altLang="zh-CN" sz="2400" dirty="0"/>
              <a:t> –u</a:t>
            </a:r>
          </a:p>
          <a:p>
            <a:r>
              <a:rPr lang="zh-CN" altLang="en" sz="3200" b="1" dirty="0">
                <a:solidFill>
                  <a:srgbClr val="FF0000"/>
                </a:solidFill>
              </a:rPr>
              <a:t>中文</a:t>
            </a:r>
            <a:r>
              <a:rPr lang="zh-CN" altLang="en-US" sz="3200" b="1" dirty="0">
                <a:solidFill>
                  <a:srgbClr val="FF0000"/>
                </a:solidFill>
              </a:rPr>
              <a:t>支持</a:t>
            </a:r>
            <a:endParaRPr lang="en" altLang="zh-CN" sz="3200" b="1" dirty="0">
              <a:solidFill>
                <a:srgbClr val="FF0000"/>
              </a:solidFill>
            </a:endParaRPr>
          </a:p>
          <a:p>
            <a:r>
              <a:rPr kumimoji="1" lang="zh-CN" altLang="en-US" sz="2400" dirty="0">
                <a:latin typeface="Amazon Ember" panose="020B0603020204020204" pitchFamily="34" charset="0"/>
                <a:ea typeface="Amazon Ember" panose="020B0603020204020204" pitchFamily="34" charset="0"/>
                <a:cs typeface="Amazon Ember" panose="020B0603020204020204" pitchFamily="34" charset="0"/>
              </a:rPr>
              <a:t>修改</a:t>
            </a:r>
            <a:r>
              <a:rPr lang="en" altLang="zh-CN" sz="2400" dirty="0"/>
              <a:t>./server/</a:t>
            </a:r>
            <a:r>
              <a:rPr lang="en" altLang="zh-CN" sz="2400" dirty="0" err="1"/>
              <a:t>src</a:t>
            </a:r>
            <a:r>
              <a:rPr lang="en" altLang="zh-CN" sz="2400" dirty="0"/>
              <a:t>/</a:t>
            </a:r>
            <a:r>
              <a:rPr lang="en" altLang="zh-CN" sz="2400" dirty="0" err="1"/>
              <a:t>projectconfig.py</a:t>
            </a:r>
            <a:r>
              <a:rPr lang="zh-CN" altLang="en-US" sz="2400" dirty="0"/>
              <a:t>的</a:t>
            </a:r>
            <a:r>
              <a:rPr kumimoji="1" lang="en-US" altLang="zh-CN" sz="2400" dirty="0">
                <a:latin typeface="Amazon Ember" panose="020B0603020204020204" pitchFamily="34" charset="0"/>
                <a:ea typeface="Amazon Ember" panose="020B0603020204020204" pitchFamily="34" charset="0"/>
                <a:cs typeface="Amazon Ember" panose="020B0603020204020204" pitchFamily="34" charset="0"/>
              </a:rPr>
              <a:t>162</a:t>
            </a:r>
            <a:r>
              <a:rPr kumimoji="1" lang="zh-CN" altLang="en-US" sz="2400" dirty="0">
                <a:latin typeface="Amazon Ember" panose="020B0603020204020204" pitchFamily="34" charset="0"/>
                <a:ea typeface="Amazon Ember" panose="020B0603020204020204" pitchFamily="34" charset="0"/>
                <a:cs typeface="Amazon Ember" panose="020B0603020204020204" pitchFamily="34" charset="0"/>
              </a:rPr>
              <a:t>行为</a:t>
            </a:r>
            <a:endParaRPr kumimoji="1" lang="en-US" altLang="zh-CN" sz="2400" dirty="0">
              <a:latin typeface="Amazon Ember" panose="020B0603020204020204" pitchFamily="34" charset="0"/>
              <a:ea typeface="Amazon Ember" panose="020B0603020204020204" pitchFamily="34" charset="0"/>
              <a:cs typeface="Amazon Ember" panose="020B0603020204020204" pitchFamily="34" charset="0"/>
            </a:endParaRPr>
          </a:p>
          <a:p>
            <a:r>
              <a:rPr lang="en" altLang="zh-CN" sz="2400" dirty="0"/>
              <a:t>n = </a:t>
            </a:r>
            <a:r>
              <a:rPr lang="en" altLang="zh-CN" sz="2400" dirty="0" err="1"/>
              <a:t>re.sub</a:t>
            </a:r>
            <a:r>
              <a:rPr lang="en" altLang="zh-CN" sz="2400" dirty="0"/>
              <a:t>(u'[^a-</a:t>
            </a:r>
            <a:r>
              <a:rPr lang="en" altLang="zh-CN" sz="2400" dirty="0" err="1"/>
              <a:t>zA</a:t>
            </a:r>
            <a:r>
              <a:rPr lang="en" altLang="zh-CN" sz="2400" dirty="0"/>
              <a:t>-Z\u4e00-\u9fa5&lt;&gt;,0-9_-]', '_', n)</a:t>
            </a:r>
          </a:p>
          <a:p>
            <a:r>
              <a:rPr kumimoji="1" lang="zh-CN" altLang="en-US" sz="3200" b="1"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创建</a:t>
            </a:r>
            <a:r>
              <a:rPr kumimoji="1" lang="en-US" altLang="zh-CN" sz="3200" b="1" dirty="0" err="1">
                <a:solidFill>
                  <a:srgbClr val="FF0000"/>
                </a:solidFill>
                <a:latin typeface="Amazon Ember" panose="020B0603020204020204" pitchFamily="34" charset="0"/>
                <a:ea typeface="Amazon Ember" panose="020B0603020204020204" pitchFamily="34" charset="0"/>
                <a:cs typeface="Amazon Ember" panose="020B0603020204020204" pitchFamily="34" charset="0"/>
              </a:rPr>
              <a:t>ann</a:t>
            </a:r>
            <a:r>
              <a:rPr kumimoji="1" lang="zh-CN" altLang="en-US" sz="3200" b="1"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文件</a:t>
            </a:r>
            <a:endParaRPr kumimoji="1" lang="en-US" altLang="zh-CN" sz="3200" b="1"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a:p>
            <a:r>
              <a:rPr lang="en" altLang="zh-CN" sz="2400" dirty="0"/>
              <a:t>find </a:t>
            </a:r>
            <a:r>
              <a:rPr lang="zh-CN" altLang="en-US" sz="2400" dirty="0"/>
              <a:t>文件夹名称 </a:t>
            </a:r>
            <a:r>
              <a:rPr lang="en-US" altLang="zh-CN" sz="2400" dirty="0"/>
              <a:t>-</a:t>
            </a:r>
            <a:r>
              <a:rPr lang="en" altLang="zh-CN" sz="2400" dirty="0"/>
              <a:t>name '*.</a:t>
            </a:r>
            <a:r>
              <a:rPr lang="en" altLang="zh-CN" sz="2400" dirty="0" err="1"/>
              <a:t>txt'|sed</a:t>
            </a:r>
            <a:r>
              <a:rPr lang="en" altLang="zh-CN" sz="2400" dirty="0"/>
              <a:t> -e 's|\.txt|.</a:t>
            </a:r>
            <a:r>
              <a:rPr lang="en" altLang="zh-CN" sz="2400" dirty="0" err="1"/>
              <a:t>ann|g</a:t>
            </a:r>
            <a:r>
              <a:rPr lang="en" altLang="zh-CN" sz="2400" dirty="0"/>
              <a:t>'|</a:t>
            </a:r>
            <a:r>
              <a:rPr lang="en" altLang="zh-CN" sz="2400" dirty="0" err="1"/>
              <a:t>xargs</a:t>
            </a:r>
            <a:r>
              <a:rPr lang="en" altLang="zh-CN" sz="2400" dirty="0"/>
              <a:t> touch</a:t>
            </a:r>
          </a:p>
          <a:p>
            <a:r>
              <a:rPr lang="zh-CN" altLang="en-US" sz="3200" b="1" dirty="0">
                <a:solidFill>
                  <a:srgbClr val="FF0000"/>
                </a:solidFill>
              </a:rPr>
              <a:t>标注配置</a:t>
            </a:r>
          </a:p>
          <a:p>
            <a:r>
              <a:rPr kumimoji="1" lang="zh-CN" altLang="en-US" sz="2400" dirty="0">
                <a:latin typeface="Amazon Ember" panose="020B0603020204020204" pitchFamily="34" charset="0"/>
                <a:ea typeface="Amazon Ember" panose="020B0603020204020204" pitchFamily="34" charset="0"/>
                <a:cs typeface="Amazon Ember" panose="020B0603020204020204" pitchFamily="34" charset="0"/>
              </a:rPr>
              <a:t>修改</a:t>
            </a:r>
            <a:r>
              <a:rPr lang="en" altLang="zh-CN" sz="2400" dirty="0" err="1"/>
              <a:t>annotation.conf</a:t>
            </a:r>
            <a:r>
              <a:rPr lang="zh-CN" altLang="en" sz="2400" dirty="0"/>
              <a:t>的</a:t>
            </a:r>
            <a:r>
              <a:rPr lang="zh-CN" altLang="en-US" sz="2400" dirty="0"/>
              <a:t>四个字段</a:t>
            </a:r>
            <a:endParaRPr lang="en-US" altLang="zh-CN" sz="2400" dirty="0"/>
          </a:p>
          <a:p>
            <a:r>
              <a:rPr kumimoji="1" lang="zh-CN" altLang="en-US"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启动服务（</a:t>
            </a:r>
            <a:r>
              <a:rPr kumimoji="1" lang="en-US" altLang="zh-CN"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python2.x</a:t>
            </a:r>
            <a:r>
              <a:rPr kumimoji="1" lang="zh-CN" altLang="en-US"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a:t>
            </a:r>
            <a:endParaRPr kumimoji="1" lang="en-US" altLang="zh-CN" sz="32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a:p>
            <a:r>
              <a:rPr lang="en" altLang="zh-CN" sz="2400" dirty="0"/>
              <a:t>python </a:t>
            </a:r>
            <a:r>
              <a:rPr lang="en" altLang="zh-CN" sz="2400" dirty="0" err="1"/>
              <a:t>standalone.py</a:t>
            </a:r>
            <a:endParaRPr kumimoji="1" lang="zh-CN" altLang="en-US" sz="24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文本框 8">
            <a:extLst>
              <a:ext uri="{FF2B5EF4-FFF2-40B4-BE49-F238E27FC236}">
                <a16:creationId xmlns:a16="http://schemas.microsoft.com/office/drawing/2014/main" id="{045B7D4B-A0E9-A392-1B34-FDC5FCC1E931}"/>
              </a:ext>
            </a:extLst>
          </p:cNvPr>
          <p:cNvSpPr txBox="1"/>
          <p:nvPr/>
        </p:nvSpPr>
        <p:spPr>
          <a:xfrm>
            <a:off x="820616" y="2050499"/>
            <a:ext cx="12728164"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一个</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web</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NLP</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文本标注工具，支持实体标注，实体属性标注，实体关系标注</a:t>
            </a:r>
          </a:p>
        </p:txBody>
      </p:sp>
    </p:spTree>
    <p:extLst>
      <p:ext uri="{BB962C8B-B14F-4D97-AF65-F5344CB8AC3E}">
        <p14:creationId xmlns:p14="http://schemas.microsoft.com/office/powerpoint/2010/main" val="1957059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7DBDE648-F33D-229E-C963-92B86D62A4A1}"/>
              </a:ext>
            </a:extLst>
          </p:cNvPr>
          <p:cNvSpPr/>
          <p:nvPr/>
        </p:nvSpPr>
        <p:spPr>
          <a:xfrm>
            <a:off x="-589904" y="109068"/>
            <a:ext cx="5539978" cy="646331"/>
          </a:xfrm>
          <a:prstGeom prst="rect">
            <a:avLst/>
          </a:prstGeom>
        </p:spPr>
        <p:txBody>
          <a:bodyPr wrap="none">
            <a:spAutoFit/>
          </a:bodyPr>
          <a:lstStyle/>
          <a:p>
            <a:pPr lvl="1"/>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标注工具介绍以及使用</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23" name="矩形 22">
            <a:extLst>
              <a:ext uri="{FF2B5EF4-FFF2-40B4-BE49-F238E27FC236}">
                <a16:creationId xmlns:a16="http://schemas.microsoft.com/office/drawing/2014/main" id="{5AA248FC-5EEF-629F-2655-2791127EB7A9}"/>
              </a:ext>
            </a:extLst>
          </p:cNvPr>
          <p:cNvSpPr/>
          <p:nvPr/>
        </p:nvSpPr>
        <p:spPr>
          <a:xfrm>
            <a:off x="929618" y="915090"/>
            <a:ext cx="5862502" cy="7060394"/>
          </a:xfrm>
          <a:prstGeom prst="rect">
            <a:avLst/>
          </a:prstGeom>
        </p:spPr>
        <p:txBody>
          <a:bodyPr wrap="none">
            <a:spAutoFit/>
          </a:bodyPr>
          <a:lstStyle/>
          <a:p>
            <a:r>
              <a:rPr lang="en" altLang="zh-CN" sz="3200" b="1" dirty="0" err="1">
                <a:solidFill>
                  <a:srgbClr val="FF0000"/>
                </a:solidFill>
              </a:rPr>
              <a:t>annotation.conf</a:t>
            </a:r>
            <a:endParaRPr lang="en" altLang="zh-CN" sz="3200" b="1" dirty="0">
              <a:solidFill>
                <a:srgbClr val="FF0000"/>
              </a:solidFill>
            </a:endParaRPr>
          </a:p>
          <a:p>
            <a:endParaRPr lang="en" altLang="zh-CN" sz="3200" dirty="0"/>
          </a:p>
          <a:p>
            <a:r>
              <a:rPr lang="en" altLang="zh-CN" sz="2400" dirty="0"/>
              <a:t>[entities]</a:t>
            </a:r>
          </a:p>
          <a:p>
            <a:endParaRPr lang="en" altLang="zh-CN" sz="2400" dirty="0"/>
          </a:p>
          <a:p>
            <a:r>
              <a:rPr lang="en" altLang="zh-CN" sz="2400" dirty="0"/>
              <a:t>aspect</a:t>
            </a:r>
          </a:p>
          <a:p>
            <a:r>
              <a:rPr lang="en" altLang="zh-CN" sz="2400" dirty="0"/>
              <a:t>opinion</a:t>
            </a:r>
          </a:p>
          <a:p>
            <a:endParaRPr lang="en" altLang="zh-CN" sz="2400" dirty="0"/>
          </a:p>
          <a:p>
            <a:r>
              <a:rPr lang="en" altLang="zh-CN" sz="2400" dirty="0"/>
              <a:t>[relations]</a:t>
            </a:r>
          </a:p>
          <a:p>
            <a:endParaRPr lang="en" altLang="zh-CN" sz="2400" dirty="0"/>
          </a:p>
          <a:p>
            <a:r>
              <a:rPr lang="en" altLang="zh-CN" sz="2400" dirty="0"/>
              <a:t>slave            Arg1:opinion, Arg2:aspect</a:t>
            </a:r>
          </a:p>
          <a:p>
            <a:endParaRPr lang="en" altLang="zh-CN" sz="2400" dirty="0"/>
          </a:p>
          <a:p>
            <a:r>
              <a:rPr lang="en" altLang="zh-CN" sz="2400" dirty="0"/>
              <a:t>[events]</a:t>
            </a:r>
          </a:p>
          <a:p>
            <a:endParaRPr lang="en" altLang="zh-CN" sz="2400" dirty="0"/>
          </a:p>
          <a:p>
            <a:r>
              <a:rPr lang="en" altLang="zh-CN" sz="2400" dirty="0"/>
              <a:t>[attributes]</a:t>
            </a:r>
          </a:p>
          <a:p>
            <a:endParaRPr lang="en" altLang="zh-CN" sz="2400" dirty="0"/>
          </a:p>
          <a:p>
            <a:r>
              <a:rPr lang="en" altLang="zh-CN" sz="2400" dirty="0"/>
              <a:t>sentiment     </a:t>
            </a:r>
            <a:r>
              <a:rPr lang="en" altLang="zh-CN" sz="2400" dirty="0" err="1"/>
              <a:t>Arg:aspect</a:t>
            </a:r>
            <a:r>
              <a:rPr lang="en" altLang="zh-CN" sz="2400" dirty="0"/>
              <a:t>, Value:0|1|2</a:t>
            </a:r>
          </a:p>
          <a:p>
            <a:r>
              <a:rPr lang="en" altLang="zh-CN" sz="2400" dirty="0"/>
              <a:t>category     </a:t>
            </a:r>
            <a:r>
              <a:rPr lang="en" altLang="zh-CN" sz="2400" dirty="0" err="1"/>
              <a:t>Arg:aspect</a:t>
            </a:r>
            <a:r>
              <a:rPr lang="en" altLang="zh-CN" sz="2400" dirty="0"/>
              <a:t>, </a:t>
            </a:r>
            <a:r>
              <a:rPr lang="en" altLang="zh-CN" sz="2400" dirty="0" err="1"/>
              <a:t>Value:food|house</a:t>
            </a:r>
            <a:endParaRPr lang="en" altLang="zh-CN" sz="2400" dirty="0"/>
          </a:p>
          <a:p>
            <a:endParaRPr lang="zh-CN" altLang="en-US" dirty="0"/>
          </a:p>
        </p:txBody>
      </p:sp>
      <p:sp>
        <p:nvSpPr>
          <p:cNvPr id="24" name="圆角矩形 23">
            <a:extLst>
              <a:ext uri="{FF2B5EF4-FFF2-40B4-BE49-F238E27FC236}">
                <a16:creationId xmlns:a16="http://schemas.microsoft.com/office/drawing/2014/main" id="{2E612C51-1E2E-F969-1E63-64E1689CAD46}"/>
              </a:ext>
            </a:extLst>
          </p:cNvPr>
          <p:cNvSpPr/>
          <p:nvPr/>
        </p:nvSpPr>
        <p:spPr>
          <a:xfrm>
            <a:off x="750277" y="915090"/>
            <a:ext cx="6041843" cy="6845587"/>
          </a:xfrm>
          <a:prstGeom prst="roundRect">
            <a:avLst>
              <a:gd name="adj" fmla="val 9100"/>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dirty="0"/>
          </a:p>
        </p:txBody>
      </p:sp>
      <p:sp>
        <p:nvSpPr>
          <p:cNvPr id="25" name="AutoShape 2">
            <a:hlinkClick r:id="rId2"/>
            <a:extLst>
              <a:ext uri="{FF2B5EF4-FFF2-40B4-BE49-F238E27FC236}">
                <a16:creationId xmlns:a16="http://schemas.microsoft.com/office/drawing/2014/main" id="{67A0FB83-EC1B-3DD8-E155-693158F11A34}"/>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26" name="图片 25">
            <a:extLst>
              <a:ext uri="{FF2B5EF4-FFF2-40B4-BE49-F238E27FC236}">
                <a16:creationId xmlns:a16="http://schemas.microsoft.com/office/drawing/2014/main" id="{5FD0219D-A9E6-2DA9-4871-B3352797700B}"/>
              </a:ext>
            </a:extLst>
          </p:cNvPr>
          <p:cNvPicPr>
            <a:picLocks noChangeAspect="1"/>
          </p:cNvPicPr>
          <p:nvPr/>
        </p:nvPicPr>
        <p:blipFill>
          <a:blip r:embed="rId3"/>
          <a:stretch>
            <a:fillRect/>
          </a:stretch>
        </p:blipFill>
        <p:spPr>
          <a:xfrm>
            <a:off x="7306355" y="2513640"/>
            <a:ext cx="6369401" cy="5461844"/>
          </a:xfrm>
          <a:prstGeom prst="rect">
            <a:avLst/>
          </a:prstGeom>
        </p:spPr>
      </p:pic>
      <p:pic>
        <p:nvPicPr>
          <p:cNvPr id="27" name="图片 26">
            <a:extLst>
              <a:ext uri="{FF2B5EF4-FFF2-40B4-BE49-F238E27FC236}">
                <a16:creationId xmlns:a16="http://schemas.microsoft.com/office/drawing/2014/main" id="{5178A9C3-50B6-4E1B-01FA-F797617E5C4A}"/>
              </a:ext>
            </a:extLst>
          </p:cNvPr>
          <p:cNvPicPr>
            <a:picLocks noChangeAspect="1"/>
          </p:cNvPicPr>
          <p:nvPr/>
        </p:nvPicPr>
        <p:blipFill>
          <a:blip r:embed="rId4"/>
          <a:stretch>
            <a:fillRect/>
          </a:stretch>
        </p:blipFill>
        <p:spPr>
          <a:xfrm>
            <a:off x="6971461" y="694460"/>
            <a:ext cx="7039190" cy="1664439"/>
          </a:xfrm>
          <a:prstGeom prst="rect">
            <a:avLst/>
          </a:prstGeom>
        </p:spPr>
      </p:pic>
    </p:spTree>
    <p:extLst>
      <p:ext uri="{BB962C8B-B14F-4D97-AF65-F5344CB8AC3E}">
        <p14:creationId xmlns:p14="http://schemas.microsoft.com/office/powerpoint/2010/main" val="1357505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89904" y="109068"/>
            <a:ext cx="5539978" cy="646331"/>
          </a:xfrm>
          <a:prstGeom prst="rect">
            <a:avLst/>
          </a:prstGeom>
        </p:spPr>
        <p:txBody>
          <a:bodyPr wrap="none">
            <a:spAutoFit/>
          </a:bodyPr>
          <a:lstStyle/>
          <a:p>
            <a:pPr lvl="1"/>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标注工具介绍以及使用</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4" name="矩形 3">
            <a:extLst>
              <a:ext uri="{FF2B5EF4-FFF2-40B4-BE49-F238E27FC236}">
                <a16:creationId xmlns:a16="http://schemas.microsoft.com/office/drawing/2014/main" id="{C029E3D0-81B0-403D-779A-8B236C8A317D}"/>
              </a:ext>
            </a:extLst>
          </p:cNvPr>
          <p:cNvSpPr/>
          <p:nvPr/>
        </p:nvSpPr>
        <p:spPr>
          <a:xfrm>
            <a:off x="7506264" y="1217354"/>
            <a:ext cx="5344733" cy="5509200"/>
          </a:xfrm>
          <a:prstGeom prst="rect">
            <a:avLst/>
          </a:prstGeom>
        </p:spPr>
        <p:txBody>
          <a:bodyPr wrap="none">
            <a:spAutoFit/>
          </a:bodyPr>
          <a:lstStyle/>
          <a:p>
            <a:r>
              <a:rPr lang="en" altLang="zh-CN" sz="3200" b="1" dirty="0">
                <a:solidFill>
                  <a:srgbClr val="FF0000"/>
                </a:solidFill>
              </a:rPr>
              <a:t>Ann</a:t>
            </a:r>
            <a:r>
              <a:rPr lang="zh-CN" altLang="en" sz="3200" b="1" dirty="0">
                <a:solidFill>
                  <a:srgbClr val="FF0000"/>
                </a:solidFill>
              </a:rPr>
              <a:t>文件</a:t>
            </a:r>
            <a:endParaRPr lang="en-US" altLang="zh-CN" sz="3200" b="1" dirty="0">
              <a:solidFill>
                <a:srgbClr val="FF0000"/>
              </a:solidFill>
            </a:endParaRPr>
          </a:p>
          <a:p>
            <a:endParaRPr lang="en" altLang="zh-CN" sz="3200" dirty="0"/>
          </a:p>
          <a:p>
            <a:r>
              <a:rPr lang="en" altLang="zh-CN" dirty="0"/>
              <a:t>T1 aspect 6 8 </a:t>
            </a:r>
            <a:r>
              <a:rPr lang="zh-CN" altLang="en-US" dirty="0"/>
              <a:t>披萨</a:t>
            </a:r>
            <a:br>
              <a:rPr lang="zh-CN" altLang="en-US" sz="2400" dirty="0"/>
            </a:br>
            <a:r>
              <a:rPr lang="en" altLang="zh-CN" dirty="0"/>
              <a:t>A1 category T1 food</a:t>
            </a:r>
            <a:br>
              <a:rPr lang="en" altLang="zh-CN" sz="2400" dirty="0"/>
            </a:br>
            <a:r>
              <a:rPr lang="en" altLang="zh-CN" dirty="0"/>
              <a:t>A2 sentiment T1 0</a:t>
            </a:r>
            <a:br>
              <a:rPr lang="en" altLang="zh-CN" sz="2400" dirty="0"/>
            </a:br>
            <a:r>
              <a:rPr lang="en" altLang="zh-CN" dirty="0"/>
              <a:t>T2 opinion 9 10 </a:t>
            </a:r>
            <a:r>
              <a:rPr lang="zh-CN" altLang="en-US" dirty="0"/>
              <a:t>凉</a:t>
            </a:r>
            <a:br>
              <a:rPr lang="zh-CN" altLang="en-US" sz="2400" dirty="0"/>
            </a:br>
            <a:r>
              <a:rPr lang="en" altLang="zh-CN" dirty="0"/>
              <a:t>T3 aspect 12 14 </a:t>
            </a:r>
            <a:r>
              <a:rPr lang="zh-CN" altLang="en-US" dirty="0"/>
              <a:t>芝士</a:t>
            </a:r>
            <a:br>
              <a:rPr lang="zh-CN" altLang="en-US" sz="2400" dirty="0"/>
            </a:br>
            <a:r>
              <a:rPr lang="en" altLang="zh-CN" dirty="0"/>
              <a:t>A3 category T3 food</a:t>
            </a:r>
            <a:br>
              <a:rPr lang="en" altLang="zh-CN" sz="2400" dirty="0"/>
            </a:br>
            <a:r>
              <a:rPr lang="en" altLang="zh-CN" dirty="0"/>
              <a:t>A4 sentiment T3 0</a:t>
            </a:r>
            <a:br>
              <a:rPr lang="en" altLang="zh-CN" sz="2400" dirty="0"/>
            </a:br>
            <a:r>
              <a:rPr lang="en" altLang="zh-CN" dirty="0"/>
              <a:t>T4 opinion 14 20 </a:t>
            </a:r>
            <a:r>
              <a:rPr lang="zh-CN" altLang="en-US" dirty="0"/>
              <a:t>没有完全融化</a:t>
            </a:r>
            <a:br>
              <a:rPr lang="zh-CN" altLang="en-US" sz="2400" dirty="0"/>
            </a:br>
            <a:r>
              <a:rPr lang="en" altLang="zh-CN" dirty="0"/>
              <a:t>R1 slave Arg1:T2 Arg2:T1 </a:t>
            </a:r>
            <a:br>
              <a:rPr lang="en" altLang="zh-CN" sz="2400" dirty="0"/>
            </a:br>
            <a:r>
              <a:rPr lang="en" altLang="zh-CN" dirty="0"/>
              <a:t>R2 slave Arg1:T4 Arg2:T3</a:t>
            </a:r>
            <a:endParaRPr lang="zh-CN" altLang="en-US" dirty="0"/>
          </a:p>
        </p:txBody>
      </p:sp>
      <p:sp>
        <p:nvSpPr>
          <p:cNvPr id="10" name="圆角矩形 9">
            <a:extLst>
              <a:ext uri="{FF2B5EF4-FFF2-40B4-BE49-F238E27FC236}">
                <a16:creationId xmlns:a16="http://schemas.microsoft.com/office/drawing/2014/main" id="{3737BAB1-D35F-84FF-FD0B-CEFF1FF58E36}"/>
              </a:ext>
            </a:extLst>
          </p:cNvPr>
          <p:cNvSpPr/>
          <p:nvPr/>
        </p:nvSpPr>
        <p:spPr>
          <a:xfrm>
            <a:off x="7315200" y="772244"/>
            <a:ext cx="6041843" cy="6845587"/>
          </a:xfrm>
          <a:prstGeom prst="roundRect">
            <a:avLst>
              <a:gd name="adj" fmla="val 9100"/>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dirty="0"/>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矩形 11">
            <a:extLst>
              <a:ext uri="{FF2B5EF4-FFF2-40B4-BE49-F238E27FC236}">
                <a16:creationId xmlns:a16="http://schemas.microsoft.com/office/drawing/2014/main" id="{A7689084-E2ED-83A9-C961-1B0E0E5EB515}"/>
              </a:ext>
            </a:extLst>
          </p:cNvPr>
          <p:cNvSpPr/>
          <p:nvPr/>
        </p:nvSpPr>
        <p:spPr>
          <a:xfrm>
            <a:off x="788941" y="1217354"/>
            <a:ext cx="4240263" cy="1963614"/>
          </a:xfrm>
          <a:prstGeom prst="rect">
            <a:avLst/>
          </a:prstGeom>
        </p:spPr>
        <p:txBody>
          <a:bodyPr wrap="none">
            <a:spAutoFit/>
          </a:bodyPr>
          <a:lstStyle/>
          <a:p>
            <a:r>
              <a:rPr lang="en" altLang="zh-CN" sz="3200" b="1" dirty="0">
                <a:solidFill>
                  <a:srgbClr val="FF0000"/>
                </a:solidFill>
              </a:rPr>
              <a:t>txt</a:t>
            </a:r>
            <a:r>
              <a:rPr lang="zh-CN" altLang="en" sz="3200" b="1" dirty="0">
                <a:solidFill>
                  <a:srgbClr val="FF0000"/>
                </a:solidFill>
              </a:rPr>
              <a:t>文件</a:t>
            </a:r>
            <a:endParaRPr lang="en-US" altLang="zh-CN" sz="3200" b="1" dirty="0">
              <a:solidFill>
                <a:srgbClr val="FF0000"/>
              </a:solidFill>
            </a:endParaRPr>
          </a:p>
          <a:p>
            <a:endParaRPr lang="en" altLang="zh-CN" sz="3200" dirty="0"/>
          </a:p>
          <a:p>
            <a:r>
              <a:rPr lang="zh-CN" altLang="en-US" dirty="0"/>
              <a:t>整体很失望，披萨很凉，</a:t>
            </a:r>
            <a:endParaRPr lang="en-US" altLang="zh-CN" dirty="0"/>
          </a:p>
          <a:p>
            <a:r>
              <a:rPr lang="zh-CN" altLang="en-US" dirty="0"/>
              <a:t>芝士也没有完全融化。</a:t>
            </a:r>
          </a:p>
        </p:txBody>
      </p:sp>
      <p:sp>
        <p:nvSpPr>
          <p:cNvPr id="13" name="圆角矩形 12">
            <a:extLst>
              <a:ext uri="{FF2B5EF4-FFF2-40B4-BE49-F238E27FC236}">
                <a16:creationId xmlns:a16="http://schemas.microsoft.com/office/drawing/2014/main" id="{4A2DD084-846F-298E-FE41-E9D17188EAC6}"/>
              </a:ext>
            </a:extLst>
          </p:cNvPr>
          <p:cNvSpPr/>
          <p:nvPr/>
        </p:nvSpPr>
        <p:spPr>
          <a:xfrm>
            <a:off x="597877" y="772244"/>
            <a:ext cx="6041843" cy="6845587"/>
          </a:xfrm>
          <a:prstGeom prst="roundRect">
            <a:avLst>
              <a:gd name="adj" fmla="val 9100"/>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dirty="0"/>
          </a:p>
        </p:txBody>
      </p:sp>
      <p:sp>
        <p:nvSpPr>
          <p:cNvPr id="14" name="AutoShape 2">
            <a:hlinkClick r:id="rId2"/>
            <a:extLst>
              <a:ext uri="{FF2B5EF4-FFF2-40B4-BE49-F238E27FC236}">
                <a16:creationId xmlns:a16="http://schemas.microsoft.com/office/drawing/2014/main" id="{20804E47-5B1E-C86D-C55D-492D0B9E9B71}"/>
              </a:ext>
            </a:extLst>
          </p:cNvPr>
          <p:cNvSpPr>
            <a:spLocks noChangeAspect="1" noChangeArrowheads="1"/>
          </p:cNvSpPr>
          <p:nvPr/>
        </p:nvSpPr>
        <p:spPr bwMode="auto">
          <a:xfrm>
            <a:off x="7010400"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686446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89904" y="109068"/>
            <a:ext cx="4127733" cy="646331"/>
          </a:xfrm>
          <a:prstGeom prst="rect">
            <a:avLst/>
          </a:prstGeom>
        </p:spPr>
        <p:txBody>
          <a:bodyPr wrap="none">
            <a:spAutoFit/>
          </a:bodyPr>
          <a:lstStyle/>
          <a:p>
            <a:pPr lvl="1"/>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建议的准备流程</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矩形 11">
            <a:extLst>
              <a:ext uri="{FF2B5EF4-FFF2-40B4-BE49-F238E27FC236}">
                <a16:creationId xmlns:a16="http://schemas.microsoft.com/office/drawing/2014/main" id="{A7689084-E2ED-83A9-C961-1B0E0E5EB515}"/>
              </a:ext>
            </a:extLst>
          </p:cNvPr>
          <p:cNvSpPr/>
          <p:nvPr/>
        </p:nvSpPr>
        <p:spPr>
          <a:xfrm>
            <a:off x="597876" y="1706718"/>
            <a:ext cx="4372477" cy="4087273"/>
          </a:xfrm>
          <a:prstGeom prst="rect">
            <a:avLst/>
          </a:prstGeom>
        </p:spPr>
        <p:txBody>
          <a:bodyPr wrap="square">
            <a:spAutoFit/>
          </a:bodyPr>
          <a:lstStyle/>
          <a:p>
            <a:pPr marL="457200" indent="-457200">
              <a:buFont typeface="Arial" panose="020B0604020202020204" pitchFamily="34" charset="0"/>
              <a:buChar char="•"/>
            </a:pPr>
            <a:r>
              <a:rPr lang="zh-CN" altLang="en-US" dirty="0"/>
              <a:t>准备好全部的</a:t>
            </a:r>
            <a:r>
              <a:rPr kumimoji="1" lang="en-US" altLang="zh-CN" sz="2900" b="1"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 </a:t>
            </a:r>
            <a:r>
              <a:rPr lang="en" altLang="zh-CN" b="1" dirty="0"/>
              <a:t>category</a:t>
            </a:r>
          </a:p>
          <a:p>
            <a:pPr marL="457200" indent="-457200">
              <a:buFont typeface="Arial" panose="020B0604020202020204" pitchFamily="34" charset="0"/>
              <a:buChar char="•"/>
            </a:pPr>
            <a:r>
              <a:rPr lang="zh-CN" altLang="en-US" dirty="0"/>
              <a:t>针对</a:t>
            </a:r>
            <a:r>
              <a:rPr kumimoji="1" lang="en-US" altLang="zh-CN" sz="2900" b="1"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 </a:t>
            </a:r>
            <a:r>
              <a:rPr lang="en" altLang="zh-CN" b="1" dirty="0"/>
              <a:t>category</a:t>
            </a:r>
            <a:r>
              <a:rPr lang="zh-CN" altLang="en-US" dirty="0"/>
              <a:t>制定提问模板调用</a:t>
            </a:r>
            <a:r>
              <a:rPr lang="en-US" altLang="zh-CN" dirty="0" err="1"/>
              <a:t>ChatGPT</a:t>
            </a:r>
            <a:r>
              <a:rPr lang="zh-CN" altLang="en-US" dirty="0"/>
              <a:t>生成预标注数据</a:t>
            </a:r>
            <a:endParaRPr lang="en-US" altLang="zh-CN" dirty="0"/>
          </a:p>
          <a:p>
            <a:pPr marL="457200" indent="-457200">
              <a:buFont typeface="Arial" panose="020B0604020202020204" pitchFamily="34" charset="0"/>
              <a:buChar char="•"/>
            </a:pPr>
            <a:r>
              <a:rPr lang="zh-CN" altLang="en-US" dirty="0"/>
              <a:t>人工审核（可以结合标注工具进行修正）</a:t>
            </a:r>
            <a:endParaRPr lang="en-US" altLang="zh-CN" dirty="0"/>
          </a:p>
          <a:p>
            <a:pPr marL="457200" indent="-457200">
              <a:buFont typeface="Arial" panose="020B0604020202020204" pitchFamily="34" charset="0"/>
              <a:buChar char="•"/>
            </a:pPr>
            <a:r>
              <a:rPr lang="zh-CN" altLang="en-US" dirty="0"/>
              <a:t>数据上传</a:t>
            </a:r>
          </a:p>
        </p:txBody>
      </p:sp>
      <p:sp>
        <p:nvSpPr>
          <p:cNvPr id="14" name="AutoShape 2">
            <a:hlinkClick r:id="rId2"/>
            <a:extLst>
              <a:ext uri="{FF2B5EF4-FFF2-40B4-BE49-F238E27FC236}">
                <a16:creationId xmlns:a16="http://schemas.microsoft.com/office/drawing/2014/main" id="{20804E47-5B1E-C86D-C55D-492D0B9E9B71}"/>
              </a:ext>
            </a:extLst>
          </p:cNvPr>
          <p:cNvSpPr>
            <a:spLocks noChangeAspect="1" noChangeArrowheads="1"/>
          </p:cNvSpPr>
          <p:nvPr/>
        </p:nvSpPr>
        <p:spPr bwMode="auto">
          <a:xfrm>
            <a:off x="7010400"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Picture 2" descr="ChatGPT - Wikipedia">
            <a:extLst>
              <a:ext uri="{FF2B5EF4-FFF2-40B4-BE49-F238E27FC236}">
                <a16:creationId xmlns:a16="http://schemas.microsoft.com/office/drawing/2014/main" id="{9C87A0D2-BBF4-700B-DC4D-E3EE91AFB1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6764" y="2737448"/>
            <a:ext cx="857530" cy="857530"/>
          </a:xfrm>
          <a:prstGeom prst="rect">
            <a:avLst/>
          </a:prstGeom>
          <a:noFill/>
          <a:extLst>
            <a:ext uri="{909E8E84-426E-40DD-AFC4-6F175D3DCCD1}">
              <a14:hiddenFill xmlns:a14="http://schemas.microsoft.com/office/drawing/2010/main">
                <a:solidFill>
                  <a:srgbClr val="FFFFFF"/>
                </a:solidFill>
              </a14:hiddenFill>
            </a:ext>
          </a:extLst>
        </p:spPr>
      </p:pic>
      <p:sp>
        <p:nvSpPr>
          <p:cNvPr id="5" name="圆角矩形 4">
            <a:extLst>
              <a:ext uri="{FF2B5EF4-FFF2-40B4-BE49-F238E27FC236}">
                <a16:creationId xmlns:a16="http://schemas.microsoft.com/office/drawing/2014/main" id="{62A80139-1ABB-B5B3-09D2-C27D979D4277}"/>
              </a:ext>
            </a:extLst>
          </p:cNvPr>
          <p:cNvSpPr/>
          <p:nvPr/>
        </p:nvSpPr>
        <p:spPr>
          <a:xfrm>
            <a:off x="5154262" y="1551742"/>
            <a:ext cx="3331985" cy="5466672"/>
          </a:xfrm>
          <a:prstGeom prst="roundRect">
            <a:avLst/>
          </a:prstGeom>
          <a:noFill/>
          <a:ln>
            <a:solidFill>
              <a:schemeClr val="accent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kumimoji="1" lang="zh-CN" altLang="en-US" dirty="0"/>
          </a:p>
        </p:txBody>
      </p:sp>
      <p:sp>
        <p:nvSpPr>
          <p:cNvPr id="6" name="文本框 5">
            <a:extLst>
              <a:ext uri="{FF2B5EF4-FFF2-40B4-BE49-F238E27FC236}">
                <a16:creationId xmlns:a16="http://schemas.microsoft.com/office/drawing/2014/main" id="{044AD063-14CB-B1C6-6903-C9F3DE152DF2}"/>
              </a:ext>
            </a:extLst>
          </p:cNvPr>
          <p:cNvSpPr txBox="1"/>
          <p:nvPr/>
        </p:nvSpPr>
        <p:spPr>
          <a:xfrm>
            <a:off x="11177880" y="1192242"/>
            <a:ext cx="623889" cy="338554"/>
          </a:xfrm>
          <a:prstGeom prst="rect">
            <a:avLst/>
          </a:prstGeom>
          <a:noFill/>
        </p:spPr>
        <p:txBody>
          <a:bodyPr wrap="none" rtlCol="0">
            <a:spAutoFit/>
          </a:bodyPr>
          <a:lstStyle/>
          <a:p>
            <a:pPr algn="l"/>
            <a:r>
              <a:rPr kumimoji="1" lang="en-US" altLang="zh-CN" sz="1600" dirty="0">
                <a:latin typeface="Amazon Ember" panose="020B0603020204020204" pitchFamily="34" charset="0"/>
                <a:ea typeface="Amazon Ember" panose="020B0603020204020204" pitchFamily="34" charset="0"/>
                <a:cs typeface="Amazon Ember" panose="020B0603020204020204" pitchFamily="34" charset="0"/>
              </a:rPr>
              <a:t>AWS</a:t>
            </a:r>
            <a:endParaRPr kumimoji="1" lang="zh-CN" altLang="en-US" sz="16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7" name="文本框 6">
            <a:extLst>
              <a:ext uri="{FF2B5EF4-FFF2-40B4-BE49-F238E27FC236}">
                <a16:creationId xmlns:a16="http://schemas.microsoft.com/office/drawing/2014/main" id="{6B5E6450-38D0-045A-8F89-E049E40CFA1E}"/>
              </a:ext>
            </a:extLst>
          </p:cNvPr>
          <p:cNvSpPr txBox="1"/>
          <p:nvPr/>
        </p:nvSpPr>
        <p:spPr>
          <a:xfrm>
            <a:off x="6630642" y="2985597"/>
            <a:ext cx="1202573" cy="400110"/>
          </a:xfrm>
          <a:prstGeom prst="rect">
            <a:avLst/>
          </a:prstGeom>
          <a:noFill/>
        </p:spPr>
        <p:txBody>
          <a:bodyPr wrap="none" rtlCol="0">
            <a:spAutoFit/>
          </a:bodyPr>
          <a:lstStyle/>
          <a:p>
            <a:pPr algn="l"/>
            <a:r>
              <a:rPr kumimoji="1" lang="en-US" altLang="zh-CN" sz="2000" dirty="0" err="1">
                <a:latin typeface="Amazon Ember" panose="020B0603020204020204" pitchFamily="34" charset="0"/>
                <a:ea typeface="Amazon Ember" panose="020B0603020204020204" pitchFamily="34" charset="0"/>
                <a:cs typeface="Amazon Ember" panose="020B0603020204020204" pitchFamily="34" charset="0"/>
              </a:rPr>
              <a:t>ChatGPT</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pic>
        <p:nvPicPr>
          <p:cNvPr id="8" name="图形 7" descr="列表">
            <a:extLst>
              <a:ext uri="{FF2B5EF4-FFF2-40B4-BE49-F238E27FC236}">
                <a16:creationId xmlns:a16="http://schemas.microsoft.com/office/drawing/2014/main" id="{BB786EE6-22C6-030B-2F6D-EB82DA1B6C3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669993" y="1608455"/>
            <a:ext cx="914400" cy="914400"/>
          </a:xfrm>
          <a:prstGeom prst="rect">
            <a:avLst/>
          </a:prstGeom>
        </p:spPr>
      </p:pic>
      <p:cxnSp>
        <p:nvCxnSpPr>
          <p:cNvPr id="9" name="直线箭头连接符 8">
            <a:extLst>
              <a:ext uri="{FF2B5EF4-FFF2-40B4-BE49-F238E27FC236}">
                <a16:creationId xmlns:a16="http://schemas.microsoft.com/office/drawing/2014/main" id="{3A639D66-EA5B-DF9F-042E-7796220D8C29}"/>
              </a:ext>
            </a:extLst>
          </p:cNvPr>
          <p:cNvCxnSpPr>
            <a:cxnSpLocks/>
          </p:cNvCxnSpPr>
          <p:nvPr/>
        </p:nvCxnSpPr>
        <p:spPr>
          <a:xfrm>
            <a:off x="6125529" y="2447027"/>
            <a:ext cx="0" cy="2759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文本框 14">
            <a:extLst>
              <a:ext uri="{FF2B5EF4-FFF2-40B4-BE49-F238E27FC236}">
                <a16:creationId xmlns:a16="http://schemas.microsoft.com/office/drawing/2014/main" id="{09205FB4-C7AC-6F04-3A3B-D92969CEE778}"/>
              </a:ext>
            </a:extLst>
          </p:cNvPr>
          <p:cNvSpPr txBox="1"/>
          <p:nvPr/>
        </p:nvSpPr>
        <p:spPr>
          <a:xfrm>
            <a:off x="6617092" y="1781063"/>
            <a:ext cx="1374094" cy="707886"/>
          </a:xfrm>
          <a:prstGeom prst="rect">
            <a:avLst/>
          </a:prstGeom>
          <a:noFill/>
        </p:spPr>
        <p:txBody>
          <a:bodyPr wrap="none" rtlCol="0">
            <a:spAutoFit/>
          </a:bodyPr>
          <a:lstStyle/>
          <a:p>
            <a:pPr algn="l"/>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Customer </a:t>
            </a:r>
          </a:p>
          <a:p>
            <a:pPr algn="l"/>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Feedback</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16" name="直线箭头连接符 15">
            <a:extLst>
              <a:ext uri="{FF2B5EF4-FFF2-40B4-BE49-F238E27FC236}">
                <a16:creationId xmlns:a16="http://schemas.microsoft.com/office/drawing/2014/main" id="{80C8DA26-DDBF-E2A6-3E7E-8265B6CF7D07}"/>
              </a:ext>
            </a:extLst>
          </p:cNvPr>
          <p:cNvCxnSpPr>
            <a:cxnSpLocks/>
          </p:cNvCxnSpPr>
          <p:nvPr/>
        </p:nvCxnSpPr>
        <p:spPr>
          <a:xfrm>
            <a:off x="6125545" y="3594978"/>
            <a:ext cx="0" cy="3309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7" name="图形 16" descr="清单 RTL">
            <a:extLst>
              <a:ext uri="{FF2B5EF4-FFF2-40B4-BE49-F238E27FC236}">
                <a16:creationId xmlns:a16="http://schemas.microsoft.com/office/drawing/2014/main" id="{11822FDD-530A-4C24-A929-DFAC854361C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668328" y="3883345"/>
            <a:ext cx="914400" cy="914400"/>
          </a:xfrm>
          <a:prstGeom prst="rect">
            <a:avLst/>
          </a:prstGeom>
        </p:spPr>
      </p:pic>
      <p:sp>
        <p:nvSpPr>
          <p:cNvPr id="18" name="文本框 17">
            <a:extLst>
              <a:ext uri="{FF2B5EF4-FFF2-40B4-BE49-F238E27FC236}">
                <a16:creationId xmlns:a16="http://schemas.microsoft.com/office/drawing/2014/main" id="{8630D934-1BE1-33DE-7365-28F1C78AE0C7}"/>
              </a:ext>
            </a:extLst>
          </p:cNvPr>
          <p:cNvSpPr txBox="1"/>
          <p:nvPr/>
        </p:nvSpPr>
        <p:spPr>
          <a:xfrm>
            <a:off x="6502850" y="4009265"/>
            <a:ext cx="1669047" cy="707886"/>
          </a:xfrm>
          <a:prstGeom prst="rect">
            <a:avLst/>
          </a:prstGeom>
          <a:noFill/>
        </p:spPr>
        <p:txBody>
          <a:bodyPr wrap="none" rtlCol="0">
            <a:spAutoFit/>
          </a:bodyPr>
          <a:lstStyle/>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Pre-labelled </a:t>
            </a:r>
          </a:p>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data</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pic>
        <p:nvPicPr>
          <p:cNvPr id="19" name="图形 18" descr="用户">
            <a:extLst>
              <a:ext uri="{FF2B5EF4-FFF2-40B4-BE49-F238E27FC236}">
                <a16:creationId xmlns:a16="http://schemas.microsoft.com/office/drawing/2014/main" id="{141D97BB-9364-05A5-54F8-D931811C629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668328" y="4947960"/>
            <a:ext cx="914400" cy="914400"/>
          </a:xfrm>
          <a:prstGeom prst="rect">
            <a:avLst/>
          </a:prstGeom>
        </p:spPr>
      </p:pic>
      <p:cxnSp>
        <p:nvCxnSpPr>
          <p:cNvPr id="20" name="直线箭头连接符 19">
            <a:extLst>
              <a:ext uri="{FF2B5EF4-FFF2-40B4-BE49-F238E27FC236}">
                <a16:creationId xmlns:a16="http://schemas.microsoft.com/office/drawing/2014/main" id="{7E88131D-2E53-E1CF-1B68-327651E21D69}"/>
              </a:ext>
            </a:extLst>
          </p:cNvPr>
          <p:cNvCxnSpPr>
            <a:cxnSpLocks/>
          </p:cNvCxnSpPr>
          <p:nvPr/>
        </p:nvCxnSpPr>
        <p:spPr>
          <a:xfrm>
            <a:off x="6125528" y="4717151"/>
            <a:ext cx="0" cy="3309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71DACFAC-E5B3-B345-5F87-183E6E70ED15}"/>
              </a:ext>
            </a:extLst>
          </p:cNvPr>
          <p:cNvSpPr txBox="1"/>
          <p:nvPr/>
        </p:nvSpPr>
        <p:spPr>
          <a:xfrm>
            <a:off x="6630642" y="4989004"/>
            <a:ext cx="1492716" cy="707886"/>
          </a:xfrm>
          <a:prstGeom prst="rect">
            <a:avLst/>
          </a:prstGeom>
          <a:noFill/>
        </p:spPr>
        <p:txBody>
          <a:bodyPr wrap="none" rtlCol="0">
            <a:spAutoFit/>
          </a:bodyPr>
          <a:lstStyle/>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Manual </a:t>
            </a:r>
          </a:p>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verification</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2" name="直线箭头连接符 21">
            <a:extLst>
              <a:ext uri="{FF2B5EF4-FFF2-40B4-BE49-F238E27FC236}">
                <a16:creationId xmlns:a16="http://schemas.microsoft.com/office/drawing/2014/main" id="{3E78ABFE-17F8-B4E0-F82D-23FF0F4DFC4F}"/>
              </a:ext>
            </a:extLst>
          </p:cNvPr>
          <p:cNvCxnSpPr>
            <a:cxnSpLocks/>
          </p:cNvCxnSpPr>
          <p:nvPr/>
        </p:nvCxnSpPr>
        <p:spPr>
          <a:xfrm>
            <a:off x="6143347" y="5733472"/>
            <a:ext cx="0" cy="3309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3" name="图形 22" descr="清单">
            <a:extLst>
              <a:ext uri="{FF2B5EF4-FFF2-40B4-BE49-F238E27FC236}">
                <a16:creationId xmlns:a16="http://schemas.microsoft.com/office/drawing/2014/main" id="{E4792F27-0D92-A9AA-283A-2FEAEE66DFC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93435" y="6012575"/>
            <a:ext cx="914400" cy="914400"/>
          </a:xfrm>
          <a:prstGeom prst="rect">
            <a:avLst/>
          </a:prstGeom>
        </p:spPr>
      </p:pic>
      <p:sp>
        <p:nvSpPr>
          <p:cNvPr id="24" name="文本框 23">
            <a:extLst>
              <a:ext uri="{FF2B5EF4-FFF2-40B4-BE49-F238E27FC236}">
                <a16:creationId xmlns:a16="http://schemas.microsoft.com/office/drawing/2014/main" id="{BBAF86C2-9D2A-1861-C189-2CD6F948B3CC}"/>
              </a:ext>
            </a:extLst>
          </p:cNvPr>
          <p:cNvSpPr txBox="1"/>
          <p:nvPr/>
        </p:nvSpPr>
        <p:spPr>
          <a:xfrm>
            <a:off x="6791743" y="6115832"/>
            <a:ext cx="1170513" cy="707886"/>
          </a:xfrm>
          <a:prstGeom prst="rect">
            <a:avLst/>
          </a:prstGeom>
          <a:noFill/>
        </p:spPr>
        <p:txBody>
          <a:bodyPr wrap="none" rtlCol="0">
            <a:spAutoFit/>
          </a:bodyPr>
          <a:lstStyle/>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Labeled </a:t>
            </a:r>
          </a:p>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data</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25" name="圆角矩形 24">
            <a:extLst>
              <a:ext uri="{FF2B5EF4-FFF2-40B4-BE49-F238E27FC236}">
                <a16:creationId xmlns:a16="http://schemas.microsoft.com/office/drawing/2014/main" id="{385F6D24-5FFD-C8C7-A80B-6FEB4BE42584}"/>
              </a:ext>
            </a:extLst>
          </p:cNvPr>
          <p:cNvSpPr/>
          <p:nvPr/>
        </p:nvSpPr>
        <p:spPr>
          <a:xfrm>
            <a:off x="9865281" y="1551742"/>
            <a:ext cx="3331985" cy="5466672"/>
          </a:xfrm>
          <a:prstGeom prst="roundRect">
            <a:avLst/>
          </a:prstGeom>
          <a:noFill/>
          <a:ln>
            <a:solidFill>
              <a:schemeClr val="accent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kumimoji="1" lang="zh-CN" altLang="en-US" dirty="0"/>
          </a:p>
        </p:txBody>
      </p:sp>
      <p:sp>
        <p:nvSpPr>
          <p:cNvPr id="26" name="文本框 25">
            <a:extLst>
              <a:ext uri="{FF2B5EF4-FFF2-40B4-BE49-F238E27FC236}">
                <a16:creationId xmlns:a16="http://schemas.microsoft.com/office/drawing/2014/main" id="{0192A0DE-8176-FCB9-2CC6-971E7C4E3473}"/>
              </a:ext>
            </a:extLst>
          </p:cNvPr>
          <p:cNvSpPr txBox="1"/>
          <p:nvPr/>
        </p:nvSpPr>
        <p:spPr>
          <a:xfrm>
            <a:off x="5760342" y="1206926"/>
            <a:ext cx="1949573" cy="338554"/>
          </a:xfrm>
          <a:prstGeom prst="rect">
            <a:avLst/>
          </a:prstGeom>
          <a:noFill/>
        </p:spPr>
        <p:txBody>
          <a:bodyPr wrap="none" rtlCol="0">
            <a:spAutoFit/>
          </a:bodyPr>
          <a:lstStyle/>
          <a:p>
            <a:pPr algn="l"/>
            <a:r>
              <a:rPr kumimoji="1" lang="en" altLang="zh-CN" sz="1600" dirty="0">
                <a:latin typeface="Amazon Ember" panose="020B0603020204020204" pitchFamily="34" charset="0"/>
                <a:ea typeface="Amazon Ember" panose="020B0603020204020204" pitchFamily="34" charset="0"/>
                <a:cs typeface="Amazon Ember" panose="020B0603020204020204" pitchFamily="34" charset="0"/>
              </a:rPr>
              <a:t>Data Accumulation</a:t>
            </a:r>
            <a:endParaRPr kumimoji="1" lang="zh-CN" altLang="en-US" sz="1600" dirty="0" err="1">
              <a:latin typeface="Amazon Ember" panose="020B0603020204020204" pitchFamily="34" charset="0"/>
              <a:ea typeface="Amazon Ember" panose="020B0603020204020204" pitchFamily="34" charset="0"/>
              <a:cs typeface="Amazon Ember" panose="020B0603020204020204" pitchFamily="34" charset="0"/>
            </a:endParaRPr>
          </a:p>
        </p:txBody>
      </p:sp>
      <p:pic>
        <p:nvPicPr>
          <p:cNvPr id="27" name="图形 26" descr="清单">
            <a:extLst>
              <a:ext uri="{FF2B5EF4-FFF2-40B4-BE49-F238E27FC236}">
                <a16:creationId xmlns:a16="http://schemas.microsoft.com/office/drawing/2014/main" id="{B0EB688A-E3FE-B67C-AA86-03A31627C380}"/>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399108" y="1618602"/>
            <a:ext cx="914400" cy="914400"/>
          </a:xfrm>
          <a:prstGeom prst="rect">
            <a:avLst/>
          </a:prstGeom>
        </p:spPr>
      </p:pic>
      <p:sp>
        <p:nvSpPr>
          <p:cNvPr id="28" name="文本框 27">
            <a:extLst>
              <a:ext uri="{FF2B5EF4-FFF2-40B4-BE49-F238E27FC236}">
                <a16:creationId xmlns:a16="http://schemas.microsoft.com/office/drawing/2014/main" id="{89FBBCC0-8023-BFAC-0A79-89053162177E}"/>
              </a:ext>
            </a:extLst>
          </p:cNvPr>
          <p:cNvSpPr txBox="1"/>
          <p:nvPr/>
        </p:nvSpPr>
        <p:spPr>
          <a:xfrm>
            <a:off x="11497416" y="1721859"/>
            <a:ext cx="1170513" cy="707886"/>
          </a:xfrm>
          <a:prstGeom prst="rect">
            <a:avLst/>
          </a:prstGeom>
          <a:noFill/>
        </p:spPr>
        <p:txBody>
          <a:bodyPr wrap="none" rtlCol="0">
            <a:spAutoFit/>
          </a:bodyPr>
          <a:lstStyle/>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Labeled </a:t>
            </a:r>
          </a:p>
          <a:p>
            <a:pPr algn="ctr"/>
            <a:r>
              <a:rPr kumimoji="1" lang="en" altLang="zh-CN" sz="2000" dirty="0">
                <a:latin typeface="Amazon Ember" panose="020B0603020204020204" pitchFamily="34" charset="0"/>
                <a:ea typeface="Amazon Ember" panose="020B0603020204020204" pitchFamily="34" charset="0"/>
                <a:cs typeface="Amazon Ember" panose="020B0603020204020204" pitchFamily="34" charset="0"/>
              </a:rPr>
              <a:t>data</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29" name="直线箭头连接符 28">
            <a:extLst>
              <a:ext uri="{FF2B5EF4-FFF2-40B4-BE49-F238E27FC236}">
                <a16:creationId xmlns:a16="http://schemas.microsoft.com/office/drawing/2014/main" id="{76F7A53B-CFA5-6528-6DF0-4CDD587C0BA2}"/>
              </a:ext>
            </a:extLst>
          </p:cNvPr>
          <p:cNvCxnSpPr>
            <a:cxnSpLocks/>
          </p:cNvCxnSpPr>
          <p:nvPr/>
        </p:nvCxnSpPr>
        <p:spPr>
          <a:xfrm>
            <a:off x="10867771" y="2461507"/>
            <a:ext cx="0" cy="2759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0" name="Picture 4" descr="Amazon SageMaker Introduction – Try Machine Learning with Built-in  Algorithms | devnote">
            <a:extLst>
              <a:ext uri="{FF2B5EF4-FFF2-40B4-BE49-F238E27FC236}">
                <a16:creationId xmlns:a16="http://schemas.microsoft.com/office/drawing/2014/main" id="{5DA11085-D97C-AC8E-E883-07382949534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452924" y="4158384"/>
            <a:ext cx="850451" cy="850451"/>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直线箭头连接符 30">
            <a:extLst>
              <a:ext uri="{FF2B5EF4-FFF2-40B4-BE49-F238E27FC236}">
                <a16:creationId xmlns:a16="http://schemas.microsoft.com/office/drawing/2014/main" id="{0CE53C34-34B5-2A10-013E-C3010E229A3C}"/>
              </a:ext>
            </a:extLst>
          </p:cNvPr>
          <p:cNvCxnSpPr>
            <a:cxnSpLocks/>
            <a:stCxn id="32" idx="2"/>
            <a:endCxn id="30" idx="0"/>
          </p:cNvCxnSpPr>
          <p:nvPr/>
        </p:nvCxnSpPr>
        <p:spPr>
          <a:xfrm>
            <a:off x="10878149" y="3712263"/>
            <a:ext cx="1" cy="44612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2" name="Picture 8">
            <a:extLst>
              <a:ext uri="{FF2B5EF4-FFF2-40B4-BE49-F238E27FC236}">
                <a16:creationId xmlns:a16="http://schemas.microsoft.com/office/drawing/2014/main" id="{EBB52C92-868E-DD31-BAFC-2701C30264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463302" y="2723225"/>
            <a:ext cx="829693" cy="989038"/>
          </a:xfrm>
          <a:prstGeom prst="rect">
            <a:avLst/>
          </a:prstGeom>
          <a:noFill/>
          <a:extLst>
            <a:ext uri="{909E8E84-426E-40DD-AFC4-6F175D3DCCD1}">
              <a14:hiddenFill xmlns:a14="http://schemas.microsoft.com/office/drawing/2010/main">
                <a:solidFill>
                  <a:srgbClr val="FFFFFF"/>
                </a:solidFill>
              </a14:hiddenFill>
            </a:ext>
          </a:extLst>
        </p:spPr>
      </p:pic>
      <p:sp>
        <p:nvSpPr>
          <p:cNvPr id="33" name="文本框 32">
            <a:extLst>
              <a:ext uri="{FF2B5EF4-FFF2-40B4-BE49-F238E27FC236}">
                <a16:creationId xmlns:a16="http://schemas.microsoft.com/office/drawing/2014/main" id="{6ED6B20E-D7E5-9115-DE6F-066FF67677D3}"/>
              </a:ext>
            </a:extLst>
          </p:cNvPr>
          <p:cNvSpPr txBox="1"/>
          <p:nvPr/>
        </p:nvSpPr>
        <p:spPr>
          <a:xfrm>
            <a:off x="11842061" y="3044135"/>
            <a:ext cx="481222" cy="400110"/>
          </a:xfrm>
          <a:prstGeom prst="rect">
            <a:avLst/>
          </a:prstGeom>
          <a:noFill/>
        </p:spPr>
        <p:txBody>
          <a:bodyPr wrap="none" rtlCol="0">
            <a:spAutoFit/>
          </a:bodyPr>
          <a:lstStyle/>
          <a:p>
            <a:pPr algn="l"/>
            <a:r>
              <a:rPr kumimoji="1" lang="en-US" altLang="zh-CN" sz="2000" dirty="0">
                <a:latin typeface="Amazon Ember" panose="020B0603020204020204" pitchFamily="34" charset="0"/>
                <a:ea typeface="Amazon Ember" panose="020B0603020204020204" pitchFamily="34" charset="0"/>
                <a:cs typeface="Amazon Ember" panose="020B0603020204020204" pitchFamily="34" charset="0"/>
              </a:rPr>
              <a:t>S3</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34" name="文本框 33">
            <a:extLst>
              <a:ext uri="{FF2B5EF4-FFF2-40B4-BE49-F238E27FC236}">
                <a16:creationId xmlns:a16="http://schemas.microsoft.com/office/drawing/2014/main" id="{7D285428-C014-E133-1D78-70221A4E137C}"/>
              </a:ext>
            </a:extLst>
          </p:cNvPr>
          <p:cNvSpPr txBox="1"/>
          <p:nvPr/>
        </p:nvSpPr>
        <p:spPr>
          <a:xfrm>
            <a:off x="11531273" y="4089859"/>
            <a:ext cx="1257075" cy="707886"/>
          </a:xfrm>
          <a:prstGeom prst="rect">
            <a:avLst/>
          </a:prstGeom>
          <a:noFill/>
        </p:spPr>
        <p:txBody>
          <a:bodyPr wrap="none" rtlCol="0">
            <a:spAutoFit/>
          </a:bodyPr>
          <a:lstStyle/>
          <a:p>
            <a:pPr algn="l"/>
            <a:r>
              <a:rPr kumimoji="1" lang="en-US" altLang="zh-CN" sz="2000" dirty="0">
                <a:latin typeface="Amazon Ember" panose="020B0603020204020204" pitchFamily="34" charset="0"/>
                <a:ea typeface="Amazon Ember" panose="020B0603020204020204" pitchFamily="34" charset="0"/>
                <a:cs typeface="Amazon Ember" panose="020B0603020204020204" pitchFamily="34" charset="0"/>
              </a:rPr>
              <a:t>Training</a:t>
            </a:r>
          </a:p>
          <a:p>
            <a:pPr algn="l"/>
            <a:r>
              <a:rPr kumimoji="1" lang="en-US" altLang="zh-CN" sz="2000" dirty="0">
                <a:latin typeface="Amazon Ember" panose="020B0603020204020204" pitchFamily="34" charset="0"/>
                <a:ea typeface="Amazon Ember" panose="020B0603020204020204" pitchFamily="34" charset="0"/>
                <a:cs typeface="Amazon Ember" panose="020B0603020204020204" pitchFamily="34" charset="0"/>
              </a:rPr>
              <a:t>&amp;</a:t>
            </a:r>
            <a:r>
              <a:rPr kumimoji="1" lang="zh-CN" altLang="en-US" sz="20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000" dirty="0">
                <a:latin typeface="Amazon Ember" panose="020B0603020204020204" pitchFamily="34" charset="0"/>
                <a:ea typeface="Amazon Ember" panose="020B0603020204020204" pitchFamily="34" charset="0"/>
                <a:cs typeface="Amazon Ember" panose="020B0603020204020204" pitchFamily="34" charset="0"/>
              </a:rPr>
              <a:t>Deploy</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cxnSp>
        <p:nvCxnSpPr>
          <p:cNvPr id="35" name="直线箭头连接符 34">
            <a:extLst>
              <a:ext uri="{FF2B5EF4-FFF2-40B4-BE49-F238E27FC236}">
                <a16:creationId xmlns:a16="http://schemas.microsoft.com/office/drawing/2014/main" id="{E18E8AA2-106C-0944-78B5-D2FAC67A4DC9}"/>
              </a:ext>
            </a:extLst>
          </p:cNvPr>
          <p:cNvCxnSpPr>
            <a:cxnSpLocks/>
          </p:cNvCxnSpPr>
          <p:nvPr/>
        </p:nvCxnSpPr>
        <p:spPr>
          <a:xfrm>
            <a:off x="10872561" y="5048063"/>
            <a:ext cx="0" cy="42885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36" name="图形 35" descr="机器人">
            <a:extLst>
              <a:ext uri="{FF2B5EF4-FFF2-40B4-BE49-F238E27FC236}">
                <a16:creationId xmlns:a16="http://schemas.microsoft.com/office/drawing/2014/main" id="{87D5321E-B99C-EE19-FC37-17EF1E270AAC}"/>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410570" y="5555375"/>
            <a:ext cx="914400" cy="914400"/>
          </a:xfrm>
          <a:prstGeom prst="rect">
            <a:avLst/>
          </a:prstGeom>
        </p:spPr>
      </p:pic>
      <p:sp>
        <p:nvSpPr>
          <p:cNvPr id="37" name="文本框 36">
            <a:extLst>
              <a:ext uri="{FF2B5EF4-FFF2-40B4-BE49-F238E27FC236}">
                <a16:creationId xmlns:a16="http://schemas.microsoft.com/office/drawing/2014/main" id="{633B78C5-84E5-7E08-DF81-81406D984FFE}"/>
              </a:ext>
            </a:extLst>
          </p:cNvPr>
          <p:cNvSpPr txBox="1"/>
          <p:nvPr/>
        </p:nvSpPr>
        <p:spPr>
          <a:xfrm>
            <a:off x="11521460" y="5782307"/>
            <a:ext cx="1122423" cy="400110"/>
          </a:xfrm>
          <a:prstGeom prst="rect">
            <a:avLst/>
          </a:prstGeom>
          <a:noFill/>
        </p:spPr>
        <p:txBody>
          <a:bodyPr wrap="none" rtlCol="0">
            <a:spAutoFit/>
          </a:bodyPr>
          <a:lstStyle/>
          <a:p>
            <a:pPr algn="l"/>
            <a:r>
              <a:rPr kumimoji="1" lang="en-US" altLang="zh-CN" sz="2000" dirty="0" err="1">
                <a:latin typeface="Amazon Ember" panose="020B0603020204020204" pitchFamily="34" charset="0"/>
                <a:ea typeface="Amazon Ember" panose="020B0603020204020204" pitchFamily="34" charset="0"/>
                <a:cs typeface="Amazon Ember" panose="020B0603020204020204" pitchFamily="34" charset="0"/>
              </a:rPr>
              <a:t>FaFabot</a:t>
            </a:r>
            <a:endParaRPr kumimoji="1" lang="zh-CN" altLang="en-US" sz="2000" dirty="0" err="1">
              <a:latin typeface="Amazon Ember" panose="020B0603020204020204" pitchFamily="34" charset="0"/>
              <a:ea typeface="Amazon Ember" panose="020B0603020204020204" pitchFamily="34" charset="0"/>
              <a:cs typeface="Amazon Ember" panose="020B0603020204020204" pitchFamily="34" charset="0"/>
            </a:endParaRPr>
          </a:p>
        </p:txBody>
      </p:sp>
      <p:sp>
        <p:nvSpPr>
          <p:cNvPr id="38" name="右箭头 37">
            <a:extLst>
              <a:ext uri="{FF2B5EF4-FFF2-40B4-BE49-F238E27FC236}">
                <a16:creationId xmlns:a16="http://schemas.microsoft.com/office/drawing/2014/main" id="{F880A423-B3ED-BA7E-24B6-E1D54544E186}"/>
              </a:ext>
            </a:extLst>
          </p:cNvPr>
          <p:cNvSpPr/>
          <p:nvPr/>
        </p:nvSpPr>
        <p:spPr>
          <a:xfrm>
            <a:off x="8613349" y="3760434"/>
            <a:ext cx="1150806" cy="329425"/>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84420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264687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算法架构</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23284142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22026" y="129164"/>
            <a:ext cx="2031325" cy="646331"/>
          </a:xfrm>
          <a:prstGeom prst="rect">
            <a:avLst/>
          </a:prstGeom>
        </p:spPr>
        <p:txBody>
          <a:bodyPr wrap="non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算法架构</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2">
            <a:hlinkClick r:id="rId2"/>
            <a:extLst>
              <a:ext uri="{FF2B5EF4-FFF2-40B4-BE49-F238E27FC236}">
                <a16:creationId xmlns:a16="http://schemas.microsoft.com/office/drawing/2014/main" id="{20804E47-5B1E-C86D-C55D-492D0B9E9B71}"/>
              </a:ext>
            </a:extLst>
          </p:cNvPr>
          <p:cNvSpPr>
            <a:spLocks noChangeAspect="1" noChangeArrowheads="1"/>
          </p:cNvSpPr>
          <p:nvPr/>
        </p:nvSpPr>
        <p:spPr bwMode="auto">
          <a:xfrm>
            <a:off x="7010400"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3" name="图片 2">
            <a:extLst>
              <a:ext uri="{FF2B5EF4-FFF2-40B4-BE49-F238E27FC236}">
                <a16:creationId xmlns:a16="http://schemas.microsoft.com/office/drawing/2014/main" id="{E406E605-D893-50BE-8A48-3B660A244AC4}"/>
              </a:ext>
            </a:extLst>
          </p:cNvPr>
          <p:cNvPicPr>
            <a:picLocks noChangeAspect="1"/>
          </p:cNvPicPr>
          <p:nvPr/>
        </p:nvPicPr>
        <p:blipFill>
          <a:blip r:embed="rId3"/>
          <a:stretch>
            <a:fillRect/>
          </a:stretch>
        </p:blipFill>
        <p:spPr>
          <a:xfrm>
            <a:off x="1537689" y="1163826"/>
            <a:ext cx="11555021" cy="3370745"/>
          </a:xfrm>
          <a:prstGeom prst="rect">
            <a:avLst/>
          </a:prstGeom>
        </p:spPr>
      </p:pic>
      <p:sp>
        <p:nvSpPr>
          <p:cNvPr id="4" name="文本框 3">
            <a:extLst>
              <a:ext uri="{FF2B5EF4-FFF2-40B4-BE49-F238E27FC236}">
                <a16:creationId xmlns:a16="http://schemas.microsoft.com/office/drawing/2014/main" id="{684063F7-55CB-9280-43DE-C2434D534C69}"/>
              </a:ext>
            </a:extLst>
          </p:cNvPr>
          <p:cNvSpPr txBox="1"/>
          <p:nvPr/>
        </p:nvSpPr>
        <p:spPr>
          <a:xfrm>
            <a:off x="1102380" y="5348921"/>
            <a:ext cx="12930143" cy="1431161"/>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基于</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T5-base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进行模型训练（</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0.15B</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参数量），单卡</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ml.g4dn.xlarge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即可部署</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输入</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{“input”: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err="1">
                <a:latin typeface="Amazon Ember" panose="020B0603020204020204" pitchFamily="34" charset="0"/>
                <a:ea typeface="Amazon Ember" panose="020B0603020204020204" pitchFamily="34" charset="0"/>
                <a:cs typeface="Amazon Ember" panose="020B0603020204020204" pitchFamily="34" charset="0"/>
              </a:rPr>
              <a:t>xxxxxxxxxxxxxxx</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p>
          <a:p>
            <a:r>
              <a:rPr kumimoji="1" lang="zh-CN" altLang="en-US" sz="2900" b="1" dirty="0">
                <a:latin typeface="Amazon Ember" panose="020B0603020204020204" pitchFamily="34" charset="0"/>
                <a:ea typeface="Amazon Ember" panose="020B0603020204020204" pitchFamily="34" charset="0"/>
                <a:cs typeface="Amazon Ember" panose="020B0603020204020204" pitchFamily="34" charset="0"/>
              </a:rPr>
              <a:t>输出</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xxx</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category</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:xxx</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err="1">
                <a:latin typeface="Amazon Ember" panose="020B0603020204020204" pitchFamily="34" charset="0"/>
                <a:ea typeface="Amazon Ember" panose="020B0603020204020204" pitchFamily="34" charset="0"/>
                <a:cs typeface="Amazon Ember" panose="020B0603020204020204" pitchFamily="34" charset="0"/>
              </a:rPr>
              <a:t>opinion”:xxx</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sentiment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:xxx}</a:t>
            </a:r>
          </a:p>
        </p:txBody>
      </p:sp>
    </p:spTree>
    <p:extLst>
      <p:ext uri="{BB962C8B-B14F-4D97-AF65-F5344CB8AC3E}">
        <p14:creationId xmlns:p14="http://schemas.microsoft.com/office/powerpoint/2010/main" val="1291715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8C3ADC2-150B-344D-AC78-4C4B6D990978}"/>
              </a:ext>
            </a:extLst>
          </p:cNvPr>
          <p:cNvSpPr/>
          <p:nvPr/>
        </p:nvSpPr>
        <p:spPr>
          <a:xfrm>
            <a:off x="1020643" y="2797888"/>
            <a:ext cx="2646878" cy="830997"/>
          </a:xfrm>
          <a:prstGeom prst="rect">
            <a:avLst/>
          </a:prstGeom>
        </p:spPr>
        <p:txBody>
          <a:bodyPr wrap="none">
            <a:spAutoFit/>
          </a:bodyPr>
          <a:lstStyle/>
          <a:p>
            <a:r>
              <a:rPr kumimoji="1" lang="zh-CN" altLang="en-US" sz="4800" b="1" dirty="0">
                <a:latin typeface="Amazon Ember" panose="020B0603020204020204" pitchFamily="34" charset="0"/>
                <a:ea typeface="Amazon Ember" panose="020B0603020204020204" pitchFamily="34" charset="0"/>
                <a:cs typeface="Amazon Ember" panose="020B0603020204020204" pitchFamily="34" charset="0"/>
              </a:rPr>
              <a:t>时间节点</a:t>
            </a:r>
            <a:endParaRPr kumimoji="1" lang="en-US" altLang="zh-CN" sz="4800" b="1" dirty="0">
              <a:latin typeface="Amazon Ember" panose="020B0603020204020204" pitchFamily="34" charset="0"/>
              <a:ea typeface="Amazon Ember" panose="020B0603020204020204" pitchFamily="34" charset="0"/>
              <a:cs typeface="Amazon Ember" panose="020B0603020204020204" pitchFamily="34" charset="0"/>
            </a:endParaRPr>
          </a:p>
        </p:txBody>
      </p:sp>
    </p:spTree>
    <p:extLst>
      <p:ext uri="{BB962C8B-B14F-4D97-AF65-F5344CB8AC3E}">
        <p14:creationId xmlns:p14="http://schemas.microsoft.com/office/powerpoint/2010/main" val="4479712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22026" y="129164"/>
            <a:ext cx="2031325" cy="646331"/>
          </a:xfrm>
          <a:prstGeom prst="rect">
            <a:avLst/>
          </a:prstGeom>
        </p:spPr>
        <p:txBody>
          <a:bodyPr wrap="non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时间节点</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2">
            <a:hlinkClick r:id="rId2"/>
            <a:extLst>
              <a:ext uri="{FF2B5EF4-FFF2-40B4-BE49-F238E27FC236}">
                <a16:creationId xmlns:a16="http://schemas.microsoft.com/office/drawing/2014/main" id="{20804E47-5B1E-C86D-C55D-492D0B9E9B71}"/>
              </a:ext>
            </a:extLst>
          </p:cNvPr>
          <p:cNvSpPr>
            <a:spLocks noChangeAspect="1" noChangeArrowheads="1"/>
          </p:cNvSpPr>
          <p:nvPr/>
        </p:nvSpPr>
        <p:spPr bwMode="auto">
          <a:xfrm>
            <a:off x="7010400"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文本框 4">
            <a:extLst>
              <a:ext uri="{FF2B5EF4-FFF2-40B4-BE49-F238E27FC236}">
                <a16:creationId xmlns:a16="http://schemas.microsoft.com/office/drawing/2014/main" id="{5905F460-BAC4-D9F8-9FB4-94460CB353DC}"/>
              </a:ext>
            </a:extLst>
          </p:cNvPr>
          <p:cNvSpPr txBox="1"/>
          <p:nvPr/>
        </p:nvSpPr>
        <p:spPr>
          <a:xfrm>
            <a:off x="763673" y="1778559"/>
            <a:ext cx="13268849" cy="3662541"/>
          </a:xfrm>
          <a:prstGeom prst="rect">
            <a:avLst/>
          </a:prstGeom>
          <a:noFill/>
        </p:spPr>
        <p:txBody>
          <a:bodyPr wrap="square" rtlCol="0">
            <a:spAutoFit/>
          </a:bodyPr>
          <a:lstStyle/>
          <a:p>
            <a:pPr algn="l"/>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数据准备（</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1~2</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周）</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，建议</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AWS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侧引入</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支持</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API</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调用以及数据积累模块的开发</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建议传音侧准备</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category</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的定义以及未标注的文本数据</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算法构建（</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2~3</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周）</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AWS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侧（</a:t>
            </a:r>
            <a:r>
              <a:rPr kumimoji="1" lang="en-US" altLang="zh-CN" sz="2900" dirty="0" err="1">
                <a:latin typeface="Amazon Ember" panose="020B0603020204020204" pitchFamily="34" charset="0"/>
                <a:ea typeface="Amazon Ember" panose="020B0603020204020204" pitchFamily="34" charset="0"/>
                <a:cs typeface="Amazon Ember" panose="020B0603020204020204" pitchFamily="34" charset="0"/>
              </a:rPr>
              <a:t>Datalab</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）负责算法在</a:t>
            </a:r>
            <a:r>
              <a:rPr kumimoji="1" lang="en-US" altLang="zh-CN" sz="2900" dirty="0" err="1">
                <a:latin typeface="Amazon Ember" panose="020B0603020204020204" pitchFamily="34" charset="0"/>
                <a:ea typeface="Amazon Ember" panose="020B0603020204020204" pitchFamily="34" charset="0"/>
                <a:cs typeface="Amazon Ember" panose="020B0603020204020204" pitchFamily="34" charset="0"/>
              </a:rPr>
              <a:t>SageMaker</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侧的训练和部署，并且形成</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pipeline</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以及相关技术文档</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算法交付（半天）</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AWS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侧负责提供训练</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部署培训，传音侧提供有</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AWS</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使用经验的同事进行交接</a:t>
            </a:r>
          </a:p>
        </p:txBody>
      </p:sp>
    </p:spTree>
    <p:extLst>
      <p:ext uri="{BB962C8B-B14F-4D97-AF65-F5344CB8AC3E}">
        <p14:creationId xmlns:p14="http://schemas.microsoft.com/office/powerpoint/2010/main" val="1844537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22026" y="129164"/>
            <a:ext cx="2031325" cy="646331"/>
          </a:xfrm>
          <a:prstGeom prst="rect">
            <a:avLst/>
          </a:prstGeom>
        </p:spPr>
        <p:txBody>
          <a:bodyPr wrap="non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数据格式</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2">
            <a:hlinkClick r:id="rId2"/>
            <a:extLst>
              <a:ext uri="{FF2B5EF4-FFF2-40B4-BE49-F238E27FC236}">
                <a16:creationId xmlns:a16="http://schemas.microsoft.com/office/drawing/2014/main" id="{20804E47-5B1E-C86D-C55D-492D0B9E9B71}"/>
              </a:ext>
            </a:extLst>
          </p:cNvPr>
          <p:cNvSpPr>
            <a:spLocks noChangeAspect="1" noChangeArrowheads="1"/>
          </p:cNvSpPr>
          <p:nvPr/>
        </p:nvSpPr>
        <p:spPr bwMode="auto">
          <a:xfrm>
            <a:off x="7010400"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文本框 2">
            <a:extLst>
              <a:ext uri="{FF2B5EF4-FFF2-40B4-BE49-F238E27FC236}">
                <a16:creationId xmlns:a16="http://schemas.microsoft.com/office/drawing/2014/main" id="{58FD41FE-EB2C-E4F1-3E55-7186EA2A7AF6}"/>
              </a:ext>
            </a:extLst>
          </p:cNvPr>
          <p:cNvSpPr txBox="1"/>
          <p:nvPr/>
        </p:nvSpPr>
        <p:spPr>
          <a:xfrm>
            <a:off x="351692" y="1406769"/>
            <a:ext cx="13927016" cy="4154984"/>
          </a:xfrm>
          <a:prstGeom prst="rect">
            <a:avLst/>
          </a:prstGeom>
          <a:noFill/>
        </p:spPr>
        <p:txBody>
          <a:bodyPr wrap="square" rtlCol="0">
            <a:spAutoFit/>
          </a:bodyPr>
          <a:lstStyle/>
          <a:p>
            <a:pPr algn="l"/>
            <a:r>
              <a:rPr kumimoji="1" lang="zh-CN" altLang="en-US" sz="3200" b="1" dirty="0">
                <a:latin typeface="Amazon Ember" panose="020B0603020204020204" pitchFamily="34" charset="0"/>
                <a:ea typeface="Amazon Ember" panose="020B0603020204020204" pitchFamily="34" charset="0"/>
                <a:cs typeface="Amazon Ember" panose="020B0603020204020204" pitchFamily="34" charset="0"/>
              </a:rPr>
              <a:t>提问形式</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你的目标是尽可能全地分析下列评论的</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ABSA</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结果，</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请使用中文</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CSV</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格式输出：</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aspect,</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category,</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opinion,</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 </a:t>
            </a:r>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sentiment.</a:t>
            </a:r>
          </a:p>
          <a:p>
            <a:pPr algn="l"/>
            <a:r>
              <a:rPr kumimoji="1" lang="en-US" altLang="zh-CN" sz="2900" dirty="0">
                <a:latin typeface="Amazon Ember" panose="020B0603020204020204" pitchFamily="34" charset="0"/>
                <a:ea typeface="Amazon Ember" panose="020B0603020204020204" pitchFamily="34" charset="0"/>
                <a:cs typeface="Amazon Ember" panose="020B0603020204020204" pitchFamily="34" charset="0"/>
              </a:rPr>
              <a:t>Category</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应该只在如下范围中选择：</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所有的</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category}</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rPr>
              <a:t> </a:t>
            </a:r>
            <a:endPar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如果没有在评论中得到结果请返回“ ”</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评论</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sym typeface="Wingdings" pitchFamily="2" charset="2"/>
              </a:rPr>
              <a:t>：</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sym typeface="Wingdings" pitchFamily="2" charset="2"/>
              </a:rPr>
              <a:t>{</a:t>
            </a:r>
            <a:r>
              <a:rPr kumimoji="1" lang="zh-CN" altLang="en-US"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sym typeface="Wingdings" pitchFamily="2" charset="2"/>
              </a:rPr>
              <a:t>单条评论数据</a:t>
            </a:r>
            <a:r>
              <a:rPr kumimoji="1" lang="en-US" altLang="zh-CN" sz="2900" dirty="0">
                <a:solidFill>
                  <a:srgbClr val="FF0000"/>
                </a:solidFill>
                <a:latin typeface="Amazon Ember" panose="020B0603020204020204" pitchFamily="34" charset="0"/>
                <a:ea typeface="Amazon Ember" panose="020B0603020204020204" pitchFamily="34" charset="0"/>
                <a:cs typeface="Amazon Ember" panose="020B0603020204020204" pitchFamily="34" charset="0"/>
                <a:sym typeface="Wingdings" pitchFamily="2" charset="2"/>
              </a:rPr>
              <a:t>}</a:t>
            </a:r>
          </a:p>
          <a:p>
            <a:pPr algn="l"/>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sym typeface="Wingdings" pitchFamily="2" charset="2"/>
            </a:endParaRPr>
          </a:p>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sym typeface="Wingdings" pitchFamily="2" charset="2"/>
              </a:rPr>
              <a:t>你的回应：</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6" name="圆角矩形 5">
            <a:extLst>
              <a:ext uri="{FF2B5EF4-FFF2-40B4-BE49-F238E27FC236}">
                <a16:creationId xmlns:a16="http://schemas.microsoft.com/office/drawing/2014/main" id="{E4B23ADA-DCF1-996E-EAF7-054E739BA663}"/>
              </a:ext>
            </a:extLst>
          </p:cNvPr>
          <p:cNvSpPr/>
          <p:nvPr/>
        </p:nvSpPr>
        <p:spPr>
          <a:xfrm>
            <a:off x="271305" y="2150347"/>
            <a:ext cx="11696282" cy="3537020"/>
          </a:xfrm>
          <a:prstGeom prst="roundRect">
            <a:avLst/>
          </a:prstGeom>
          <a:no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p>
        </p:txBody>
      </p:sp>
      <p:sp>
        <p:nvSpPr>
          <p:cNvPr id="7" name="文本框 6">
            <a:extLst>
              <a:ext uri="{FF2B5EF4-FFF2-40B4-BE49-F238E27FC236}">
                <a16:creationId xmlns:a16="http://schemas.microsoft.com/office/drawing/2014/main" id="{ED092EFB-E5E6-181C-2739-C017E9DC86C2}"/>
              </a:ext>
            </a:extLst>
          </p:cNvPr>
          <p:cNvSpPr txBox="1"/>
          <p:nvPr/>
        </p:nvSpPr>
        <p:spPr>
          <a:xfrm>
            <a:off x="1095270" y="6501284"/>
            <a:ext cx="11713463" cy="538609"/>
          </a:xfrm>
          <a:prstGeom prst="rect">
            <a:avLst/>
          </a:prstGeom>
          <a:noFill/>
        </p:spPr>
        <p:txBody>
          <a:bodyPr wrap="none" rtlCol="0">
            <a:spAutoFit/>
          </a:bodyPr>
          <a:lstStyle/>
          <a:p>
            <a:pPr algn="l"/>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请使用上述提问方法进行预标注数据收集，只需要修改红色部分即可！</a:t>
            </a:r>
          </a:p>
        </p:txBody>
      </p:sp>
    </p:spTree>
    <p:extLst>
      <p:ext uri="{BB962C8B-B14F-4D97-AF65-F5344CB8AC3E}">
        <p14:creationId xmlns:p14="http://schemas.microsoft.com/office/powerpoint/2010/main" val="2488832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A232415-DC62-B779-ED4F-626AFE509FDE}"/>
              </a:ext>
            </a:extLst>
          </p:cNvPr>
          <p:cNvSpPr/>
          <p:nvPr/>
        </p:nvSpPr>
        <p:spPr>
          <a:xfrm>
            <a:off x="522026" y="129164"/>
            <a:ext cx="2031325" cy="646331"/>
          </a:xfrm>
          <a:prstGeom prst="rect">
            <a:avLst/>
          </a:prstGeom>
        </p:spPr>
        <p:txBody>
          <a:bodyPr wrap="none">
            <a:spAutoFit/>
          </a:bodyPr>
          <a:lstStyle/>
          <a:p>
            <a:r>
              <a:rPr kumimoji="1" lang="zh-CN" altLang="en-US" sz="3600" b="1" dirty="0">
                <a:latin typeface="Amazon Ember" panose="020B0603020204020204" pitchFamily="34" charset="0"/>
                <a:ea typeface="Amazon Ember" panose="020B0603020204020204" pitchFamily="34" charset="0"/>
                <a:cs typeface="Amazon Ember" panose="020B0603020204020204" pitchFamily="34" charset="0"/>
              </a:rPr>
              <a:t>数据格式</a:t>
            </a:r>
            <a:endParaRPr kumimoji="1" lang="en-US" altLang="zh-CN" sz="3600" b="1"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1" name="AutoShape 2">
            <a:hlinkClick r:id="rId2"/>
            <a:extLst>
              <a:ext uri="{FF2B5EF4-FFF2-40B4-BE49-F238E27FC236}">
                <a16:creationId xmlns:a16="http://schemas.microsoft.com/office/drawing/2014/main" id="{F71D4096-1E11-F8BB-C8DE-E22C78A309EC}"/>
              </a:ext>
            </a:extLst>
          </p:cNvPr>
          <p:cNvSpPr>
            <a:spLocks noChangeAspect="1" noChangeArrowheads="1"/>
          </p:cNvSpPr>
          <p:nvPr/>
        </p:nvSpPr>
        <p:spPr bwMode="auto">
          <a:xfrm>
            <a:off x="13727723" y="3819554"/>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文本框 2">
            <a:extLst>
              <a:ext uri="{FF2B5EF4-FFF2-40B4-BE49-F238E27FC236}">
                <a16:creationId xmlns:a16="http://schemas.microsoft.com/office/drawing/2014/main" id="{58FD41FE-EB2C-E4F1-3E55-7186EA2A7AF6}"/>
              </a:ext>
            </a:extLst>
          </p:cNvPr>
          <p:cNvSpPr txBox="1"/>
          <p:nvPr/>
        </p:nvSpPr>
        <p:spPr>
          <a:xfrm>
            <a:off x="351692" y="1406769"/>
            <a:ext cx="13927016" cy="584775"/>
          </a:xfrm>
          <a:prstGeom prst="rect">
            <a:avLst/>
          </a:prstGeom>
          <a:noFill/>
        </p:spPr>
        <p:txBody>
          <a:bodyPr wrap="square" rtlCol="0">
            <a:spAutoFit/>
          </a:bodyPr>
          <a:lstStyle/>
          <a:p>
            <a:pPr algn="l"/>
            <a:r>
              <a:rPr kumimoji="1" lang="zh-CN" altLang="en-US" sz="3200" b="1" dirty="0">
                <a:latin typeface="Amazon Ember" panose="020B0603020204020204" pitchFamily="34" charset="0"/>
                <a:ea typeface="Amazon Ember" panose="020B0603020204020204" pitchFamily="34" charset="0"/>
                <a:cs typeface="Amazon Ember" panose="020B0603020204020204" pitchFamily="34" charset="0"/>
              </a:rPr>
              <a:t>调用样例</a:t>
            </a:r>
            <a:r>
              <a:rPr kumimoji="1" lang="zh-CN" altLang="en-US" sz="2900" dirty="0">
                <a:latin typeface="Amazon Ember" panose="020B0603020204020204" pitchFamily="34" charset="0"/>
                <a:ea typeface="Amazon Ember" panose="020B0603020204020204" pitchFamily="34" charset="0"/>
                <a:cs typeface="Amazon Ember" panose="020B0603020204020204" pitchFamily="34" charset="0"/>
              </a:rPr>
              <a:t>：</a:t>
            </a:r>
            <a:endParaRPr kumimoji="1" lang="en-US" altLang="zh-CN" sz="2900" dirty="0">
              <a:latin typeface="Amazon Ember" panose="020B0603020204020204" pitchFamily="34" charset="0"/>
              <a:ea typeface="Amazon Ember" panose="020B0603020204020204" pitchFamily="34" charset="0"/>
              <a:cs typeface="Amazon Ember" panose="020B0603020204020204" pitchFamily="34" charset="0"/>
            </a:endParaRPr>
          </a:p>
        </p:txBody>
      </p:sp>
      <p:pic>
        <p:nvPicPr>
          <p:cNvPr id="5" name="图片 4">
            <a:extLst>
              <a:ext uri="{FF2B5EF4-FFF2-40B4-BE49-F238E27FC236}">
                <a16:creationId xmlns:a16="http://schemas.microsoft.com/office/drawing/2014/main" id="{944C927A-C569-0790-162F-7F2E8EC5B574}"/>
              </a:ext>
            </a:extLst>
          </p:cNvPr>
          <p:cNvPicPr>
            <a:picLocks noChangeAspect="1"/>
          </p:cNvPicPr>
          <p:nvPr/>
        </p:nvPicPr>
        <p:blipFill>
          <a:blip r:embed="rId3"/>
          <a:stretch>
            <a:fillRect/>
          </a:stretch>
        </p:blipFill>
        <p:spPr>
          <a:xfrm>
            <a:off x="1200335" y="2168729"/>
            <a:ext cx="12597441" cy="5212006"/>
          </a:xfrm>
          <a:prstGeom prst="rect">
            <a:avLst/>
          </a:prstGeom>
        </p:spPr>
      </p:pic>
    </p:spTree>
    <p:extLst>
      <p:ext uri="{BB962C8B-B14F-4D97-AF65-F5344CB8AC3E}">
        <p14:creationId xmlns:p14="http://schemas.microsoft.com/office/powerpoint/2010/main" val="36681945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ADC66-B5FD-D747-96FE-62C7FB088D4C}"/>
              </a:ext>
            </a:extLst>
          </p:cNvPr>
          <p:cNvSpPr>
            <a:spLocks noGrp="1"/>
          </p:cNvSpPr>
          <p:nvPr>
            <p:ph type="title"/>
          </p:nvPr>
        </p:nvSpPr>
        <p:spPr/>
        <p:txBody>
          <a:bodyPr/>
          <a:lstStyle/>
          <a:p>
            <a:r>
              <a:rPr lang="en-US" dirty="0"/>
              <a:t>Q&amp;A</a:t>
            </a:r>
          </a:p>
        </p:txBody>
      </p:sp>
    </p:spTree>
    <p:extLst>
      <p:ext uri="{BB962C8B-B14F-4D97-AF65-F5344CB8AC3E}">
        <p14:creationId xmlns:p14="http://schemas.microsoft.com/office/powerpoint/2010/main" val="1310125899"/>
      </p:ext>
    </p:extLst>
  </p:cSld>
  <p:clrMapOvr>
    <a:masterClrMapping/>
  </p:clrMapOvr>
</p:sld>
</file>

<file path=ppt/theme/theme1.xml><?xml version="1.0" encoding="utf-8"?>
<a:theme xmlns:a="http://schemas.openxmlformats.org/drawingml/2006/main" name="DeckTemplate-AWS">
  <a:themeElements>
    <a:clrScheme name="Custom 14">
      <a:dk1>
        <a:srgbClr val="002D43"/>
      </a:dk1>
      <a:lt1>
        <a:srgbClr val="FFFFFF"/>
      </a:lt1>
      <a:dk2>
        <a:srgbClr val="232F3E"/>
      </a:dk2>
      <a:lt2>
        <a:srgbClr val="FFFFFF"/>
      </a:lt2>
      <a:accent1>
        <a:srgbClr val="FF9900"/>
      </a:accent1>
      <a:accent2>
        <a:srgbClr val="00A0C8"/>
      </a:accent2>
      <a:accent3>
        <a:srgbClr val="007DBC"/>
      </a:accent3>
      <a:accent4>
        <a:srgbClr val="69AE35"/>
      </a:accent4>
      <a:accent5>
        <a:srgbClr val="1D8900"/>
      </a:accent5>
      <a:accent6>
        <a:srgbClr val="FF5745"/>
      </a:accent6>
      <a:hlink>
        <a:srgbClr val="00E0EA"/>
      </a:hlink>
      <a:folHlink>
        <a:srgbClr val="00A0C8"/>
      </a:folHlink>
    </a:clrScheme>
    <a:fontScheme name="Test">
      <a:majorFont>
        <a:latin typeface="Amazon Ember"/>
        <a:ea typeface=""/>
        <a:cs typeface=""/>
      </a:majorFont>
      <a:minorFont>
        <a:latin typeface="Amazon Ember"/>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dirty="0"/>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2900" dirty="0" err="1" smtClean="0">
            <a:latin typeface="Amazon Ember" panose="020B0603020204020204" pitchFamily="34" charset="0"/>
            <a:ea typeface="Amazon Ember" panose="020B0603020204020204" pitchFamily="34" charset="0"/>
            <a:cs typeface="Amazon Ember" panose="020B0603020204020204" pitchFamily="34" charset="0"/>
          </a:defRPr>
        </a:defPPr>
      </a:lstStyle>
    </a:txDef>
  </a:objectDefaults>
  <a:extraClrSchemeLst/>
  <a:extLst>
    <a:ext uri="{05A4C25C-085E-4340-85A3-A5531E510DB2}">
      <thm15:themeFamily xmlns:thm15="http://schemas.microsoft.com/office/thememl/2012/main" name="2023" id="{7B68DBAB-405E-2848-8501-96881B3CC75D}" vid="{496B5170-48BF-2549-BE96-5AA4806E19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26A3D6C04DFD740953BA1B2B9E62D60" ma:contentTypeVersion="0" ma:contentTypeDescription="Create a new document." ma:contentTypeScope="" ma:versionID="26617cd14cd3af163c0e97ff614e520a">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05B35A6-8B52-46A5-AE45-B98C6459DC10}">
  <ds:schemaRefs>
    <ds:schemaRef ds:uri="http://schemas.microsoft.com/sharepoint/v3/contenttype/forms"/>
  </ds:schemaRefs>
</ds:datastoreItem>
</file>

<file path=customXml/itemProps2.xml><?xml version="1.0" encoding="utf-8"?>
<ds:datastoreItem xmlns:ds="http://schemas.openxmlformats.org/officeDocument/2006/customXml" ds:itemID="{C597C89A-FD0C-431E-81F6-90225B937683}">
  <ds:schemaRefs>
    <ds:schemaRef ds:uri="http://schemas.microsoft.com/office/infopath/2007/PartnerControls"/>
    <ds:schemaRef ds:uri="http://www.w3.org/XML/1998/namespace"/>
    <ds:schemaRef ds:uri="http://schemas.microsoft.com/office/2006/documentManagement/types"/>
    <ds:schemaRef ds:uri="http://purl.org/dc/dcmitype/"/>
    <ds:schemaRef ds:uri="http://schemas.openxmlformats.org/package/2006/metadata/core-properties"/>
    <ds:schemaRef ds:uri="http://purl.org/dc/term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51A3258A-222C-4488-825E-7520D001FB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DeckTemplate-AWS</Template>
  <TotalTime>4317</TotalTime>
  <Words>2144</Words>
  <Application>Microsoft Macintosh PowerPoint</Application>
  <PresentationFormat>自定义</PresentationFormat>
  <Paragraphs>274</Paragraphs>
  <Slides>30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30</vt:i4>
      </vt:variant>
    </vt:vector>
  </HeadingPairs>
  <TitlesOfParts>
    <vt:vector size="40" baseType="lpstr">
      <vt:lpstr>微软雅黑</vt:lpstr>
      <vt:lpstr>NotoSansSC</vt:lpstr>
      <vt:lpstr>Amazon Ember</vt:lpstr>
      <vt:lpstr>Amazon Ember Light</vt:lpstr>
      <vt:lpstr>Amazon Ember Regular</vt:lpstr>
      <vt:lpstr>Arial</vt:lpstr>
      <vt:lpstr>Calibri</vt:lpstr>
      <vt:lpstr>Krungthep</vt:lpstr>
      <vt:lpstr>Wingdings</vt:lpstr>
      <vt:lpstr>DeckTemplate-AWS</vt:lpstr>
      <vt:lpstr>评论数据细粒度情感分析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评论数据细粒度情感分析 </dc:title>
  <dc:creator>Microsoft Office User</dc:creator>
  <cp:lastModifiedBy>Microsoft Office User</cp:lastModifiedBy>
  <cp:revision>10</cp:revision>
  <dcterms:created xsi:type="dcterms:W3CDTF">2023-04-06T03:24:25Z</dcterms:created>
  <dcterms:modified xsi:type="dcterms:W3CDTF">2024-04-11T03:42:44Z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0x010100D26A3D6C04DFD740953BA1B2B9E62D60</vt:lpwstr>
  </property>
</Properties>
</file>