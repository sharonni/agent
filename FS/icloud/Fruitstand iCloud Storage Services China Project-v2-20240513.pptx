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17"/>
  </p:notesMasterIdLst>
  <p:handoutMasterIdLst>
    <p:handoutMasterId r:id="rId18"/>
  </p:handoutMasterIdLst>
  <p:sldIdLst>
    <p:sldId id="2147308159" r:id="rId5"/>
    <p:sldId id="2147308207" r:id="rId6"/>
    <p:sldId id="2147309831" r:id="rId7"/>
    <p:sldId id="2147308217" r:id="rId8"/>
    <p:sldId id="2147309824" r:id="rId9"/>
    <p:sldId id="2147309822" r:id="rId10"/>
    <p:sldId id="2147309826" r:id="rId11"/>
    <p:sldId id="2147308179" r:id="rId12"/>
    <p:sldId id="2147309827" r:id="rId13"/>
    <p:sldId id="2147309828" r:id="rId14"/>
    <p:sldId id="2147309830" r:id="rId15"/>
    <p:sldId id="2147308177" r:id="rId16"/>
  </p:sldIdLst>
  <p:sldSz cx="14630400" cy="8229600"/>
  <p:notesSz cx="6858000" cy="9144000"/>
  <p:defaultText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0" userDrawn="1">
          <p15:clr>
            <a:srgbClr val="A4A3A4"/>
          </p15:clr>
        </p15:guide>
        <p15:guide id="2" orient="horz" pos="4637" userDrawn="1">
          <p15:clr>
            <a:srgbClr val="A4A3A4"/>
          </p15:clr>
        </p15:guide>
        <p15:guide id="3" orient="horz" pos="3859" userDrawn="1">
          <p15:clr>
            <a:srgbClr val="A4A3A4"/>
          </p15:clr>
        </p15:guide>
        <p15:guide id="4" orient="horz" pos="5114" userDrawn="1">
          <p15:clr>
            <a:srgbClr val="A4A3A4"/>
          </p15:clr>
        </p15:guide>
        <p15:guide id="5" orient="horz" pos="2160" userDrawn="1">
          <p15:clr>
            <a:srgbClr val="A4A3A4"/>
          </p15:clr>
        </p15:guide>
        <p15:guide id="6" orient="horz" pos="2205" userDrawn="1">
          <p15:clr>
            <a:srgbClr val="A4A3A4"/>
          </p15:clr>
        </p15:guide>
        <p15:guide id="7" orient="horz" pos="3325" userDrawn="1">
          <p15:clr>
            <a:srgbClr val="A4A3A4"/>
          </p15:clr>
        </p15:guide>
        <p15:guide id="8" orient="horz" pos="200" userDrawn="1">
          <p15:clr>
            <a:srgbClr val="A4A3A4"/>
          </p15:clr>
        </p15:guide>
        <p15:guide id="9" orient="horz" pos="3370" userDrawn="1">
          <p15:clr>
            <a:srgbClr val="A4A3A4"/>
          </p15:clr>
        </p15:guide>
        <p15:guide id="10" orient="horz" pos="4574" userDrawn="1">
          <p15:clr>
            <a:srgbClr val="A4A3A4"/>
          </p15:clr>
        </p15:guide>
        <p15:guide id="11" pos="1536" userDrawn="1">
          <p15:clr>
            <a:srgbClr val="A4A3A4"/>
          </p15:clr>
        </p15:guide>
        <p15:guide id="12" pos="2808" userDrawn="1">
          <p15:clr>
            <a:srgbClr val="A4A3A4"/>
          </p15:clr>
        </p15:guide>
        <p15:guide id="13" pos="4613" userDrawn="1">
          <p15:clr>
            <a:srgbClr val="A4A3A4"/>
          </p15:clr>
        </p15:guide>
        <p15:guide id="14" pos="4030" userDrawn="1">
          <p15:clr>
            <a:srgbClr val="A4A3A4"/>
          </p15:clr>
        </p15:guide>
        <p15:guide id="15" pos="7664" userDrawn="1">
          <p15:clr>
            <a:srgbClr val="A4A3A4"/>
          </p15:clr>
        </p15:guide>
        <p15:guide id="16" pos="3979" userDrawn="1">
          <p15:clr>
            <a:srgbClr val="A4A3A4"/>
          </p15:clr>
        </p15:guide>
        <p15:guide id="17" pos="2755" userDrawn="1">
          <p15:clr>
            <a:srgbClr val="A4A3A4"/>
          </p15:clr>
        </p15:guide>
        <p15:guide id="18" pos="1579" userDrawn="1">
          <p15:clr>
            <a:srgbClr val="A4A3A4"/>
          </p15:clr>
        </p15:guide>
        <p15:guide id="19" pos="7709" userDrawn="1">
          <p15:clr>
            <a:srgbClr val="A4A3A4"/>
          </p15:clr>
        </p15:guide>
        <p15:guide id="20" pos="5211" userDrawn="1">
          <p15:clr>
            <a:srgbClr val="A4A3A4"/>
          </p15:clr>
        </p15:guide>
        <p15:guide id="21" userDrawn="1">
          <p15:clr>
            <a:srgbClr val="A4A3A4"/>
          </p15:clr>
        </p15:guide>
        <p15:guide id="22" pos="5256" userDrawn="1">
          <p15:clr>
            <a:srgbClr val="A4A3A4"/>
          </p15:clr>
        </p15:guide>
        <p15:guide id="23" pos="6435" userDrawn="1">
          <p15:clr>
            <a:srgbClr val="A4A3A4"/>
          </p15:clr>
        </p15:guide>
        <p15:guide id="24" pos="6485" userDrawn="1">
          <p15:clr>
            <a:srgbClr val="A4A3A4"/>
          </p15:clr>
        </p15:guide>
        <p15:guide id="25" pos="8870" userDrawn="1">
          <p15:clr>
            <a:srgbClr val="A4A3A4"/>
          </p15:clr>
        </p15:guide>
        <p15:guide id="26" pos="352" userDrawn="1">
          <p15:clr>
            <a:srgbClr val="A4A3A4"/>
          </p15:clr>
        </p15:guide>
        <p15:guide id="27" pos="557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alano, Alec" initials="" lastIdx="23" clrIdx="0"/>
  <p:cmAuthor id="1" name="Alec Catalano" initials="" lastIdx="1" clrIdx="1"/>
  <p:cmAuthor id="2" name="Guo, Yong" initials="GY" lastIdx="1" clrIdx="2">
    <p:extLst>
      <p:ext uri="{19B8F6BF-5375-455C-9EA6-DF929625EA0E}">
        <p15:presenceInfo xmlns:p15="http://schemas.microsoft.com/office/powerpoint/2012/main" userId="S-1-5-21-1407069837-2091007605-538272213-31932490" providerId="AD"/>
      </p:ext>
    </p:extLst>
  </p:cmAuthor>
  <p:cmAuthor id="3" name="Ma, Yimin" initials="MY" lastIdx="1" clrIdx="3">
    <p:extLst>
      <p:ext uri="{19B8F6BF-5375-455C-9EA6-DF929625EA0E}">
        <p15:presenceInfo xmlns:p15="http://schemas.microsoft.com/office/powerpoint/2012/main" userId="S-1-5-21-1407069837-2091007605-538272213-530408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B050"/>
    <a:srgbClr val="8BC53E"/>
    <a:srgbClr val="02489D"/>
    <a:srgbClr val="4F81BD"/>
    <a:srgbClr val="595A5D"/>
    <a:srgbClr val="FCB64C"/>
    <a:srgbClr val="FEC46F"/>
    <a:srgbClr val="232F3E"/>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46" autoAdjust="0"/>
    <p:restoredTop sz="92330" autoAdjust="0"/>
  </p:normalViewPr>
  <p:slideViewPr>
    <p:cSldViewPr snapToGrid="0" showGuides="1">
      <p:cViewPr varScale="1">
        <p:scale>
          <a:sx n="90" d="100"/>
          <a:sy n="90" d="100"/>
        </p:scale>
        <p:origin x="616" y="200"/>
      </p:cViewPr>
      <p:guideLst>
        <p:guide orient="horz" pos="1030"/>
        <p:guide orient="horz" pos="4637"/>
        <p:guide orient="horz" pos="3859"/>
        <p:guide orient="horz" pos="5114"/>
        <p:guide orient="horz" pos="2160"/>
        <p:guide orient="horz" pos="2205"/>
        <p:guide orient="horz" pos="3325"/>
        <p:guide orient="horz" pos="200"/>
        <p:guide orient="horz" pos="3370"/>
        <p:guide orient="horz" pos="4574"/>
        <p:guide pos="1536"/>
        <p:guide pos="2808"/>
        <p:guide pos="4613"/>
        <p:guide pos="4030"/>
        <p:guide pos="7664"/>
        <p:guide pos="3979"/>
        <p:guide pos="2755"/>
        <p:guide pos="1579"/>
        <p:guide pos="7709"/>
        <p:guide pos="5211"/>
        <p:guide/>
        <p:guide pos="5256"/>
        <p:guide pos="6435"/>
        <p:guide pos="6485"/>
        <p:guide pos="8870"/>
        <p:guide pos="352"/>
        <p:guide pos="5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4" d="100"/>
          <a:sy n="124" d="100"/>
        </p:scale>
        <p:origin x="4104"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EAAF34-71F8-6342-832E-C583FEB3F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700CEA-93F0-3648-8636-3ECA00800B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887149-AF03-6142-908A-3DD284EAF54B}" type="datetimeFigureOut">
              <a:rPr lang="en-US" smtClean="0"/>
              <a:t>5/13/24</a:t>
            </a:fld>
            <a:endParaRPr lang="en-US"/>
          </a:p>
        </p:txBody>
      </p:sp>
      <p:sp>
        <p:nvSpPr>
          <p:cNvPr id="4" name="Footer Placeholder 3">
            <a:extLst>
              <a:ext uri="{FF2B5EF4-FFF2-40B4-BE49-F238E27FC236}">
                <a16:creationId xmlns:a16="http://schemas.microsoft.com/office/drawing/2014/main" id="{15D72482-B212-B34F-AAFC-10B8C8EF77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0B9C6E-4611-5A44-8B47-37FCE89DEB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1AC043-34FA-4C46-BDAD-AE3E2DBAD1A4}" type="slidenum">
              <a:rPr lang="en-US" smtClean="0"/>
              <a:t>‹#›</a:t>
            </a:fld>
            <a:endParaRPr lang="en-US"/>
          </a:p>
        </p:txBody>
      </p:sp>
    </p:spTree>
    <p:extLst>
      <p:ext uri="{BB962C8B-B14F-4D97-AF65-F5344CB8AC3E}">
        <p14:creationId xmlns:p14="http://schemas.microsoft.com/office/powerpoint/2010/main" val="2463646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mazon Ember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mazon Ember Regular" charset="0"/>
              </a:defRPr>
            </a:lvl1pPr>
          </a:lstStyle>
          <a:p>
            <a:fld id="{0B25AC41-3BEC-9247-8322-91B80C013F2D}" type="datetimeFigureOut">
              <a:rPr lang="en-US" smtClean="0"/>
              <a:pPr/>
              <a:t>5/13/24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mazon Ember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mazon Ember Regular" charset="0"/>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731520" rtl="0" eaLnBrk="1" latinLnBrk="0" hangingPunct="1">
      <a:defRPr sz="1920" b="0" i="0" kern="1200">
        <a:solidFill>
          <a:schemeClr val="tx1"/>
        </a:solidFill>
        <a:latin typeface="Amazon Ember Regular" charset="0"/>
        <a:ea typeface="+mn-ea"/>
        <a:cs typeface="+mn-cs"/>
      </a:defRPr>
    </a:lvl1pPr>
    <a:lvl2pPr marL="731520" algn="l" defTabSz="731520" rtl="0" eaLnBrk="1" latinLnBrk="0" hangingPunct="1">
      <a:defRPr sz="1920" b="0" i="0" kern="1200">
        <a:solidFill>
          <a:schemeClr val="tx1"/>
        </a:solidFill>
        <a:latin typeface="Amazon Ember Regular" charset="0"/>
        <a:ea typeface="+mn-ea"/>
        <a:cs typeface="+mn-cs"/>
      </a:defRPr>
    </a:lvl2pPr>
    <a:lvl3pPr marL="1463040" algn="l" defTabSz="731520" rtl="0" eaLnBrk="1" latinLnBrk="0" hangingPunct="1">
      <a:defRPr sz="1920" b="0" i="0" kern="1200">
        <a:solidFill>
          <a:schemeClr val="tx1"/>
        </a:solidFill>
        <a:latin typeface="Amazon Ember Regular" charset="0"/>
        <a:ea typeface="+mn-ea"/>
        <a:cs typeface="+mn-cs"/>
      </a:defRPr>
    </a:lvl3pPr>
    <a:lvl4pPr marL="2194560" algn="l" defTabSz="731520" rtl="0" eaLnBrk="1" latinLnBrk="0" hangingPunct="1">
      <a:defRPr sz="1920" b="0" i="0" kern="1200">
        <a:solidFill>
          <a:schemeClr val="tx1"/>
        </a:solidFill>
        <a:latin typeface="Amazon Ember Regular" charset="0"/>
        <a:ea typeface="+mn-ea"/>
        <a:cs typeface="+mn-cs"/>
      </a:defRPr>
    </a:lvl4pPr>
    <a:lvl5pPr marL="2926080" algn="l" defTabSz="731520" rtl="0" eaLnBrk="1" latinLnBrk="0" hangingPunct="1">
      <a:defRPr sz="1920" b="0" i="0" kern="1200">
        <a:solidFill>
          <a:schemeClr val="tx1"/>
        </a:solidFill>
        <a:latin typeface="Amazon Ember Regular" charset="0"/>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2</a:t>
            </a:fld>
            <a:endParaRPr lang="en-US" dirty="0"/>
          </a:p>
        </p:txBody>
      </p:sp>
    </p:spTree>
    <p:extLst>
      <p:ext uri="{BB962C8B-B14F-4D97-AF65-F5344CB8AC3E}">
        <p14:creationId xmlns:p14="http://schemas.microsoft.com/office/powerpoint/2010/main" val="4265022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69C3F2ED-74C5-7D4F-8560-0CC253E9A436}" type="slidenum">
              <a:rPr lang="en-US" smtClean="0"/>
              <a:pPr/>
              <a:t>4</a:t>
            </a:fld>
            <a:endParaRPr lang="en-US" dirty="0"/>
          </a:p>
        </p:txBody>
      </p:sp>
    </p:spTree>
    <p:extLst>
      <p:ext uri="{BB962C8B-B14F-4D97-AF65-F5344CB8AC3E}">
        <p14:creationId xmlns:p14="http://schemas.microsoft.com/office/powerpoint/2010/main" val="27012487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Cover_Squid_C-01_ORANGE_1280x720_2x.png"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ORANGE_1280x720_2x.png"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RED-ORANGE_1280x720_Cluster-A_2x.png"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RED_1280x720_Cluster-B_2x.png" TargetMode="External"/><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YELLOW_1280x720_Cluster-D_2x.png" TargetMode="External"/><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PURPLE_1280x720_Cluster-B_2x.png" TargetMode="External"/><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Cover_Squid_C-01_ORANGE_1280x720_2x.png"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ORANGE_1280x720_2x.png"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RED-ORANGE_1280x720_Cluster-A_2x.png"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RED_1280x720_Cluster-B_2x.png" TargetMode="External"/><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PURPLE_1280x720_Cluster-B_2x.png" TargetMode="External"/><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_TwoSpeakers">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126EE-C025-5948-A2CA-09B44FD20E5E}"/>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Click to edit 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i="0" baseline="0">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Click to edit title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subtitle</a:t>
            </a:r>
          </a:p>
        </p:txBody>
      </p:sp>
      <p:pic>
        <p:nvPicPr>
          <p:cNvPr id="9" name="Picture 8"/>
          <p:cNvPicPr>
            <a:picLocks noChangeAspect="1"/>
          </p:cNvPicPr>
          <p:nvPr userDrawn="1"/>
        </p:nvPicPr>
        <p:blipFill>
          <a:blip r:embed="rId4"/>
          <a:srcRect/>
          <a:stretch/>
        </p:blipFill>
        <p:spPr>
          <a:xfrm>
            <a:off x="548819" y="925228"/>
            <a:ext cx="2286000" cy="714375"/>
          </a:xfrm>
          <a:prstGeom prst="rect">
            <a:avLst/>
          </a:prstGeom>
        </p:spPr>
      </p:pic>
      <p:sp>
        <p:nvSpPr>
          <p:cNvPr id="7" name="TextBox 6">
            <a:extLst>
              <a:ext uri="{FF2B5EF4-FFF2-40B4-BE49-F238E27FC236}">
                <a16:creationId xmlns:a16="http://schemas.microsoft.com/office/drawing/2014/main" id="{8FA84D03-8133-8347-8776-300EBD9F8B8C}"/>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a:t>
            </a:r>
            <a:r>
              <a:rPr lang="en-US" altLang="zh-CN"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2170408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_of_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548640" y="183898"/>
            <a:ext cx="13510260" cy="993392"/>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548640" y="1645920"/>
            <a:ext cx="13510260" cy="4686301"/>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34865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_Slide_and_Subtitl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91C32C7-59F5-DF47-8723-035723E617D2}"/>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_Slide">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C5A18C-E55B-8242-9A52-05588436727F}"/>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Tree>
    <p:extLst>
      <p:ext uri="{BB962C8B-B14F-4D97-AF65-F5344CB8AC3E}">
        <p14:creationId xmlns:p14="http://schemas.microsoft.com/office/powerpoint/2010/main" val="402902038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vider_Slid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BA6A43-4E15-784A-AF64-33ECD7483B38}"/>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Tree>
    <p:extLst>
      <p:ext uri="{BB962C8B-B14F-4D97-AF65-F5344CB8AC3E}">
        <p14:creationId xmlns:p14="http://schemas.microsoft.com/office/powerpoint/2010/main" val="303722862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_Slide_SquidInk">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A74084-2156-C643-BCD7-AEC980321020}"/>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Tree>
    <p:extLst>
      <p:ext uri="{BB962C8B-B14F-4D97-AF65-F5344CB8AC3E}">
        <p14:creationId xmlns:p14="http://schemas.microsoft.com/office/powerpoint/2010/main" val="46358460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_Bulleted_Lis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1460" cy="873186"/>
          </a:xfrm>
        </p:spPr>
        <p:txBody>
          <a:bodyPr/>
          <a:lstStyle/>
          <a:p>
            <a:r>
              <a:rPr lang="en-US" dirty="0"/>
              <a:t>Click to edit Master title style</a:t>
            </a:r>
          </a:p>
        </p:txBody>
      </p:sp>
      <p:sp>
        <p:nvSpPr>
          <p:cNvPr id="3" name="Content Placeholder 2"/>
          <p:cNvSpPr>
            <a:spLocks noGrp="1"/>
          </p:cNvSpPr>
          <p:nvPr>
            <p:ph sz="half" idx="1"/>
          </p:nvPr>
        </p:nvSpPr>
        <p:spPr>
          <a:xfrm>
            <a:off x="548640" y="1645920"/>
            <a:ext cx="13510260" cy="5431155"/>
          </a:xfrm>
          <a:prstGeom prst="rect">
            <a:avLst/>
          </a:prstGeom>
        </p:spPr>
        <p:txBody>
          <a:bodyPr>
            <a:normAutofit/>
          </a:bodyPr>
          <a:lstStyle>
            <a:lvl1pPr>
              <a:defRPr sz="3200"/>
            </a:lvl1pPr>
            <a:lvl2pPr>
              <a:defRPr sz="2900"/>
            </a:lvl2pPr>
            <a:lvl3pPr>
              <a:defRPr sz="2600"/>
            </a:lvl3pPr>
            <a:lvl4pPr marL="2194560" indent="0">
              <a:buNone/>
              <a:defRPr sz="2600"/>
            </a:lvl4pPr>
            <a:lvl5pPr>
              <a:defRPr sz="256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826396584"/>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_Bulleted_Sections">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548639"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7658100"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351929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and_Imag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8" name="Picture Placeholder 7">
            <a:extLst>
              <a:ext uri="{FF2B5EF4-FFF2-40B4-BE49-F238E27FC236}">
                <a16:creationId xmlns:a16="http://schemas.microsoft.com/office/drawing/2014/main" id="{758B8829-AB11-E54F-AFFF-11D6AD397DEB}"/>
              </a:ext>
            </a:extLst>
          </p:cNvPr>
          <p:cNvSpPr>
            <a:spLocks noGrp="1"/>
          </p:cNvSpPr>
          <p:nvPr>
            <p:ph type="pic" sz="quarter" idx="11"/>
          </p:nvPr>
        </p:nvSpPr>
        <p:spPr>
          <a:xfrm>
            <a:off x="7658100" y="1645920"/>
            <a:ext cx="6400800" cy="5088346"/>
          </a:xfrm>
          <a:prstGeom prst="rect">
            <a:avLst/>
          </a:prstGeom>
        </p:spPr>
        <p:txBody>
          <a:bodyPr/>
          <a:lstStyle/>
          <a:p>
            <a:endParaRPr lang="en-US"/>
          </a:p>
        </p:txBody>
      </p:sp>
      <p:sp>
        <p:nvSpPr>
          <p:cNvPr id="10" name="Text Placeholder 9">
            <a:extLst>
              <a:ext uri="{FF2B5EF4-FFF2-40B4-BE49-F238E27FC236}">
                <a16:creationId xmlns:a16="http://schemas.microsoft.com/office/drawing/2014/main" id="{3305C376-814F-9B49-99E8-6F17D4026FAD}"/>
              </a:ext>
            </a:extLst>
          </p:cNvPr>
          <p:cNvSpPr>
            <a:spLocks noGrp="1"/>
          </p:cNvSpPr>
          <p:nvPr>
            <p:ph type="body" sz="quarter" idx="12" hasCustomPrompt="1"/>
          </p:nvPr>
        </p:nvSpPr>
        <p:spPr>
          <a:xfrm>
            <a:off x="548639" y="1645920"/>
            <a:ext cx="6400800" cy="5087619"/>
          </a:xfrm>
          <a:prstGeom prst="rect">
            <a:avLst/>
          </a:prstGeom>
        </p:spPr>
        <p:txBody>
          <a:bodyPr/>
          <a:lstStyle>
            <a:lvl1pPr marL="0" marR="0" indent="0" algn="l" defTabSz="731520" rtl="0" eaLnBrk="1" fontAlgn="auto" latinLnBrk="0" hangingPunct="1">
              <a:lnSpc>
                <a:spcPct val="100000"/>
              </a:lnSpc>
              <a:spcBef>
                <a:spcPct val="20000"/>
              </a:spcBef>
              <a:spcAft>
                <a:spcPts val="0"/>
              </a:spcAft>
              <a:buClrTx/>
              <a:buSzTx/>
              <a:buFontTx/>
              <a:buNone/>
              <a:tabLst/>
              <a:defRPr sz="1900" b="1">
                <a:latin typeface="+mn-lt"/>
              </a:defRPr>
            </a:lvl1pPr>
          </a:lstStyle>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p:txBody>
      </p:sp>
    </p:spTree>
    <p:extLst>
      <p:ext uri="{BB962C8B-B14F-4D97-AF65-F5344CB8AC3E}">
        <p14:creationId xmlns:p14="http://schemas.microsoft.com/office/powerpoint/2010/main" val="184175018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_Coll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39" y="1645920"/>
            <a:ext cx="4572000"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509760" y="1645920"/>
            <a:ext cx="4572000" cy="5028635"/>
          </a:xfrm>
          <a:prstGeom prst="rect">
            <a:avLst/>
          </a:prstGeom>
        </p:spPr>
        <p:txBody>
          <a:bodyPr/>
          <a:lstStyle/>
          <a:p>
            <a:endParaRPr lang="en-US"/>
          </a:p>
        </p:txBody>
      </p:sp>
      <p:sp>
        <p:nvSpPr>
          <p:cNvPr id="10" name="Picture Placeholder 4">
            <a:extLst>
              <a:ext uri="{FF2B5EF4-FFF2-40B4-BE49-F238E27FC236}">
                <a16:creationId xmlns:a16="http://schemas.microsoft.com/office/drawing/2014/main" id="{0FF44110-D1F4-664B-9593-798283322862}"/>
              </a:ext>
            </a:extLst>
          </p:cNvPr>
          <p:cNvSpPr>
            <a:spLocks noGrp="1"/>
          </p:cNvSpPr>
          <p:nvPr>
            <p:ph type="pic" sz="quarter" idx="12"/>
          </p:nvPr>
        </p:nvSpPr>
        <p:spPr>
          <a:xfrm>
            <a:off x="5486400" y="1645920"/>
            <a:ext cx="3657600" cy="2686296"/>
          </a:xfrm>
          <a:prstGeom prst="rect">
            <a:avLst/>
          </a:prstGeom>
        </p:spPr>
        <p:txBody>
          <a:bodyPr/>
          <a:lstStyle/>
          <a:p>
            <a:endParaRPr lang="en-US"/>
          </a:p>
        </p:txBody>
      </p:sp>
      <p:sp>
        <p:nvSpPr>
          <p:cNvPr id="12" name="Picture Placeholder 4">
            <a:extLst>
              <a:ext uri="{FF2B5EF4-FFF2-40B4-BE49-F238E27FC236}">
                <a16:creationId xmlns:a16="http://schemas.microsoft.com/office/drawing/2014/main" id="{886DFCC3-A169-A648-A099-3583B633E69B}"/>
              </a:ext>
            </a:extLst>
          </p:cNvPr>
          <p:cNvSpPr>
            <a:spLocks noGrp="1"/>
          </p:cNvSpPr>
          <p:nvPr>
            <p:ph type="pic" sz="quarter" idx="13"/>
          </p:nvPr>
        </p:nvSpPr>
        <p:spPr>
          <a:xfrm>
            <a:off x="5486400" y="4767345"/>
            <a:ext cx="3657600" cy="1892899"/>
          </a:xfrm>
          <a:prstGeom prst="rect">
            <a:avLst/>
          </a:prstGeom>
        </p:spPr>
        <p:txBody>
          <a:bodyPr/>
          <a:lstStyle/>
          <a:p>
            <a:endParaRPr lang="en-US"/>
          </a:p>
        </p:txBody>
      </p:sp>
    </p:spTree>
    <p:extLst>
      <p:ext uri="{BB962C8B-B14F-4D97-AF65-F5344CB8AC3E}">
        <p14:creationId xmlns:p14="http://schemas.microsoft.com/office/powerpoint/2010/main" val="2901287801"/>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_Im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38862" y="183898"/>
            <a:ext cx="13520037"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8330183"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326880" y="1645920"/>
            <a:ext cx="4754880" cy="5028635"/>
          </a:xfrm>
          <a:prstGeom prst="rect">
            <a:avLst/>
          </a:prstGeom>
        </p:spPr>
        <p:txBody>
          <a:bodyPr/>
          <a:lstStyle/>
          <a:p>
            <a:endParaRPr lang="en-US"/>
          </a:p>
        </p:txBody>
      </p:sp>
    </p:spTree>
    <p:extLst>
      <p:ext uri="{BB962C8B-B14F-4D97-AF65-F5344CB8AC3E}">
        <p14:creationId xmlns:p14="http://schemas.microsoft.com/office/powerpoint/2010/main" val="45102675"/>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_Image_Center">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13514832" cy="5338152"/>
          </a:xfrm>
          <a:prstGeom prst="rect">
            <a:avLst/>
          </a:prstGeom>
        </p:spPr>
        <p:txBody>
          <a:bodyPr/>
          <a:lstStyle/>
          <a:p>
            <a:endParaRPr lang="en-US"/>
          </a:p>
        </p:txBody>
      </p:sp>
    </p:spTree>
    <p:extLst>
      <p:ext uri="{BB962C8B-B14F-4D97-AF65-F5344CB8AC3E}">
        <p14:creationId xmlns:p14="http://schemas.microsoft.com/office/powerpoint/2010/main" val="334530184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_Bleed_Image">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0" y="1"/>
            <a:ext cx="14630400" cy="8229598"/>
          </a:xfrm>
          <a:prstGeom prst="rect">
            <a:avLst/>
          </a:prstGeom>
        </p:spPr>
        <p:txBody>
          <a:bodyPr/>
          <a:lstStyle/>
          <a:p>
            <a:endParaRPr lang="en-US" dirty="0"/>
          </a:p>
        </p:txBody>
      </p:sp>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24351669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or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4" name="Rectangle 3">
            <a:extLst>
              <a:ext uri="{FF2B5EF4-FFF2-40B4-BE49-F238E27FC236}">
                <a16:creationId xmlns:a16="http://schemas.microsoft.com/office/drawing/2014/main" id="{1A65E46D-C0D2-7642-AF47-40070CB7653A}"/>
              </a:ext>
            </a:extLst>
          </p:cNvPr>
          <p:cNvSpPr/>
          <p:nvPr userDrawn="1"/>
        </p:nvSpPr>
        <p:spPr>
          <a:xfrm>
            <a:off x="0" y="1645920"/>
            <a:ext cx="14630400" cy="532964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15" name="Picture Placeholder 2"/>
          <p:cNvSpPr>
            <a:spLocks noGrp="1"/>
          </p:cNvSpPr>
          <p:nvPr>
            <p:ph type="pic" sz="quarter" idx="16"/>
          </p:nvPr>
        </p:nvSpPr>
        <p:spPr>
          <a:xfrm>
            <a:off x="946674"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6" name="Picture Placeholder 2"/>
          <p:cNvSpPr>
            <a:spLocks noGrp="1"/>
          </p:cNvSpPr>
          <p:nvPr>
            <p:ph type="pic" sz="quarter" idx="17"/>
          </p:nvPr>
        </p:nvSpPr>
        <p:spPr>
          <a:xfrm>
            <a:off x="4328298"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7" name="Picture Placeholder 2"/>
          <p:cNvSpPr>
            <a:spLocks noGrp="1"/>
          </p:cNvSpPr>
          <p:nvPr>
            <p:ph type="pic" sz="quarter" idx="18"/>
          </p:nvPr>
        </p:nvSpPr>
        <p:spPr>
          <a:xfrm>
            <a:off x="7709922"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8" name="Picture Placeholder 2"/>
          <p:cNvSpPr>
            <a:spLocks noGrp="1"/>
          </p:cNvSpPr>
          <p:nvPr>
            <p:ph type="pic" sz="quarter" idx="19"/>
          </p:nvPr>
        </p:nvSpPr>
        <p:spPr>
          <a:xfrm>
            <a:off x="11091547"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9" name="Picture Placeholder 2">
            <a:extLst>
              <a:ext uri="{FF2B5EF4-FFF2-40B4-BE49-F238E27FC236}">
                <a16:creationId xmlns:a16="http://schemas.microsoft.com/office/drawing/2014/main" id="{F1543634-A736-BA4B-A10A-31EE0B13FC13}"/>
              </a:ext>
            </a:extLst>
          </p:cNvPr>
          <p:cNvSpPr>
            <a:spLocks noGrp="1"/>
          </p:cNvSpPr>
          <p:nvPr>
            <p:ph type="pic" sz="quarter" idx="20"/>
          </p:nvPr>
        </p:nvSpPr>
        <p:spPr>
          <a:xfrm>
            <a:off x="946674"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0" name="Picture Placeholder 2">
            <a:extLst>
              <a:ext uri="{FF2B5EF4-FFF2-40B4-BE49-F238E27FC236}">
                <a16:creationId xmlns:a16="http://schemas.microsoft.com/office/drawing/2014/main" id="{31DBC551-9315-1F45-A672-93EB06007494}"/>
              </a:ext>
            </a:extLst>
          </p:cNvPr>
          <p:cNvSpPr>
            <a:spLocks noGrp="1"/>
          </p:cNvSpPr>
          <p:nvPr>
            <p:ph type="pic" sz="quarter" idx="21"/>
          </p:nvPr>
        </p:nvSpPr>
        <p:spPr>
          <a:xfrm>
            <a:off x="4328298"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1" name="Picture Placeholder 2">
            <a:extLst>
              <a:ext uri="{FF2B5EF4-FFF2-40B4-BE49-F238E27FC236}">
                <a16:creationId xmlns:a16="http://schemas.microsoft.com/office/drawing/2014/main" id="{AB66963A-7841-B341-A47C-7BEFE1F8B8CA}"/>
              </a:ext>
            </a:extLst>
          </p:cNvPr>
          <p:cNvSpPr>
            <a:spLocks noGrp="1"/>
          </p:cNvSpPr>
          <p:nvPr>
            <p:ph type="pic" sz="quarter" idx="22"/>
          </p:nvPr>
        </p:nvSpPr>
        <p:spPr>
          <a:xfrm>
            <a:off x="7709922"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2" name="Picture Placeholder 2">
            <a:extLst>
              <a:ext uri="{FF2B5EF4-FFF2-40B4-BE49-F238E27FC236}">
                <a16:creationId xmlns:a16="http://schemas.microsoft.com/office/drawing/2014/main" id="{7E808491-1004-3A44-87DD-41D21C9E39C3}"/>
              </a:ext>
            </a:extLst>
          </p:cNvPr>
          <p:cNvSpPr>
            <a:spLocks noGrp="1"/>
          </p:cNvSpPr>
          <p:nvPr>
            <p:ph type="pic" sz="quarter" idx="23"/>
          </p:nvPr>
        </p:nvSpPr>
        <p:spPr>
          <a:xfrm>
            <a:off x="11091547"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Tree>
    <p:extLst>
      <p:ext uri="{BB962C8B-B14F-4D97-AF65-F5344CB8AC3E}">
        <p14:creationId xmlns:p14="http://schemas.microsoft.com/office/powerpoint/2010/main" val="2302505678"/>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hite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9" name="Picture Placeholder 2"/>
          <p:cNvSpPr>
            <a:spLocks noGrp="1"/>
          </p:cNvSpPr>
          <p:nvPr>
            <p:ph type="pic" sz="quarter" idx="20"/>
          </p:nvPr>
        </p:nvSpPr>
        <p:spPr>
          <a:xfrm>
            <a:off x="543902"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0" name="Picture Placeholder 2"/>
          <p:cNvSpPr>
            <a:spLocks noGrp="1"/>
          </p:cNvSpPr>
          <p:nvPr>
            <p:ph type="pic" sz="quarter" idx="21"/>
          </p:nvPr>
        </p:nvSpPr>
        <p:spPr>
          <a:xfrm>
            <a:off x="5566893"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1" name="Picture Placeholder 2"/>
          <p:cNvSpPr>
            <a:spLocks noGrp="1"/>
          </p:cNvSpPr>
          <p:nvPr>
            <p:ph type="pic" sz="quarter" idx="22"/>
          </p:nvPr>
        </p:nvSpPr>
        <p:spPr>
          <a:xfrm>
            <a:off x="10599958"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2" name="Picture Placeholder 2"/>
          <p:cNvSpPr>
            <a:spLocks noGrp="1"/>
          </p:cNvSpPr>
          <p:nvPr>
            <p:ph type="pic" sz="quarter" idx="23"/>
          </p:nvPr>
        </p:nvSpPr>
        <p:spPr>
          <a:xfrm>
            <a:off x="543902"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3" name="Picture Placeholder 2"/>
          <p:cNvSpPr>
            <a:spLocks noGrp="1"/>
          </p:cNvSpPr>
          <p:nvPr>
            <p:ph type="pic" sz="quarter" idx="24"/>
          </p:nvPr>
        </p:nvSpPr>
        <p:spPr>
          <a:xfrm>
            <a:off x="5566893"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4" name="Picture Placeholder 2"/>
          <p:cNvSpPr>
            <a:spLocks noGrp="1"/>
          </p:cNvSpPr>
          <p:nvPr>
            <p:ph type="pic" sz="quarter" idx="25"/>
          </p:nvPr>
        </p:nvSpPr>
        <p:spPr>
          <a:xfrm>
            <a:off x="10599958"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Tree>
    <p:extLst>
      <p:ext uri="{BB962C8B-B14F-4D97-AF65-F5344CB8AC3E}">
        <p14:creationId xmlns:p14="http://schemas.microsoft.com/office/powerpoint/2010/main" val="3273093039"/>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lstStyle>
            <a:lvl1pPr>
              <a:defRPr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able Placeholder 3">
            <a:extLst>
              <a:ext uri="{FF2B5EF4-FFF2-40B4-BE49-F238E27FC236}">
                <a16:creationId xmlns:a16="http://schemas.microsoft.com/office/drawing/2014/main" id="{D7DA888D-68DB-9B44-9614-56AAAAE93DF7}"/>
              </a:ext>
            </a:extLst>
          </p:cNvPr>
          <p:cNvSpPr>
            <a:spLocks noGrp="1"/>
          </p:cNvSpPr>
          <p:nvPr>
            <p:ph type="tbl" sz="quarter" idx="10"/>
          </p:nvPr>
        </p:nvSpPr>
        <p:spPr>
          <a:xfrm>
            <a:off x="548640" y="1645920"/>
            <a:ext cx="13510260" cy="5003800"/>
          </a:xfrm>
          <a:prstGeom prst="rect">
            <a:avLst/>
          </a:prstGeom>
        </p:spPr>
        <p:txBody>
          <a:bodyPr/>
          <a:lstStyle/>
          <a:p>
            <a:endParaRPr lang="en-US" dirty="0"/>
          </a:p>
        </p:txBody>
      </p:sp>
    </p:spTree>
    <p:extLst>
      <p:ext uri="{BB962C8B-B14F-4D97-AF65-F5344CB8AC3E}">
        <p14:creationId xmlns:p14="http://schemas.microsoft.com/office/powerpoint/2010/main" val="2636968817"/>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r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3186"/>
          </a:xfrm>
        </p:spPr>
        <p:txBody>
          <a:bodyPr/>
          <a:lstStyle>
            <a:lvl1pPr>
              <a:defRPr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7" name="Chart Placeholder 5">
            <a:extLst>
              <a:ext uri="{FF2B5EF4-FFF2-40B4-BE49-F238E27FC236}">
                <a16:creationId xmlns:a16="http://schemas.microsoft.com/office/drawing/2014/main" id="{B3C77AD1-4897-A546-B977-5EB6406DD175}"/>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154736194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6" name="Chart Placeholder 5">
            <a:extLst>
              <a:ext uri="{FF2B5EF4-FFF2-40B4-BE49-F238E27FC236}">
                <a16:creationId xmlns:a16="http://schemas.microsoft.com/office/drawing/2014/main" id="{A878172D-692F-8A47-81EA-89C129774DB9}"/>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467069072"/>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n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Chart Placeholder 5">
            <a:extLst>
              <a:ext uri="{FF2B5EF4-FFF2-40B4-BE49-F238E27FC236}">
                <a16:creationId xmlns:a16="http://schemas.microsoft.com/office/drawing/2014/main" id="{08142378-5C5C-8B40-AD27-B9BE74F6EA71}"/>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308330463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ivider_Slide_and_Subtitle">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3C1FD3-FC9E-C648-807B-884C49CEAC99}"/>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hasCustomPrompt="1"/>
          </p:nvPr>
        </p:nvSpPr>
        <p:spPr>
          <a:xfrm>
            <a:off x="548640" y="3108960"/>
            <a:ext cx="12435840" cy="1488168"/>
          </a:xfrm>
        </p:spPr>
        <p:txBody>
          <a:bodyPr anchor="ctr">
            <a:noAutofit/>
          </a:bodyPr>
          <a:lstStyle>
            <a:lvl1pPr algn="l">
              <a:defRPr sz="9600" b="1" cap="none">
                <a:solidFill>
                  <a:schemeClr val="tx1"/>
                </a:solidFill>
              </a:defRPr>
            </a:lvl1pPr>
          </a:lstStyle>
          <a:p>
            <a:r>
              <a:rPr lang="en-US" dirty="0"/>
              <a:t>Q&amp;A</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spTree>
    <p:extLst>
      <p:ext uri="{BB962C8B-B14F-4D97-AF65-F5344CB8AC3E}">
        <p14:creationId xmlns:p14="http://schemas.microsoft.com/office/powerpoint/2010/main" val="3414820308"/>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Divider_Slide_and_Subtitl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340E26-B0F6-0540-8F51-9CF877A48E26}"/>
              </a:ext>
            </a:extLst>
          </p:cNvPr>
          <p:cNvSpPr/>
          <p:nvPr userDrawn="1"/>
        </p:nvSpPr>
        <p:spPr>
          <a:xfrm>
            <a:off x="11825207" y="7361694"/>
            <a:ext cx="2488201" cy="67283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C088F35-39AE-534E-AD03-B21DD335F80D}"/>
              </a:ext>
            </a:extLst>
          </p:cNvPr>
          <p:cNvPicPr>
            <a:picLocks noChangeAspect="1"/>
          </p:cNvPicPr>
          <p:nvPr userDrawn="1"/>
        </p:nvPicPr>
        <p:blipFill>
          <a:blip r:embed="rId2"/>
          <a:stretch>
            <a:fillRect/>
          </a:stretch>
        </p:blipFill>
        <p:spPr>
          <a:xfrm>
            <a:off x="0" y="0"/>
            <a:ext cx="14630400" cy="8229600"/>
          </a:xfrm>
          <a:prstGeom prst="rect">
            <a:avLst/>
          </a:prstGeom>
        </p:spPr>
      </p:pic>
      <p:sp>
        <p:nvSpPr>
          <p:cNvPr id="2" name="Title 1"/>
          <p:cNvSpPr>
            <a:spLocks noGrp="1"/>
          </p:cNvSpPr>
          <p:nvPr>
            <p:ph type="title" hasCustomPrompt="1"/>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Thank you!</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pic>
        <p:nvPicPr>
          <p:cNvPr id="6" name="Picture 5">
            <a:extLst>
              <a:ext uri="{FF2B5EF4-FFF2-40B4-BE49-F238E27FC236}">
                <a16:creationId xmlns:a16="http://schemas.microsoft.com/office/drawing/2014/main" id="{EE6547C1-AC56-604D-B886-E570A90227CB}"/>
              </a:ext>
            </a:extLst>
          </p:cNvPr>
          <p:cNvPicPr>
            <a:picLocks noChangeAspect="1"/>
          </p:cNvPicPr>
          <p:nvPr userDrawn="1"/>
        </p:nvPicPr>
        <p:blipFill>
          <a:blip r:embed="rId3"/>
          <a:srcRect/>
          <a:stretch/>
        </p:blipFill>
        <p:spPr>
          <a:xfrm>
            <a:off x="548819" y="925227"/>
            <a:ext cx="2286000" cy="714374"/>
          </a:xfrm>
          <a:prstGeom prst="rect">
            <a:avLst/>
          </a:prstGeom>
        </p:spPr>
      </p:pic>
    </p:spTree>
    <p:extLst>
      <p:ext uri="{BB962C8B-B14F-4D97-AF65-F5344CB8AC3E}">
        <p14:creationId xmlns:p14="http://schemas.microsoft.com/office/powerpoint/2010/main" val="3192394863"/>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_Pag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lvl1pPr>
              <a:defRPr>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extBox 3">
            <a:extLst>
              <a:ext uri="{FF2B5EF4-FFF2-40B4-BE49-F238E27FC236}">
                <a16:creationId xmlns:a16="http://schemas.microsoft.com/office/drawing/2014/main" id="{C680CA43-5C49-A347-BAC4-268F3B7F1BC4}"/>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a:t>
            </a:r>
            <a:r>
              <a:rPr lang="en-US" altLang="zh-CN"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6" name="Picture 5">
            <a:extLst>
              <a:ext uri="{FF2B5EF4-FFF2-40B4-BE49-F238E27FC236}">
                <a16:creationId xmlns:a16="http://schemas.microsoft.com/office/drawing/2014/main" id="{AD1823CE-4EF2-0745-AA44-0D6EEFE77898}"/>
              </a:ext>
            </a:extLst>
          </p:cNvPr>
          <p:cNvPicPr>
            <a:picLocks noChangeAspect="1"/>
          </p:cNvPicPr>
          <p:nvPr userDrawn="1"/>
        </p:nvPicPr>
        <p:blipFill>
          <a:blip r:embed="rId2"/>
          <a:srcRect/>
          <a:stretch/>
        </p:blipFill>
        <p:spPr>
          <a:xfrm>
            <a:off x="13149071" y="7598245"/>
            <a:ext cx="914400" cy="285749"/>
          </a:xfrm>
          <a:prstGeom prst="rect">
            <a:avLst/>
          </a:prstGeom>
        </p:spPr>
      </p:pic>
    </p:spTree>
    <p:extLst>
      <p:ext uri="{BB962C8B-B14F-4D97-AF65-F5344CB8AC3E}">
        <p14:creationId xmlns:p14="http://schemas.microsoft.com/office/powerpoint/2010/main" val="2381838818"/>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able_of_Content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4832" cy="873186"/>
          </a:xfrm>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544947" y="1645920"/>
            <a:ext cx="13514832" cy="5686282"/>
          </a:xfrm>
          <a:prstGeom prst="rect">
            <a:avLst/>
          </a:prstGeom>
        </p:spPr>
        <p:txBody>
          <a:bodyPr/>
          <a:lstStyle>
            <a:lvl1pPr marL="0" indent="0">
              <a:buNone/>
              <a:defRPr>
                <a:solidFill>
                  <a:schemeClr val="tx2"/>
                </a:solidFill>
              </a:defRPr>
            </a:lvl1pPr>
            <a:lvl2pPr marL="1188720" indent="-457200">
              <a:buFont typeface="Arial"/>
              <a:buChar char="•"/>
              <a:defRPr>
                <a:solidFill>
                  <a:schemeClr val="tx2"/>
                </a:solidFill>
              </a:defRPr>
            </a:lvl2pPr>
            <a:lvl3pPr marL="1828800" indent="-365760">
              <a:buFont typeface="Arial"/>
              <a:buChar cha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95596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ow_to_Us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9" name="TextBox 8">
            <a:extLst>
              <a:ext uri="{FF2B5EF4-FFF2-40B4-BE49-F238E27FC236}">
                <a16:creationId xmlns:a16="http://schemas.microsoft.com/office/drawing/2014/main" id="{1B954A5E-A2DC-9041-9311-DBC4F345DE43}"/>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a:t>
            </a:r>
            <a:r>
              <a:rPr lang="en-US" altLang="zh-CN"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8" name="Picture 7">
            <a:extLst>
              <a:ext uri="{FF2B5EF4-FFF2-40B4-BE49-F238E27FC236}">
                <a16:creationId xmlns:a16="http://schemas.microsoft.com/office/drawing/2014/main" id="{9FBD488D-A179-B549-B7EA-6E8CE5EA5373}"/>
              </a:ext>
            </a:extLst>
          </p:cNvPr>
          <p:cNvPicPr>
            <a:picLocks noChangeAspect="1"/>
          </p:cNvPicPr>
          <p:nvPr userDrawn="1"/>
        </p:nvPicPr>
        <p:blipFill>
          <a:blip r:embed="rId2"/>
          <a:srcRect/>
          <a:stretch/>
        </p:blipFill>
        <p:spPr>
          <a:xfrm>
            <a:off x="13149071" y="7598245"/>
            <a:ext cx="914400" cy="285749"/>
          </a:xfrm>
          <a:prstGeom prst="rect">
            <a:avLst/>
          </a:prstGeom>
        </p:spPr>
      </p:pic>
    </p:spTree>
    <p:extLst>
      <p:ext uri="{BB962C8B-B14F-4D97-AF65-F5344CB8AC3E}">
        <p14:creationId xmlns:p14="http://schemas.microsoft.com/office/powerpoint/2010/main" val="4266760747"/>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F8F5A80-76E5-C64B-AD2F-8EEABC78281A}"/>
              </a:ext>
            </a:extLst>
          </p:cNvPr>
          <p:cNvPicPr>
            <a:picLocks noChangeAspect="1"/>
          </p:cNvPicPr>
          <p:nvPr userDrawn="1"/>
        </p:nvPicPr>
        <p:blipFill>
          <a:blip r:embed="rId2"/>
          <a:srcRect/>
          <a:stretch/>
        </p:blipFill>
        <p:spPr>
          <a:xfrm>
            <a:off x="0" y="0"/>
            <a:ext cx="14630400" cy="8229600"/>
          </a:xfrm>
          <a:prstGeom prst="rect">
            <a:avLst/>
          </a:prstGeom>
        </p:spPr>
      </p:pic>
      <p:sp>
        <p:nvSpPr>
          <p:cNvPr id="3" name="Text Placeholder 3"/>
          <p:cNvSpPr>
            <a:spLocks noGrp="1"/>
          </p:cNvSpPr>
          <p:nvPr>
            <p:ph idx="1" hasCustomPrompt="1"/>
          </p:nvPr>
        </p:nvSpPr>
        <p:spPr>
          <a:xfrm>
            <a:off x="323850" y="1669756"/>
            <a:ext cx="13982827" cy="1237262"/>
          </a:xfrm>
          <a:prstGeom prst="rect">
            <a:avLst/>
          </a:prstGeom>
        </p:spPr>
        <p:txBody>
          <a:bodyPr rtlCol="0"/>
          <a:lstStyle>
            <a:lvl1pPr>
              <a:spcBef>
                <a:spcPts val="0"/>
              </a:spcBef>
              <a:spcAft>
                <a:spcPts val="0"/>
              </a:spcAft>
              <a:defRPr sz="2800" baseline="0">
                <a:solidFill>
                  <a:schemeClr val="bg1"/>
                </a:solidFill>
              </a:defRPr>
            </a:lvl1pPr>
            <a:lvl2pPr>
              <a:spcBef>
                <a:spcPts val="0"/>
              </a:spcBef>
              <a:spcAft>
                <a:spcPts val="0"/>
              </a:spcAft>
              <a:defRPr sz="2000">
                <a:solidFill>
                  <a:schemeClr val="bg1"/>
                </a:solidFill>
              </a:defRPr>
            </a:lvl2pPr>
            <a:lvl3pPr>
              <a:spcBef>
                <a:spcPts val="0"/>
              </a:spcBef>
              <a:spcAft>
                <a:spcPts val="0"/>
              </a:spcAft>
              <a:defRPr sz="2000">
                <a:solidFill>
                  <a:schemeClr val="bg1"/>
                </a:solidFill>
              </a:defRPr>
            </a:lvl3pPr>
            <a:lvl4pPr>
              <a:spcAft>
                <a:spcPts val="800"/>
              </a:spcAft>
              <a:defRPr/>
            </a:lvl4pPr>
            <a:lvl5pPr>
              <a:spcAft>
                <a:spcPts val="800"/>
              </a:spcAft>
              <a:defRPr/>
            </a:lvl5pPr>
          </a:lstStyle>
          <a:p>
            <a:pPr lvl="0"/>
            <a:r>
              <a:rPr lang="en-US" dirty="0"/>
              <a:t>Type slide content or click icon to add media</a:t>
            </a:r>
          </a:p>
          <a:p>
            <a:pPr lvl="1"/>
            <a:r>
              <a:rPr lang="en-US" dirty="0"/>
              <a:t>Second level</a:t>
            </a:r>
          </a:p>
          <a:p>
            <a:pPr lvl="2"/>
            <a:r>
              <a:rPr lang="en-US" dirty="0"/>
              <a:t>Third level</a:t>
            </a:r>
          </a:p>
        </p:txBody>
      </p:sp>
      <p:sp>
        <p:nvSpPr>
          <p:cNvPr id="4" name="Title 1">
            <a:extLst>
              <a:ext uri="{FF2B5EF4-FFF2-40B4-BE49-F238E27FC236}">
                <a16:creationId xmlns:a16="http://schemas.microsoft.com/office/drawing/2014/main" id="{4A781557-F2E8-9A40-A3CE-84E4ECCC2FC4}"/>
              </a:ext>
            </a:extLst>
          </p:cNvPr>
          <p:cNvSpPr>
            <a:spLocks noGrp="1"/>
          </p:cNvSpPr>
          <p:nvPr>
            <p:ph type="title" hasCustomPrompt="1"/>
          </p:nvPr>
        </p:nvSpPr>
        <p:spPr>
          <a:xfrm>
            <a:off x="323850" y="342900"/>
            <a:ext cx="13982827" cy="960263"/>
          </a:xfrm>
        </p:spPr>
        <p:txBody>
          <a:bodyPr/>
          <a:lstStyle>
            <a:lvl1pPr>
              <a:defRPr b="0" i="0" baseline="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Title and content layout – Type title here</a:t>
            </a:r>
          </a:p>
        </p:txBody>
      </p:sp>
      <p:pic>
        <p:nvPicPr>
          <p:cNvPr id="8" name="图片 7">
            <a:extLst>
              <a:ext uri="{FF2B5EF4-FFF2-40B4-BE49-F238E27FC236}">
                <a16:creationId xmlns:a16="http://schemas.microsoft.com/office/drawing/2014/main" id="{46488B8B-11E8-9C41-88D8-6803EE640690}"/>
              </a:ext>
            </a:extLst>
          </p:cNvPr>
          <p:cNvPicPr>
            <a:picLocks noChangeAspect="1"/>
          </p:cNvPicPr>
          <p:nvPr userDrawn="1"/>
        </p:nvPicPr>
        <p:blipFill rotWithShape="1">
          <a:blip r:embed="rId3"/>
          <a:srcRect l="69881" b="85698"/>
          <a:stretch/>
        </p:blipFill>
        <p:spPr>
          <a:xfrm>
            <a:off x="10223770" y="7245704"/>
            <a:ext cx="4406630" cy="1177872"/>
          </a:xfrm>
          <a:prstGeom prst="rect">
            <a:avLst/>
          </a:prstGeom>
        </p:spPr>
      </p:pic>
    </p:spTree>
    <p:extLst>
      <p:ext uri="{BB962C8B-B14F-4D97-AF65-F5344CB8AC3E}">
        <p14:creationId xmlns:p14="http://schemas.microsoft.com/office/powerpoint/2010/main" val="1305989263"/>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_and_Content">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idx="1" hasCustomPrompt="1"/>
          </p:nvPr>
        </p:nvSpPr>
        <p:spPr>
          <a:xfrm>
            <a:off x="323850" y="1669756"/>
            <a:ext cx="13982827" cy="1659942"/>
          </a:xfrm>
          <a:prstGeom prst="rect">
            <a:avLst/>
          </a:prstGeom>
        </p:spPr>
        <p:txBody>
          <a:bodyPr rtlCol="0"/>
          <a:lstStyle>
            <a:lvl1pPr>
              <a:spcBef>
                <a:spcPts val="0"/>
              </a:spcBef>
              <a:spcAft>
                <a:spcPts val="1200"/>
              </a:spcAft>
              <a:defRPr baseline="0"/>
            </a:lvl1pPr>
            <a:lvl2pPr>
              <a:spcBef>
                <a:spcPts val="0"/>
              </a:spcBef>
              <a:spcAft>
                <a:spcPts val="800"/>
              </a:spcAft>
              <a:defRPr/>
            </a:lvl2pPr>
            <a:lvl3pPr>
              <a:spcBef>
                <a:spcPts val="0"/>
              </a:spcBef>
              <a:spcAft>
                <a:spcPts val="800"/>
              </a:spcAft>
              <a:defRPr/>
            </a:lvl3pPr>
            <a:lvl4pPr>
              <a:spcAft>
                <a:spcPts val="800"/>
              </a:spcAft>
              <a:defRPr/>
            </a:lvl4pPr>
            <a:lvl5pPr>
              <a:spcAft>
                <a:spcPts val="800"/>
              </a:spcAft>
              <a:defRPr/>
            </a:lvl5pPr>
          </a:lstStyle>
          <a:p>
            <a:pPr lvl="0"/>
            <a:r>
              <a:rPr lang="en-US" dirty="0"/>
              <a:t>Type slide content or click icon to add media</a:t>
            </a:r>
          </a:p>
          <a:p>
            <a:pPr lvl="1"/>
            <a:r>
              <a:rPr lang="en-US" dirty="0"/>
              <a:t>Second level</a:t>
            </a:r>
          </a:p>
          <a:p>
            <a:pPr lvl="2"/>
            <a:r>
              <a:rPr lang="en-US" dirty="0"/>
              <a:t>Third level</a:t>
            </a:r>
          </a:p>
        </p:txBody>
      </p:sp>
      <p:sp>
        <p:nvSpPr>
          <p:cNvPr id="4" name="Title 1">
            <a:extLst>
              <a:ext uri="{FF2B5EF4-FFF2-40B4-BE49-F238E27FC236}">
                <a16:creationId xmlns:a16="http://schemas.microsoft.com/office/drawing/2014/main" id="{4A781557-F2E8-9A40-A3CE-84E4ECCC2FC4}"/>
              </a:ext>
            </a:extLst>
          </p:cNvPr>
          <p:cNvSpPr>
            <a:spLocks noGrp="1"/>
          </p:cNvSpPr>
          <p:nvPr>
            <p:ph type="title" hasCustomPrompt="1"/>
          </p:nvPr>
        </p:nvSpPr>
        <p:spPr>
          <a:xfrm>
            <a:off x="323850" y="342900"/>
            <a:ext cx="13982827" cy="826681"/>
          </a:xfrm>
        </p:spPr>
        <p:txBody>
          <a:bodyPr/>
          <a:lstStyle>
            <a:lvl1pPr>
              <a:defRPr b="0" i="0" baseline="0">
                <a:solidFill>
                  <a:schemeClr val="tx1"/>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Title and content layout – Type title here</a:t>
            </a:r>
          </a:p>
        </p:txBody>
      </p:sp>
    </p:spTree>
    <p:extLst>
      <p:ext uri="{BB962C8B-B14F-4D97-AF65-F5344CB8AC3E}">
        <p14:creationId xmlns:p14="http://schemas.microsoft.com/office/powerpoint/2010/main" val="242495495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Title_TwoSpeakers">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126EE-C025-5948-A2CA-09B44FD20E5E}"/>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Click to edit 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i="0" baseline="0">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Click to edit title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subtitle</a:t>
            </a:r>
          </a:p>
        </p:txBody>
      </p:sp>
      <p:pic>
        <p:nvPicPr>
          <p:cNvPr id="9" name="Picture 8"/>
          <p:cNvPicPr>
            <a:picLocks noChangeAspect="1"/>
          </p:cNvPicPr>
          <p:nvPr userDrawn="1"/>
        </p:nvPicPr>
        <p:blipFill>
          <a:blip r:embed="rId4"/>
          <a:srcRect/>
          <a:stretch/>
        </p:blipFill>
        <p:spPr>
          <a:xfrm>
            <a:off x="548819" y="925228"/>
            <a:ext cx="2286000" cy="714375"/>
          </a:xfrm>
          <a:prstGeom prst="rect">
            <a:avLst/>
          </a:prstGeom>
        </p:spPr>
      </p:pic>
      <p:sp>
        <p:nvSpPr>
          <p:cNvPr id="7" name="TextBox 6">
            <a:extLst>
              <a:ext uri="{FF2B5EF4-FFF2-40B4-BE49-F238E27FC236}">
                <a16:creationId xmlns:a16="http://schemas.microsoft.com/office/drawing/2014/main" id="{8FA84D03-8133-8347-8776-300EBD9F8B8C}"/>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a:t>
            </a:r>
            <a:r>
              <a:rPr lang="en-US" altLang="zh-CN"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781557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able_of_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548640" y="183898"/>
            <a:ext cx="13510260" cy="993392"/>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548640" y="1645920"/>
            <a:ext cx="13510260" cy="4686301"/>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04402345"/>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Divider_Slide_and_Subtitl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91C32C7-59F5-DF47-8723-035723E617D2}"/>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spTree>
    <p:extLst>
      <p:ext uri="{BB962C8B-B14F-4D97-AF65-F5344CB8AC3E}">
        <p14:creationId xmlns:p14="http://schemas.microsoft.com/office/powerpoint/2010/main" val="3901151970"/>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Divider_Slide">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C5A18C-E55B-8242-9A52-05588436727F}"/>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Tree>
    <p:extLst>
      <p:ext uri="{BB962C8B-B14F-4D97-AF65-F5344CB8AC3E}">
        <p14:creationId xmlns:p14="http://schemas.microsoft.com/office/powerpoint/2010/main" val="3167642146"/>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Divider_Slid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BA6A43-4E15-784A-AF64-33ECD7483B38}"/>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Tree>
    <p:extLst>
      <p:ext uri="{BB962C8B-B14F-4D97-AF65-F5344CB8AC3E}">
        <p14:creationId xmlns:p14="http://schemas.microsoft.com/office/powerpoint/2010/main" val="2315702760"/>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One_Bulleted_Lis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1460" cy="873186"/>
          </a:xfrm>
        </p:spPr>
        <p:txBody>
          <a:bodyPr/>
          <a:lstStyle/>
          <a:p>
            <a:r>
              <a:rPr lang="en-US" dirty="0"/>
              <a:t>Click to edit Master title style</a:t>
            </a:r>
          </a:p>
        </p:txBody>
      </p:sp>
      <p:sp>
        <p:nvSpPr>
          <p:cNvPr id="3" name="Content Placeholder 2"/>
          <p:cNvSpPr>
            <a:spLocks noGrp="1"/>
          </p:cNvSpPr>
          <p:nvPr>
            <p:ph sz="half" idx="1"/>
          </p:nvPr>
        </p:nvSpPr>
        <p:spPr>
          <a:xfrm>
            <a:off x="548640" y="1645920"/>
            <a:ext cx="13510260" cy="5431155"/>
          </a:xfrm>
          <a:prstGeom prst="rect">
            <a:avLst/>
          </a:prstGeom>
        </p:spPr>
        <p:txBody>
          <a:bodyPr>
            <a:normAutofit/>
          </a:bodyPr>
          <a:lstStyle>
            <a:lvl1pPr>
              <a:defRPr sz="3200"/>
            </a:lvl1pPr>
            <a:lvl2pPr>
              <a:defRPr sz="2900"/>
            </a:lvl2pPr>
            <a:lvl3pPr>
              <a:defRPr sz="2600"/>
            </a:lvl3pPr>
            <a:lvl4pPr marL="2194560" indent="0">
              <a:buNone/>
              <a:defRPr sz="2600"/>
            </a:lvl4pPr>
            <a:lvl5pPr>
              <a:defRPr sz="256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242412172"/>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wo_Bulleted_Sections">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548639"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7658100"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8316004"/>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ontent_and_Imag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8" name="Picture Placeholder 7">
            <a:extLst>
              <a:ext uri="{FF2B5EF4-FFF2-40B4-BE49-F238E27FC236}">
                <a16:creationId xmlns:a16="http://schemas.microsoft.com/office/drawing/2014/main" id="{758B8829-AB11-E54F-AFFF-11D6AD397DEB}"/>
              </a:ext>
            </a:extLst>
          </p:cNvPr>
          <p:cNvSpPr>
            <a:spLocks noGrp="1"/>
          </p:cNvSpPr>
          <p:nvPr>
            <p:ph type="pic" sz="quarter" idx="11"/>
          </p:nvPr>
        </p:nvSpPr>
        <p:spPr>
          <a:xfrm>
            <a:off x="7658100" y="1645920"/>
            <a:ext cx="6400800" cy="5088346"/>
          </a:xfrm>
          <a:prstGeom prst="rect">
            <a:avLst/>
          </a:prstGeom>
        </p:spPr>
        <p:txBody>
          <a:bodyPr/>
          <a:lstStyle/>
          <a:p>
            <a:endParaRPr lang="en-US"/>
          </a:p>
        </p:txBody>
      </p:sp>
      <p:sp>
        <p:nvSpPr>
          <p:cNvPr id="10" name="Text Placeholder 9">
            <a:extLst>
              <a:ext uri="{FF2B5EF4-FFF2-40B4-BE49-F238E27FC236}">
                <a16:creationId xmlns:a16="http://schemas.microsoft.com/office/drawing/2014/main" id="{3305C376-814F-9B49-99E8-6F17D4026FAD}"/>
              </a:ext>
            </a:extLst>
          </p:cNvPr>
          <p:cNvSpPr>
            <a:spLocks noGrp="1"/>
          </p:cNvSpPr>
          <p:nvPr>
            <p:ph type="body" sz="quarter" idx="12" hasCustomPrompt="1"/>
          </p:nvPr>
        </p:nvSpPr>
        <p:spPr>
          <a:xfrm>
            <a:off x="548639" y="1645920"/>
            <a:ext cx="6400800" cy="5087619"/>
          </a:xfrm>
          <a:prstGeom prst="rect">
            <a:avLst/>
          </a:prstGeom>
        </p:spPr>
        <p:txBody>
          <a:bodyPr/>
          <a:lstStyle>
            <a:lvl1pPr marL="0" marR="0" indent="0" algn="l" defTabSz="731520" rtl="0" eaLnBrk="1" fontAlgn="auto" latinLnBrk="0" hangingPunct="1">
              <a:lnSpc>
                <a:spcPct val="100000"/>
              </a:lnSpc>
              <a:spcBef>
                <a:spcPct val="20000"/>
              </a:spcBef>
              <a:spcAft>
                <a:spcPts val="0"/>
              </a:spcAft>
              <a:buClrTx/>
              <a:buSzTx/>
              <a:buFontTx/>
              <a:buNone/>
              <a:tabLst/>
              <a:defRPr sz="1900" b="1">
                <a:latin typeface="+mn-lt"/>
              </a:defRPr>
            </a:lvl1pPr>
          </a:lstStyle>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p:txBody>
      </p:sp>
    </p:spTree>
    <p:extLst>
      <p:ext uri="{BB962C8B-B14F-4D97-AF65-F5344CB8AC3E}">
        <p14:creationId xmlns:p14="http://schemas.microsoft.com/office/powerpoint/2010/main" val="284917834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Image_Coll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39" y="1645920"/>
            <a:ext cx="4572000"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509760" y="1645920"/>
            <a:ext cx="4572000" cy="5028635"/>
          </a:xfrm>
          <a:prstGeom prst="rect">
            <a:avLst/>
          </a:prstGeom>
        </p:spPr>
        <p:txBody>
          <a:bodyPr/>
          <a:lstStyle/>
          <a:p>
            <a:endParaRPr lang="en-US"/>
          </a:p>
        </p:txBody>
      </p:sp>
      <p:sp>
        <p:nvSpPr>
          <p:cNvPr id="10" name="Picture Placeholder 4">
            <a:extLst>
              <a:ext uri="{FF2B5EF4-FFF2-40B4-BE49-F238E27FC236}">
                <a16:creationId xmlns:a16="http://schemas.microsoft.com/office/drawing/2014/main" id="{0FF44110-D1F4-664B-9593-798283322862}"/>
              </a:ext>
            </a:extLst>
          </p:cNvPr>
          <p:cNvSpPr>
            <a:spLocks noGrp="1"/>
          </p:cNvSpPr>
          <p:nvPr>
            <p:ph type="pic" sz="quarter" idx="12"/>
          </p:nvPr>
        </p:nvSpPr>
        <p:spPr>
          <a:xfrm>
            <a:off x="5486400" y="1645920"/>
            <a:ext cx="3657600" cy="2686296"/>
          </a:xfrm>
          <a:prstGeom prst="rect">
            <a:avLst/>
          </a:prstGeom>
        </p:spPr>
        <p:txBody>
          <a:bodyPr/>
          <a:lstStyle/>
          <a:p>
            <a:endParaRPr lang="en-US"/>
          </a:p>
        </p:txBody>
      </p:sp>
      <p:sp>
        <p:nvSpPr>
          <p:cNvPr id="12" name="Picture Placeholder 4">
            <a:extLst>
              <a:ext uri="{FF2B5EF4-FFF2-40B4-BE49-F238E27FC236}">
                <a16:creationId xmlns:a16="http://schemas.microsoft.com/office/drawing/2014/main" id="{886DFCC3-A169-A648-A099-3583B633E69B}"/>
              </a:ext>
            </a:extLst>
          </p:cNvPr>
          <p:cNvSpPr>
            <a:spLocks noGrp="1"/>
          </p:cNvSpPr>
          <p:nvPr>
            <p:ph type="pic" sz="quarter" idx="13"/>
          </p:nvPr>
        </p:nvSpPr>
        <p:spPr>
          <a:xfrm>
            <a:off x="5486400" y="4767345"/>
            <a:ext cx="3657600" cy="1892899"/>
          </a:xfrm>
          <a:prstGeom prst="rect">
            <a:avLst/>
          </a:prstGeom>
        </p:spPr>
        <p:txBody>
          <a:bodyPr/>
          <a:lstStyle/>
          <a:p>
            <a:endParaRPr lang="en-US"/>
          </a:p>
        </p:txBody>
      </p:sp>
    </p:spTree>
    <p:extLst>
      <p:ext uri="{BB962C8B-B14F-4D97-AF65-F5344CB8AC3E}">
        <p14:creationId xmlns:p14="http://schemas.microsoft.com/office/powerpoint/2010/main" val="3082787054"/>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wo_Im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38862" y="183898"/>
            <a:ext cx="13520037"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8330183"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326880" y="1645920"/>
            <a:ext cx="4754880" cy="5028635"/>
          </a:xfrm>
          <a:prstGeom prst="rect">
            <a:avLst/>
          </a:prstGeom>
        </p:spPr>
        <p:txBody>
          <a:bodyPr/>
          <a:lstStyle/>
          <a:p>
            <a:endParaRPr lang="en-US"/>
          </a:p>
        </p:txBody>
      </p:sp>
    </p:spTree>
    <p:extLst>
      <p:ext uri="{BB962C8B-B14F-4D97-AF65-F5344CB8AC3E}">
        <p14:creationId xmlns:p14="http://schemas.microsoft.com/office/powerpoint/2010/main" val="3934110432"/>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Full_Image_Center">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13514832" cy="5338152"/>
          </a:xfrm>
          <a:prstGeom prst="rect">
            <a:avLst/>
          </a:prstGeom>
        </p:spPr>
        <p:txBody>
          <a:bodyPr/>
          <a:lstStyle/>
          <a:p>
            <a:endParaRPr lang="en-US"/>
          </a:p>
        </p:txBody>
      </p:sp>
    </p:spTree>
    <p:extLst>
      <p:ext uri="{BB962C8B-B14F-4D97-AF65-F5344CB8AC3E}">
        <p14:creationId xmlns:p14="http://schemas.microsoft.com/office/powerpoint/2010/main" val="17749294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Full_Bleed_Image">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0" y="1"/>
            <a:ext cx="14630400" cy="8229598"/>
          </a:xfrm>
          <a:prstGeom prst="rect">
            <a:avLst/>
          </a:prstGeom>
        </p:spPr>
        <p:txBody>
          <a:bodyPr/>
          <a:lstStyle/>
          <a:p>
            <a:endParaRPr lang="en-US" dirty="0"/>
          </a:p>
        </p:txBody>
      </p:sp>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770389636"/>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lor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4" name="Rectangle 3">
            <a:extLst>
              <a:ext uri="{FF2B5EF4-FFF2-40B4-BE49-F238E27FC236}">
                <a16:creationId xmlns:a16="http://schemas.microsoft.com/office/drawing/2014/main" id="{1A65E46D-C0D2-7642-AF47-40070CB7653A}"/>
              </a:ext>
            </a:extLst>
          </p:cNvPr>
          <p:cNvSpPr/>
          <p:nvPr userDrawn="1"/>
        </p:nvSpPr>
        <p:spPr>
          <a:xfrm>
            <a:off x="0" y="1645920"/>
            <a:ext cx="14630400" cy="532964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15" name="Picture Placeholder 2"/>
          <p:cNvSpPr>
            <a:spLocks noGrp="1"/>
          </p:cNvSpPr>
          <p:nvPr>
            <p:ph type="pic" sz="quarter" idx="16"/>
          </p:nvPr>
        </p:nvSpPr>
        <p:spPr>
          <a:xfrm>
            <a:off x="946674"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6" name="Picture Placeholder 2"/>
          <p:cNvSpPr>
            <a:spLocks noGrp="1"/>
          </p:cNvSpPr>
          <p:nvPr>
            <p:ph type="pic" sz="quarter" idx="17"/>
          </p:nvPr>
        </p:nvSpPr>
        <p:spPr>
          <a:xfrm>
            <a:off x="4328298"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7" name="Picture Placeholder 2"/>
          <p:cNvSpPr>
            <a:spLocks noGrp="1"/>
          </p:cNvSpPr>
          <p:nvPr>
            <p:ph type="pic" sz="quarter" idx="18"/>
          </p:nvPr>
        </p:nvSpPr>
        <p:spPr>
          <a:xfrm>
            <a:off x="7709922"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8" name="Picture Placeholder 2"/>
          <p:cNvSpPr>
            <a:spLocks noGrp="1"/>
          </p:cNvSpPr>
          <p:nvPr>
            <p:ph type="pic" sz="quarter" idx="19"/>
          </p:nvPr>
        </p:nvSpPr>
        <p:spPr>
          <a:xfrm>
            <a:off x="11091547"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9" name="Picture Placeholder 2">
            <a:extLst>
              <a:ext uri="{FF2B5EF4-FFF2-40B4-BE49-F238E27FC236}">
                <a16:creationId xmlns:a16="http://schemas.microsoft.com/office/drawing/2014/main" id="{F1543634-A736-BA4B-A10A-31EE0B13FC13}"/>
              </a:ext>
            </a:extLst>
          </p:cNvPr>
          <p:cNvSpPr>
            <a:spLocks noGrp="1"/>
          </p:cNvSpPr>
          <p:nvPr>
            <p:ph type="pic" sz="quarter" idx="20"/>
          </p:nvPr>
        </p:nvSpPr>
        <p:spPr>
          <a:xfrm>
            <a:off x="946674"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0" name="Picture Placeholder 2">
            <a:extLst>
              <a:ext uri="{FF2B5EF4-FFF2-40B4-BE49-F238E27FC236}">
                <a16:creationId xmlns:a16="http://schemas.microsoft.com/office/drawing/2014/main" id="{31DBC551-9315-1F45-A672-93EB06007494}"/>
              </a:ext>
            </a:extLst>
          </p:cNvPr>
          <p:cNvSpPr>
            <a:spLocks noGrp="1"/>
          </p:cNvSpPr>
          <p:nvPr>
            <p:ph type="pic" sz="quarter" idx="21"/>
          </p:nvPr>
        </p:nvSpPr>
        <p:spPr>
          <a:xfrm>
            <a:off x="4328298"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1" name="Picture Placeholder 2">
            <a:extLst>
              <a:ext uri="{FF2B5EF4-FFF2-40B4-BE49-F238E27FC236}">
                <a16:creationId xmlns:a16="http://schemas.microsoft.com/office/drawing/2014/main" id="{AB66963A-7841-B341-A47C-7BEFE1F8B8CA}"/>
              </a:ext>
            </a:extLst>
          </p:cNvPr>
          <p:cNvSpPr>
            <a:spLocks noGrp="1"/>
          </p:cNvSpPr>
          <p:nvPr>
            <p:ph type="pic" sz="quarter" idx="22"/>
          </p:nvPr>
        </p:nvSpPr>
        <p:spPr>
          <a:xfrm>
            <a:off x="7709922"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2" name="Picture Placeholder 2">
            <a:extLst>
              <a:ext uri="{FF2B5EF4-FFF2-40B4-BE49-F238E27FC236}">
                <a16:creationId xmlns:a16="http://schemas.microsoft.com/office/drawing/2014/main" id="{7E808491-1004-3A44-87DD-41D21C9E39C3}"/>
              </a:ext>
            </a:extLst>
          </p:cNvPr>
          <p:cNvSpPr>
            <a:spLocks noGrp="1"/>
          </p:cNvSpPr>
          <p:nvPr>
            <p:ph type="pic" sz="quarter" idx="23"/>
          </p:nvPr>
        </p:nvSpPr>
        <p:spPr>
          <a:xfrm>
            <a:off x="11091547"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Tree>
    <p:extLst>
      <p:ext uri="{BB962C8B-B14F-4D97-AF65-F5344CB8AC3E}">
        <p14:creationId xmlns:p14="http://schemas.microsoft.com/office/powerpoint/2010/main" val="1033423148"/>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White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9" name="Picture Placeholder 2"/>
          <p:cNvSpPr>
            <a:spLocks noGrp="1"/>
          </p:cNvSpPr>
          <p:nvPr>
            <p:ph type="pic" sz="quarter" idx="20"/>
          </p:nvPr>
        </p:nvSpPr>
        <p:spPr>
          <a:xfrm>
            <a:off x="543902"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0" name="Picture Placeholder 2"/>
          <p:cNvSpPr>
            <a:spLocks noGrp="1"/>
          </p:cNvSpPr>
          <p:nvPr>
            <p:ph type="pic" sz="quarter" idx="21"/>
          </p:nvPr>
        </p:nvSpPr>
        <p:spPr>
          <a:xfrm>
            <a:off x="5566893"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1" name="Picture Placeholder 2"/>
          <p:cNvSpPr>
            <a:spLocks noGrp="1"/>
          </p:cNvSpPr>
          <p:nvPr>
            <p:ph type="pic" sz="quarter" idx="22"/>
          </p:nvPr>
        </p:nvSpPr>
        <p:spPr>
          <a:xfrm>
            <a:off x="10599958"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2" name="Picture Placeholder 2"/>
          <p:cNvSpPr>
            <a:spLocks noGrp="1"/>
          </p:cNvSpPr>
          <p:nvPr>
            <p:ph type="pic" sz="quarter" idx="23"/>
          </p:nvPr>
        </p:nvSpPr>
        <p:spPr>
          <a:xfrm>
            <a:off x="543902"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3" name="Picture Placeholder 2"/>
          <p:cNvSpPr>
            <a:spLocks noGrp="1"/>
          </p:cNvSpPr>
          <p:nvPr>
            <p:ph type="pic" sz="quarter" idx="24"/>
          </p:nvPr>
        </p:nvSpPr>
        <p:spPr>
          <a:xfrm>
            <a:off x="5566893"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4" name="Picture Placeholder 2"/>
          <p:cNvSpPr>
            <a:spLocks noGrp="1"/>
          </p:cNvSpPr>
          <p:nvPr>
            <p:ph type="pic" sz="quarter" idx="25"/>
          </p:nvPr>
        </p:nvSpPr>
        <p:spPr>
          <a:xfrm>
            <a:off x="10599958"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Tree>
    <p:extLst>
      <p:ext uri="{BB962C8B-B14F-4D97-AF65-F5344CB8AC3E}">
        <p14:creationId xmlns:p14="http://schemas.microsoft.com/office/powerpoint/2010/main" val="10628431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ab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lstStyle>
            <a:lvl1pPr>
              <a:defRPr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able Placeholder 3">
            <a:extLst>
              <a:ext uri="{FF2B5EF4-FFF2-40B4-BE49-F238E27FC236}">
                <a16:creationId xmlns:a16="http://schemas.microsoft.com/office/drawing/2014/main" id="{D7DA888D-68DB-9B44-9614-56AAAAE93DF7}"/>
              </a:ext>
            </a:extLst>
          </p:cNvPr>
          <p:cNvSpPr>
            <a:spLocks noGrp="1"/>
          </p:cNvSpPr>
          <p:nvPr>
            <p:ph type="tbl" sz="quarter" idx="10"/>
          </p:nvPr>
        </p:nvSpPr>
        <p:spPr>
          <a:xfrm>
            <a:off x="548640" y="1645920"/>
            <a:ext cx="13510260" cy="5003800"/>
          </a:xfrm>
          <a:prstGeom prst="rect">
            <a:avLst/>
          </a:prstGeom>
        </p:spPr>
        <p:txBody>
          <a:bodyPr/>
          <a:lstStyle/>
          <a:p>
            <a:endParaRPr lang="en-US" dirty="0"/>
          </a:p>
        </p:txBody>
      </p:sp>
    </p:spTree>
    <p:extLst>
      <p:ext uri="{BB962C8B-B14F-4D97-AF65-F5344CB8AC3E}">
        <p14:creationId xmlns:p14="http://schemas.microsoft.com/office/powerpoint/2010/main" val="2851214612"/>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ar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3186"/>
          </a:xfrm>
        </p:spPr>
        <p:txBody>
          <a:bodyPr/>
          <a:lstStyle>
            <a:lvl1pPr>
              <a:defRPr b="1" i="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7" name="Chart Placeholder 5">
            <a:extLst>
              <a:ext uri="{FF2B5EF4-FFF2-40B4-BE49-F238E27FC236}">
                <a16:creationId xmlns:a16="http://schemas.microsoft.com/office/drawing/2014/main" id="{B3C77AD1-4897-A546-B977-5EB6406DD175}"/>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112045696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Pi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6" name="Chart Placeholder 5">
            <a:extLst>
              <a:ext uri="{FF2B5EF4-FFF2-40B4-BE49-F238E27FC236}">
                <a16:creationId xmlns:a16="http://schemas.microsoft.com/office/drawing/2014/main" id="{A878172D-692F-8A47-81EA-89C129774DB9}"/>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399552206"/>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Lin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Chart Placeholder 5">
            <a:extLst>
              <a:ext uri="{FF2B5EF4-FFF2-40B4-BE49-F238E27FC236}">
                <a16:creationId xmlns:a16="http://schemas.microsoft.com/office/drawing/2014/main" id="{08142378-5C5C-8B40-AD27-B9BE74F6EA71}"/>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520802442"/>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Divider_Slide_and_Subtitle">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3C1FD3-FC9E-C648-807B-884C49CEAC99}"/>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hasCustomPrompt="1"/>
          </p:nvPr>
        </p:nvSpPr>
        <p:spPr>
          <a:xfrm>
            <a:off x="548640" y="3108960"/>
            <a:ext cx="12435840" cy="1488168"/>
          </a:xfrm>
        </p:spPr>
        <p:txBody>
          <a:bodyPr anchor="ctr">
            <a:noAutofit/>
          </a:bodyPr>
          <a:lstStyle>
            <a:lvl1pPr algn="l">
              <a:defRPr sz="9600" b="1" cap="none">
                <a:solidFill>
                  <a:schemeClr val="tx1"/>
                </a:solidFill>
              </a:defRPr>
            </a:lvl1pPr>
          </a:lstStyle>
          <a:p>
            <a:r>
              <a:rPr lang="en-US" dirty="0"/>
              <a:t>Q&amp;A</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spTree>
    <p:extLst>
      <p:ext uri="{BB962C8B-B14F-4D97-AF65-F5344CB8AC3E}">
        <p14:creationId xmlns:p14="http://schemas.microsoft.com/office/powerpoint/2010/main" val="2574384603"/>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_Divider_Slide_and_Subtitl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340E26-B0F6-0540-8F51-9CF877A48E26}"/>
              </a:ext>
            </a:extLst>
          </p:cNvPr>
          <p:cNvSpPr/>
          <p:nvPr userDrawn="1"/>
        </p:nvSpPr>
        <p:spPr>
          <a:xfrm>
            <a:off x="11825207" y="7361694"/>
            <a:ext cx="2488201" cy="67283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C088F35-39AE-534E-AD03-B21DD335F80D}"/>
              </a:ext>
            </a:extLst>
          </p:cNvPr>
          <p:cNvPicPr>
            <a:picLocks noChangeAspect="1"/>
          </p:cNvPicPr>
          <p:nvPr userDrawn="1"/>
        </p:nvPicPr>
        <p:blipFill>
          <a:blip r:embed="rId2"/>
          <a:stretch>
            <a:fillRect/>
          </a:stretch>
        </p:blipFill>
        <p:spPr>
          <a:xfrm>
            <a:off x="0" y="0"/>
            <a:ext cx="14630400" cy="8229600"/>
          </a:xfrm>
          <a:prstGeom prst="rect">
            <a:avLst/>
          </a:prstGeom>
        </p:spPr>
      </p:pic>
      <p:sp>
        <p:nvSpPr>
          <p:cNvPr id="2" name="Title 1"/>
          <p:cNvSpPr>
            <a:spLocks noGrp="1"/>
          </p:cNvSpPr>
          <p:nvPr>
            <p:ph type="title" hasCustomPrompt="1"/>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Thank you!</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pic>
        <p:nvPicPr>
          <p:cNvPr id="6" name="Picture 5">
            <a:extLst>
              <a:ext uri="{FF2B5EF4-FFF2-40B4-BE49-F238E27FC236}">
                <a16:creationId xmlns:a16="http://schemas.microsoft.com/office/drawing/2014/main" id="{EE6547C1-AC56-604D-B886-E570A90227CB}"/>
              </a:ext>
            </a:extLst>
          </p:cNvPr>
          <p:cNvPicPr>
            <a:picLocks noChangeAspect="1"/>
          </p:cNvPicPr>
          <p:nvPr userDrawn="1"/>
        </p:nvPicPr>
        <p:blipFill>
          <a:blip r:embed="rId3"/>
          <a:srcRect/>
          <a:stretch/>
        </p:blipFill>
        <p:spPr>
          <a:xfrm>
            <a:off x="548819" y="925227"/>
            <a:ext cx="2286000" cy="714374"/>
          </a:xfrm>
          <a:prstGeom prst="rect">
            <a:avLst/>
          </a:prstGeom>
        </p:spPr>
      </p:pic>
    </p:spTree>
    <p:extLst>
      <p:ext uri="{BB962C8B-B14F-4D97-AF65-F5344CB8AC3E}">
        <p14:creationId xmlns:p14="http://schemas.microsoft.com/office/powerpoint/2010/main" val="2136892662"/>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Blank_Pag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lvl1pPr>
              <a:defRPr>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extBox 3">
            <a:extLst>
              <a:ext uri="{FF2B5EF4-FFF2-40B4-BE49-F238E27FC236}">
                <a16:creationId xmlns:a16="http://schemas.microsoft.com/office/drawing/2014/main" id="{C680CA43-5C49-A347-BAC4-268F3B7F1BC4}"/>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a:t>
            </a:r>
            <a:r>
              <a:rPr lang="en-US" altLang="zh-CN"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6" name="Picture 5">
            <a:extLst>
              <a:ext uri="{FF2B5EF4-FFF2-40B4-BE49-F238E27FC236}">
                <a16:creationId xmlns:a16="http://schemas.microsoft.com/office/drawing/2014/main" id="{AD1823CE-4EF2-0745-AA44-0D6EEFE77898}"/>
              </a:ext>
            </a:extLst>
          </p:cNvPr>
          <p:cNvPicPr>
            <a:picLocks noChangeAspect="1"/>
          </p:cNvPicPr>
          <p:nvPr userDrawn="1"/>
        </p:nvPicPr>
        <p:blipFill>
          <a:blip r:embed="rId2"/>
          <a:srcRect/>
          <a:stretch/>
        </p:blipFill>
        <p:spPr>
          <a:xfrm>
            <a:off x="13149071" y="7598245"/>
            <a:ext cx="914400" cy="285749"/>
          </a:xfrm>
          <a:prstGeom prst="rect">
            <a:avLst/>
          </a:prstGeom>
        </p:spPr>
      </p:pic>
    </p:spTree>
    <p:extLst>
      <p:ext uri="{BB962C8B-B14F-4D97-AF65-F5344CB8AC3E}">
        <p14:creationId xmlns:p14="http://schemas.microsoft.com/office/powerpoint/2010/main" val="4218143540"/>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_Table_of_Content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4832" cy="873186"/>
          </a:xfrm>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544947" y="1645920"/>
            <a:ext cx="13514832" cy="5686282"/>
          </a:xfrm>
          <a:prstGeom prst="rect">
            <a:avLst/>
          </a:prstGeom>
        </p:spPr>
        <p:txBody>
          <a:bodyPr/>
          <a:lstStyle>
            <a:lvl1pPr marL="0" indent="0">
              <a:buNone/>
              <a:defRPr>
                <a:solidFill>
                  <a:schemeClr val="tx2"/>
                </a:solidFill>
              </a:defRPr>
            </a:lvl1pPr>
            <a:lvl2pPr marL="1188720" indent="-457200">
              <a:buFont typeface="Arial"/>
              <a:buChar char="•"/>
              <a:defRPr>
                <a:solidFill>
                  <a:schemeClr val="tx2"/>
                </a:solidFill>
              </a:defRPr>
            </a:lvl2pPr>
            <a:lvl3pPr marL="1828800" indent="-365760">
              <a:buFont typeface="Arial"/>
              <a:buChar cha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5822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How_to_Us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9" name="TextBox 8">
            <a:extLst>
              <a:ext uri="{FF2B5EF4-FFF2-40B4-BE49-F238E27FC236}">
                <a16:creationId xmlns:a16="http://schemas.microsoft.com/office/drawing/2014/main" id="{1B954A5E-A2DC-9041-9311-DBC4F345DE43}"/>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a:t>
            </a:r>
            <a:r>
              <a:rPr lang="en-US" altLang="zh-CN"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endPar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8" name="Picture 7">
            <a:extLst>
              <a:ext uri="{FF2B5EF4-FFF2-40B4-BE49-F238E27FC236}">
                <a16:creationId xmlns:a16="http://schemas.microsoft.com/office/drawing/2014/main" id="{9FBD488D-A179-B549-B7EA-6E8CE5EA5373}"/>
              </a:ext>
            </a:extLst>
          </p:cNvPr>
          <p:cNvPicPr>
            <a:picLocks noChangeAspect="1"/>
          </p:cNvPicPr>
          <p:nvPr userDrawn="1"/>
        </p:nvPicPr>
        <p:blipFill>
          <a:blip r:embed="rId2"/>
          <a:srcRect/>
          <a:stretch/>
        </p:blipFill>
        <p:spPr>
          <a:xfrm>
            <a:off x="13149071" y="7598245"/>
            <a:ext cx="914400" cy="285749"/>
          </a:xfrm>
          <a:prstGeom prst="rect">
            <a:avLst/>
          </a:prstGeom>
        </p:spPr>
      </p:pic>
    </p:spTree>
    <p:extLst>
      <p:ext uri="{BB962C8B-B14F-4D97-AF65-F5344CB8AC3E}">
        <p14:creationId xmlns:p14="http://schemas.microsoft.com/office/powerpoint/2010/main" val="197584318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Title+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F8F5A80-76E5-C64B-AD2F-8EEABC78281A}"/>
              </a:ext>
            </a:extLst>
          </p:cNvPr>
          <p:cNvPicPr>
            <a:picLocks noChangeAspect="1"/>
          </p:cNvPicPr>
          <p:nvPr userDrawn="1"/>
        </p:nvPicPr>
        <p:blipFill>
          <a:blip r:embed="rId2"/>
          <a:srcRect/>
          <a:stretch/>
        </p:blipFill>
        <p:spPr>
          <a:xfrm>
            <a:off x="0" y="0"/>
            <a:ext cx="14630400" cy="8229600"/>
          </a:xfrm>
          <a:prstGeom prst="rect">
            <a:avLst/>
          </a:prstGeom>
        </p:spPr>
      </p:pic>
      <p:sp>
        <p:nvSpPr>
          <p:cNvPr id="3" name="Text Placeholder 3"/>
          <p:cNvSpPr>
            <a:spLocks noGrp="1"/>
          </p:cNvSpPr>
          <p:nvPr>
            <p:ph idx="1" hasCustomPrompt="1"/>
          </p:nvPr>
        </p:nvSpPr>
        <p:spPr>
          <a:xfrm>
            <a:off x="323850" y="1669756"/>
            <a:ext cx="13982827" cy="1237262"/>
          </a:xfrm>
          <a:prstGeom prst="rect">
            <a:avLst/>
          </a:prstGeom>
        </p:spPr>
        <p:txBody>
          <a:bodyPr rtlCol="0"/>
          <a:lstStyle>
            <a:lvl1pPr>
              <a:spcBef>
                <a:spcPts val="0"/>
              </a:spcBef>
              <a:spcAft>
                <a:spcPts val="0"/>
              </a:spcAft>
              <a:defRPr sz="2800" baseline="0">
                <a:solidFill>
                  <a:schemeClr val="bg1"/>
                </a:solidFill>
              </a:defRPr>
            </a:lvl1pPr>
            <a:lvl2pPr>
              <a:spcBef>
                <a:spcPts val="0"/>
              </a:spcBef>
              <a:spcAft>
                <a:spcPts val="0"/>
              </a:spcAft>
              <a:defRPr sz="2000">
                <a:solidFill>
                  <a:schemeClr val="bg1"/>
                </a:solidFill>
              </a:defRPr>
            </a:lvl2pPr>
            <a:lvl3pPr>
              <a:spcBef>
                <a:spcPts val="0"/>
              </a:spcBef>
              <a:spcAft>
                <a:spcPts val="0"/>
              </a:spcAft>
              <a:defRPr sz="2000">
                <a:solidFill>
                  <a:schemeClr val="bg1"/>
                </a:solidFill>
              </a:defRPr>
            </a:lvl3pPr>
            <a:lvl4pPr>
              <a:spcAft>
                <a:spcPts val="800"/>
              </a:spcAft>
              <a:defRPr/>
            </a:lvl4pPr>
            <a:lvl5pPr>
              <a:spcAft>
                <a:spcPts val="800"/>
              </a:spcAft>
              <a:defRPr/>
            </a:lvl5pPr>
          </a:lstStyle>
          <a:p>
            <a:pPr lvl="0"/>
            <a:r>
              <a:rPr lang="en-US" dirty="0"/>
              <a:t>Type slide content or click icon to add media</a:t>
            </a:r>
          </a:p>
          <a:p>
            <a:pPr lvl="1"/>
            <a:r>
              <a:rPr lang="en-US" dirty="0"/>
              <a:t>Second level</a:t>
            </a:r>
          </a:p>
          <a:p>
            <a:pPr lvl="2"/>
            <a:r>
              <a:rPr lang="en-US" dirty="0"/>
              <a:t>Third level</a:t>
            </a:r>
          </a:p>
        </p:txBody>
      </p:sp>
      <p:sp>
        <p:nvSpPr>
          <p:cNvPr id="4" name="Title 1">
            <a:extLst>
              <a:ext uri="{FF2B5EF4-FFF2-40B4-BE49-F238E27FC236}">
                <a16:creationId xmlns:a16="http://schemas.microsoft.com/office/drawing/2014/main" id="{4A781557-F2E8-9A40-A3CE-84E4ECCC2FC4}"/>
              </a:ext>
            </a:extLst>
          </p:cNvPr>
          <p:cNvSpPr>
            <a:spLocks noGrp="1"/>
          </p:cNvSpPr>
          <p:nvPr>
            <p:ph type="title" hasCustomPrompt="1"/>
          </p:nvPr>
        </p:nvSpPr>
        <p:spPr>
          <a:xfrm>
            <a:off x="323850" y="342900"/>
            <a:ext cx="13982827" cy="960263"/>
          </a:xfrm>
        </p:spPr>
        <p:txBody>
          <a:bodyPr/>
          <a:lstStyle>
            <a:lvl1pPr>
              <a:defRPr b="0" i="0" baseline="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Title and content layout – Type title here</a:t>
            </a:r>
          </a:p>
        </p:txBody>
      </p:sp>
      <p:pic>
        <p:nvPicPr>
          <p:cNvPr id="8" name="图片 7">
            <a:extLst>
              <a:ext uri="{FF2B5EF4-FFF2-40B4-BE49-F238E27FC236}">
                <a16:creationId xmlns:a16="http://schemas.microsoft.com/office/drawing/2014/main" id="{46488B8B-11E8-9C41-88D8-6803EE640690}"/>
              </a:ext>
            </a:extLst>
          </p:cNvPr>
          <p:cNvPicPr>
            <a:picLocks noChangeAspect="1"/>
          </p:cNvPicPr>
          <p:nvPr userDrawn="1"/>
        </p:nvPicPr>
        <p:blipFill rotWithShape="1">
          <a:blip r:embed="rId3"/>
          <a:srcRect b="85698"/>
          <a:stretch/>
        </p:blipFill>
        <p:spPr>
          <a:xfrm>
            <a:off x="0" y="7245704"/>
            <a:ext cx="14630400" cy="1177872"/>
          </a:xfrm>
          <a:prstGeom prst="rect">
            <a:avLst/>
          </a:prstGeom>
        </p:spPr>
      </p:pic>
    </p:spTree>
    <p:extLst>
      <p:ext uri="{BB962C8B-B14F-4D97-AF65-F5344CB8AC3E}">
        <p14:creationId xmlns:p14="http://schemas.microsoft.com/office/powerpoint/2010/main" val="1981147079"/>
      </p:ext>
    </p:extLst>
  </p:cSld>
  <p:clrMapOvr>
    <a:masterClrMapping/>
  </p:clrMapOvr>
  <p:transition>
    <p:fade/>
  </p:transition>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itle_and_Content">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idx="1" hasCustomPrompt="1"/>
          </p:nvPr>
        </p:nvSpPr>
        <p:spPr>
          <a:xfrm>
            <a:off x="323850" y="1669756"/>
            <a:ext cx="13982827" cy="1659942"/>
          </a:xfrm>
          <a:prstGeom prst="rect">
            <a:avLst/>
          </a:prstGeom>
        </p:spPr>
        <p:txBody>
          <a:bodyPr rtlCol="0"/>
          <a:lstStyle>
            <a:lvl1pPr>
              <a:spcBef>
                <a:spcPts val="0"/>
              </a:spcBef>
              <a:spcAft>
                <a:spcPts val="1200"/>
              </a:spcAft>
              <a:defRPr baseline="0"/>
            </a:lvl1pPr>
            <a:lvl2pPr>
              <a:spcBef>
                <a:spcPts val="0"/>
              </a:spcBef>
              <a:spcAft>
                <a:spcPts val="800"/>
              </a:spcAft>
              <a:defRPr/>
            </a:lvl2pPr>
            <a:lvl3pPr>
              <a:spcBef>
                <a:spcPts val="0"/>
              </a:spcBef>
              <a:spcAft>
                <a:spcPts val="800"/>
              </a:spcAft>
              <a:defRPr/>
            </a:lvl3pPr>
            <a:lvl4pPr>
              <a:spcAft>
                <a:spcPts val="800"/>
              </a:spcAft>
              <a:defRPr/>
            </a:lvl4pPr>
            <a:lvl5pPr>
              <a:spcAft>
                <a:spcPts val="800"/>
              </a:spcAft>
              <a:defRPr/>
            </a:lvl5pPr>
          </a:lstStyle>
          <a:p>
            <a:pPr lvl="0"/>
            <a:r>
              <a:rPr lang="en-US" dirty="0"/>
              <a:t>Type slide content or click icon to add media</a:t>
            </a:r>
          </a:p>
          <a:p>
            <a:pPr lvl="1"/>
            <a:r>
              <a:rPr lang="en-US" dirty="0"/>
              <a:t>Second level</a:t>
            </a:r>
          </a:p>
          <a:p>
            <a:pPr lvl="2"/>
            <a:r>
              <a:rPr lang="en-US" dirty="0"/>
              <a:t>Third level</a:t>
            </a:r>
          </a:p>
        </p:txBody>
      </p:sp>
      <p:sp>
        <p:nvSpPr>
          <p:cNvPr id="4" name="Title 1">
            <a:extLst>
              <a:ext uri="{FF2B5EF4-FFF2-40B4-BE49-F238E27FC236}">
                <a16:creationId xmlns:a16="http://schemas.microsoft.com/office/drawing/2014/main" id="{4A781557-F2E8-9A40-A3CE-84E4ECCC2FC4}"/>
              </a:ext>
            </a:extLst>
          </p:cNvPr>
          <p:cNvSpPr>
            <a:spLocks noGrp="1"/>
          </p:cNvSpPr>
          <p:nvPr>
            <p:ph type="title" hasCustomPrompt="1"/>
          </p:nvPr>
        </p:nvSpPr>
        <p:spPr>
          <a:xfrm>
            <a:off x="323850" y="342900"/>
            <a:ext cx="13982827" cy="826681"/>
          </a:xfrm>
        </p:spPr>
        <p:txBody>
          <a:bodyPr/>
          <a:lstStyle>
            <a:lvl1pPr>
              <a:defRPr b="0" i="0" baseline="0">
                <a:solidFill>
                  <a:schemeClr val="tx1"/>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Title and content layout – Type title here</a:t>
            </a:r>
          </a:p>
        </p:txBody>
      </p:sp>
    </p:spTree>
    <p:extLst>
      <p:ext uri="{BB962C8B-B14F-4D97-AF65-F5344CB8AC3E}">
        <p14:creationId xmlns:p14="http://schemas.microsoft.com/office/powerpoint/2010/main" val="5018917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Bullete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93EB85-1681-B244-95C3-4F77E00262B0}"/>
              </a:ext>
            </a:extLst>
          </p:cNvPr>
          <p:cNvPicPr>
            <a:picLocks noChangeAspect="1"/>
          </p:cNvPicPr>
          <p:nvPr userDrawn="1"/>
        </p:nvPicPr>
        <p:blipFill>
          <a:blip r:embed="rId2"/>
          <a:srcRect/>
          <a:stretch/>
        </p:blipFill>
        <p:spPr>
          <a:xfrm>
            <a:off x="0" y="0"/>
            <a:ext cx="14630400" cy="8229600"/>
          </a:xfrm>
          <a:prstGeom prst="rect">
            <a:avLst/>
          </a:prstGeom>
        </p:spPr>
      </p:pic>
      <p:sp>
        <p:nvSpPr>
          <p:cNvPr id="3" name="Text Placeholder 3"/>
          <p:cNvSpPr>
            <a:spLocks noGrp="1"/>
          </p:cNvSpPr>
          <p:nvPr>
            <p:ph idx="1" hasCustomPrompt="1"/>
          </p:nvPr>
        </p:nvSpPr>
        <p:spPr>
          <a:xfrm>
            <a:off x="323850" y="1669756"/>
            <a:ext cx="13983046" cy="1237262"/>
          </a:xfrm>
          <a:prstGeom prst="rect">
            <a:avLst/>
          </a:prstGeom>
        </p:spPr>
        <p:txBody>
          <a:bodyPr rtlCol="0"/>
          <a:lstStyle>
            <a:lvl1pPr marL="457200" indent="-457200">
              <a:spcBef>
                <a:spcPts val="0"/>
              </a:spcBef>
              <a:spcAft>
                <a:spcPts val="0"/>
              </a:spcAft>
              <a:buClr>
                <a:schemeClr val="bg1"/>
              </a:buClr>
              <a:buFont typeface="Arial" panose="020B0604020202020204" pitchFamily="34" charset="0"/>
              <a:buChar char="•"/>
              <a:defRPr sz="2800">
                <a:solidFill>
                  <a:schemeClr val="bg1"/>
                </a:solidFill>
              </a:defRPr>
            </a:lvl1pPr>
            <a:lvl2pPr marL="746288" indent="-342900">
              <a:spcBef>
                <a:spcPts val="0"/>
              </a:spcBef>
              <a:spcAft>
                <a:spcPts val="0"/>
              </a:spcAft>
              <a:buClr>
                <a:schemeClr val="bg1"/>
              </a:buClr>
              <a:buFont typeface="Arial" panose="020B0604020202020204" pitchFamily="34" charset="0"/>
              <a:buChar char="•"/>
              <a:defRPr sz="2000">
                <a:solidFill>
                  <a:schemeClr val="bg1"/>
                </a:solidFill>
              </a:defRPr>
            </a:lvl2pPr>
            <a:lvl3pPr marL="1015213" indent="-342900">
              <a:spcBef>
                <a:spcPts val="0"/>
              </a:spcBef>
              <a:spcAft>
                <a:spcPts val="0"/>
              </a:spcAft>
              <a:buClr>
                <a:schemeClr val="bg1"/>
              </a:buClr>
              <a:buFont typeface="Arial" panose="020B0604020202020204" pitchFamily="34" charset="0"/>
              <a:buChar char="•"/>
              <a:defRPr sz="2000">
                <a:solidFill>
                  <a:schemeClr val="bg1"/>
                </a:solidFill>
              </a:defRPr>
            </a:lvl3pPr>
            <a:lvl4pPr marL="1284138" indent="-342900">
              <a:spcAft>
                <a:spcPts val="800"/>
              </a:spcAft>
              <a:buFont typeface="Arial" panose="020B0604020202020204" pitchFamily="34" charset="0"/>
              <a:buChar char="•"/>
              <a:defRPr/>
            </a:lvl4pPr>
            <a:lvl5pPr marL="1553063" indent="-342900">
              <a:spcAft>
                <a:spcPts val="800"/>
              </a:spcAft>
              <a:buFont typeface="Arial" panose="020B0604020202020204" pitchFamily="34" charset="0"/>
              <a:buChar char="•"/>
              <a:defRPr/>
            </a:lvl5pPr>
          </a:lstStyle>
          <a:p>
            <a:pPr lvl="0"/>
            <a:r>
              <a:rPr lang="en-US" dirty="0"/>
              <a:t>Type slide content or click icon to add media</a:t>
            </a:r>
          </a:p>
          <a:p>
            <a:pPr lvl="1"/>
            <a:r>
              <a:rPr lang="en-US" dirty="0"/>
              <a:t>Second level</a:t>
            </a:r>
          </a:p>
          <a:p>
            <a:pPr lvl="2"/>
            <a:r>
              <a:rPr lang="en-US" dirty="0"/>
              <a:t>Third level</a:t>
            </a:r>
          </a:p>
        </p:txBody>
      </p:sp>
      <p:sp>
        <p:nvSpPr>
          <p:cNvPr id="6" name="Title 1">
            <a:extLst>
              <a:ext uri="{FF2B5EF4-FFF2-40B4-BE49-F238E27FC236}">
                <a16:creationId xmlns:a16="http://schemas.microsoft.com/office/drawing/2014/main" id="{AD33CCB3-0379-7340-9C7D-66847C40654F}"/>
              </a:ext>
            </a:extLst>
          </p:cNvPr>
          <p:cNvSpPr>
            <a:spLocks noGrp="1"/>
          </p:cNvSpPr>
          <p:nvPr>
            <p:ph type="title" hasCustomPrompt="1"/>
          </p:nvPr>
        </p:nvSpPr>
        <p:spPr>
          <a:xfrm>
            <a:off x="323850" y="342900"/>
            <a:ext cx="13982827" cy="960263"/>
          </a:xfrm>
        </p:spPr>
        <p:txBody>
          <a:bodyPr/>
          <a:lstStyle>
            <a:lvl1pPr>
              <a:defRPr b="0" i="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Title and bullet content layout – Type title here</a:t>
            </a:r>
          </a:p>
        </p:txBody>
      </p:sp>
      <p:pic>
        <p:nvPicPr>
          <p:cNvPr id="7" name="图片 6">
            <a:extLst>
              <a:ext uri="{FF2B5EF4-FFF2-40B4-BE49-F238E27FC236}">
                <a16:creationId xmlns:a16="http://schemas.microsoft.com/office/drawing/2014/main" id="{15CC3BDA-14E5-9048-A028-A21E18DB68D4}"/>
              </a:ext>
            </a:extLst>
          </p:cNvPr>
          <p:cNvPicPr>
            <a:picLocks noChangeAspect="1"/>
          </p:cNvPicPr>
          <p:nvPr userDrawn="1"/>
        </p:nvPicPr>
        <p:blipFill rotWithShape="1">
          <a:blip r:embed="rId3"/>
          <a:srcRect b="85698"/>
          <a:stretch/>
        </p:blipFill>
        <p:spPr>
          <a:xfrm>
            <a:off x="0" y="7245704"/>
            <a:ext cx="14630400" cy="1177872"/>
          </a:xfrm>
          <a:prstGeom prst="rect">
            <a:avLst/>
          </a:prstGeom>
        </p:spPr>
      </p:pic>
    </p:spTree>
    <p:extLst>
      <p:ext uri="{BB962C8B-B14F-4D97-AF65-F5344CB8AC3E}">
        <p14:creationId xmlns:p14="http://schemas.microsoft.com/office/powerpoint/2010/main" val="4058143087"/>
      </p:ext>
    </p:extLst>
  </p:cSld>
  <p:clrMapOvr>
    <a:masterClrMapping/>
  </p:clrMapOvr>
  <p:transition>
    <p:fade/>
  </p:transition>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6A7793-2614-45CA-808A-600ECDF1E863}"/>
              </a:ext>
            </a:extLst>
          </p:cNvPr>
          <p:cNvSpPr>
            <a:spLocks noGrp="1"/>
          </p:cNvSpPr>
          <p:nvPr>
            <p:ph type="dt" sz="half" idx="10"/>
          </p:nvPr>
        </p:nvSpPr>
        <p:spPr/>
        <p:txBody>
          <a:bodyPr/>
          <a:lstStyle/>
          <a:p>
            <a:fld id="{DAED59C9-D209-4FCF-99DE-235E7A1CA542}" type="datetimeFigureOut">
              <a:rPr lang="en-US" smtClean="0"/>
              <a:t>5/13/24</a:t>
            </a:fld>
            <a:endParaRPr lang="en-US"/>
          </a:p>
        </p:txBody>
      </p:sp>
      <p:sp>
        <p:nvSpPr>
          <p:cNvPr id="3" name="Footer Placeholder 2">
            <a:extLst>
              <a:ext uri="{FF2B5EF4-FFF2-40B4-BE49-F238E27FC236}">
                <a16:creationId xmlns:a16="http://schemas.microsoft.com/office/drawing/2014/main" id="{5A151163-2E42-46C6-97BE-DED3344F3F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A71034-37FB-4F16-9FAF-8A246FBEFEFF}"/>
              </a:ext>
            </a:extLst>
          </p:cNvPr>
          <p:cNvSpPr>
            <a:spLocks noGrp="1"/>
          </p:cNvSpPr>
          <p:nvPr>
            <p:ph type="sldNum" sz="quarter" idx="12"/>
          </p:nvPr>
        </p:nvSpPr>
        <p:spPr/>
        <p:txBody>
          <a:bodyPr/>
          <a:lstStyle/>
          <a:p>
            <a:fld id="{7CCEFC8D-D2CE-46C3-88D1-B3C5064C2233}" type="slidenum">
              <a:rPr lang="en-US" smtClean="0"/>
              <a:t>‹#›</a:t>
            </a:fld>
            <a:endParaRPr lang="en-US"/>
          </a:p>
        </p:txBody>
      </p:sp>
    </p:spTree>
    <p:extLst>
      <p:ext uri="{BB962C8B-B14F-4D97-AF65-F5344CB8AC3E}">
        <p14:creationId xmlns:p14="http://schemas.microsoft.com/office/powerpoint/2010/main" val="86198588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39" y="183898"/>
            <a:ext cx="13514832" cy="137160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48639" y="1645920"/>
            <a:ext cx="13514832" cy="568628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Page </a:t>
            </a:r>
            <a:fld id="{A5D72BB8-5A8A-4893-96F9-6A5C9E5040E4}" type="slidenum">
              <a:rPr lang="en-US" sz="1120" b="0" i="0" smtClean="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a:t>
            </a:fld>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 202</a:t>
            </a:r>
            <a:r>
              <a:rPr lang="en-US" altLang="zh-CN"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p>
        </p:txBody>
      </p:sp>
      <p:pic>
        <p:nvPicPr>
          <p:cNvPr id="7" name="Picture 6"/>
          <p:cNvPicPr>
            <a:picLocks noChangeAspect="1"/>
          </p:cNvPicPr>
          <p:nvPr userDrawn="1"/>
        </p:nvPicPr>
        <p:blipFill>
          <a:blip r:embed="rId55"/>
          <a:srcRect/>
          <a:stretch/>
        </p:blipFill>
        <p:spPr>
          <a:xfrm>
            <a:off x="13149071" y="7598245"/>
            <a:ext cx="914400" cy="285749"/>
          </a:xfrm>
          <a:prstGeom prst="rect">
            <a:avLst/>
          </a:prstGeom>
        </p:spPr>
      </p:pic>
    </p:spTree>
    <p:extLst>
      <p:ext uri="{BB962C8B-B14F-4D97-AF65-F5344CB8AC3E}">
        <p14:creationId xmlns:p14="http://schemas.microsoft.com/office/powerpoint/2010/main" val="14311777"/>
      </p:ext>
    </p:extLst>
  </p:cSld>
  <p:clrMap bg1="dk1" tx1="lt1" bg2="dk2" tx2="lt2" accent1="accent1" accent2="accent2" accent3="accent3" accent4="accent4" accent5="accent5" accent6="accent6" hlink="hlink" folHlink="folHlink"/>
  <p:sldLayoutIdLst>
    <p:sldLayoutId id="2147483711" r:id="rId1"/>
    <p:sldLayoutId id="2147483696" r:id="rId2"/>
    <p:sldLayoutId id="2147483677" r:id="rId3"/>
    <p:sldLayoutId id="2147483700" r:id="rId4"/>
    <p:sldLayoutId id="2147483713" r:id="rId5"/>
    <p:sldLayoutId id="2147483697" r:id="rId6"/>
    <p:sldLayoutId id="2147483689" r:id="rId7"/>
    <p:sldLayoutId id="2147483678" r:id="rId8"/>
    <p:sldLayoutId id="2147483707" r:id="rId9"/>
    <p:sldLayoutId id="2147483679" r:id="rId10"/>
    <p:sldLayoutId id="2147483703" r:id="rId11"/>
    <p:sldLayoutId id="2147483704" r:id="rId12"/>
    <p:sldLayoutId id="2147483705" r:id="rId13"/>
    <p:sldLayoutId id="2147483690" r:id="rId14"/>
    <p:sldLayoutId id="2147483691" r:id="rId15"/>
    <p:sldLayoutId id="2147483692" r:id="rId16"/>
    <p:sldLayoutId id="2147483702" r:id="rId17"/>
    <p:sldLayoutId id="2147483680" r:id="rId18"/>
    <p:sldLayoutId id="2147483701" r:id="rId19"/>
    <p:sldLayoutId id="2147483712" r:id="rId20"/>
    <p:sldLayoutId id="2147483714" r:id="rId21"/>
    <p:sldLayoutId id="2147483706" r:id="rId22"/>
    <p:sldLayoutId id="2147483709" r:id="rId23"/>
    <p:sldLayoutId id="2147483710" r:id="rId24"/>
    <p:sldLayoutId id="2147483727" r:id="rId25"/>
    <p:sldLayoutId id="2147483728" r:id="rId26"/>
    <p:sldLayoutId id="2147483754" r:id="rId27"/>
    <p:sldLayoutId id="2147483755" r:id="rId28"/>
    <p:sldLayoutId id="2147483756" r:id="rId29"/>
    <p:sldLayoutId id="2147483757" r:id="rId30"/>
    <p:sldLayoutId id="2147483758" r:id="rId31"/>
    <p:sldLayoutId id="2147483760" r:id="rId32"/>
    <p:sldLayoutId id="2147483761" r:id="rId33"/>
    <p:sldLayoutId id="2147483762" r:id="rId34"/>
    <p:sldLayoutId id="2147483763" r:id="rId35"/>
    <p:sldLayoutId id="2147483764" r:id="rId36"/>
    <p:sldLayoutId id="2147483765" r:id="rId37"/>
    <p:sldLayoutId id="2147483766" r:id="rId38"/>
    <p:sldLayoutId id="2147483767" r:id="rId39"/>
    <p:sldLayoutId id="2147483768" r:id="rId40"/>
    <p:sldLayoutId id="2147483769" r:id="rId41"/>
    <p:sldLayoutId id="2147483770" r:id="rId42"/>
    <p:sldLayoutId id="2147483771" r:id="rId43"/>
    <p:sldLayoutId id="2147483772" r:id="rId44"/>
    <p:sldLayoutId id="2147483773" r:id="rId45"/>
    <p:sldLayoutId id="2147483774" r:id="rId46"/>
    <p:sldLayoutId id="2147483775" r:id="rId47"/>
    <p:sldLayoutId id="2147483776" r:id="rId48"/>
    <p:sldLayoutId id="2147483777" r:id="rId49"/>
    <p:sldLayoutId id="2147483784" r:id="rId50"/>
    <p:sldLayoutId id="2147483785" r:id="rId51"/>
    <p:sldLayoutId id="2147483786" r:id="rId52"/>
    <p:sldLayoutId id="2147483787" r:id="rId53"/>
  </p:sldLayoutIdLst>
  <p:hf sldNum="0" hdr="0" ftr="0" dt="0"/>
  <p:txStyles>
    <p:title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0" indent="0" algn="l" defTabSz="731520" rtl="0" eaLnBrk="1" latinLnBrk="0" hangingPunct="1">
        <a:spcBef>
          <a:spcPct val="20000"/>
        </a:spcBef>
        <a:buFontTx/>
        <a:buNone/>
        <a:defRPr sz="2900" b="0" i="0" kern="1200">
          <a:solidFill>
            <a:schemeClr val="tx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tx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tx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tx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tx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p:bodyStyle>
    <p:other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pos="8856" userDrawn="1">
          <p15:clr>
            <a:srgbClr val="F26B43"/>
          </p15:clr>
        </p15:guide>
        <p15:guide id="3" orient="horz" pos="103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g"/><Relationship Id="rId1" Type="http://schemas.openxmlformats.org/officeDocument/2006/relationships/slideLayout" Target="../slideLayouts/slideLayout5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hyperlink" Target="https://developer.apple.com/cn/icloud/cloudkit/" TargetMode="External"/><Relationship Id="rId2" Type="http://schemas.openxmlformats.org/officeDocument/2006/relationships/notesSlide" Target="../notesSlides/notesSlide2.xml"/><Relationship Id="rId1" Type="http://schemas.openxmlformats.org/officeDocument/2006/relationships/slideLayout" Target="../slideLayouts/slideLayout53.xml"/><Relationship Id="rId4" Type="http://schemas.openxmlformats.org/officeDocument/2006/relationships/hyperlink" Target="https://developer.apple.com/library/archive/documentation/General/Conceptual/iCloudDesignGuide/Chapters/iCloudFundametals.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3.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hyperlink" Target="https://www.163.com/dy/article/H271OVBV051180F7.html" TargetMode="External"/><Relationship Id="rId2" Type="http://schemas.openxmlformats.org/officeDocument/2006/relationships/hyperlink" Target="https://www.datacenters.com/apple-inc-guizhou" TargetMode="External"/><Relationship Id="rId1" Type="http://schemas.openxmlformats.org/officeDocument/2006/relationships/slideLayout" Target="../slideLayouts/slideLayout53.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png"/><Relationship Id="rId9"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7892784-FDB9-4A01-A43A-53E601281F4D}"/>
              </a:ext>
            </a:extLst>
          </p:cNvPr>
          <p:cNvSpPr>
            <a:spLocks noGrp="1"/>
          </p:cNvSpPr>
          <p:nvPr>
            <p:ph type="body" sz="quarter" idx="12"/>
          </p:nvPr>
        </p:nvSpPr>
        <p:spPr>
          <a:xfrm>
            <a:off x="548640" y="3053166"/>
            <a:ext cx="12855126" cy="1191259"/>
          </a:xfrm>
        </p:spPr>
        <p:txBody>
          <a:bodyPr/>
          <a:lstStyle/>
          <a:p>
            <a:r>
              <a:rPr lang="en-US" altLang="zh-CN" b="0" dirty="0">
                <a:latin typeface="+mj-lt"/>
                <a:ea typeface="+mj-ea"/>
                <a:cs typeface="Amazon Ember Heavy" panose="020B0803020204020204" pitchFamily="34" charset="0"/>
              </a:rPr>
              <a:t>Fruitstand iCloud Storage Service</a:t>
            </a:r>
          </a:p>
        </p:txBody>
      </p:sp>
    </p:spTree>
    <p:extLst>
      <p:ext uri="{BB962C8B-B14F-4D97-AF65-F5344CB8AC3E}">
        <p14:creationId xmlns:p14="http://schemas.microsoft.com/office/powerpoint/2010/main" val="2861215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EF6D1C0-A457-40A7-B3FD-71AE36A938B5}"/>
              </a:ext>
            </a:extLst>
          </p:cNvPr>
          <p:cNvSpPr txBox="1">
            <a:spLocks/>
          </p:cNvSpPr>
          <p:nvPr/>
        </p:nvSpPr>
        <p:spPr>
          <a:xfrm>
            <a:off x="548640" y="183898"/>
            <a:ext cx="13510260" cy="993392"/>
          </a:xfrm>
          <a:prstGeom prst="rect">
            <a:avLst/>
          </a:prstGeom>
        </p:spPr>
        <p:txBody>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altLang="zh-CN" dirty="0"/>
              <a:t>Components View Update</a:t>
            </a:r>
            <a:endParaRPr lang="en-US" dirty="0"/>
          </a:p>
        </p:txBody>
      </p:sp>
      <p:sp>
        <p:nvSpPr>
          <p:cNvPr id="5" name="TextBox 4">
            <a:extLst>
              <a:ext uri="{FF2B5EF4-FFF2-40B4-BE49-F238E27FC236}">
                <a16:creationId xmlns:a16="http://schemas.microsoft.com/office/drawing/2014/main" id="{AA7912A8-B970-4664-9907-CF93A53B63AF}"/>
              </a:ext>
            </a:extLst>
          </p:cNvPr>
          <p:cNvSpPr txBox="1"/>
          <p:nvPr/>
        </p:nvSpPr>
        <p:spPr>
          <a:xfrm>
            <a:off x="449431" y="7911092"/>
            <a:ext cx="1008609" cy="261610"/>
          </a:xfrm>
          <a:prstGeom prst="rect">
            <a:avLst/>
          </a:prstGeom>
          <a:noFill/>
        </p:spPr>
        <p:txBody>
          <a:bodyPr wrap="none" rtlCol="0">
            <a:spAutoFit/>
          </a:bodyPr>
          <a:lstStyle/>
          <a:p>
            <a:r>
              <a:rPr lang="en-US" sz="1100" b="1" dirty="0">
                <a:solidFill>
                  <a:srgbClr val="C00000"/>
                </a:solidFill>
              </a:rPr>
              <a:t>Confidential</a:t>
            </a:r>
          </a:p>
        </p:txBody>
      </p:sp>
      <p:pic>
        <p:nvPicPr>
          <p:cNvPr id="11" name="Picture 10">
            <a:extLst>
              <a:ext uri="{FF2B5EF4-FFF2-40B4-BE49-F238E27FC236}">
                <a16:creationId xmlns:a16="http://schemas.microsoft.com/office/drawing/2014/main" id="{12D1D861-ECA7-75D4-1CB0-59B7EAF6ADB8}"/>
              </a:ext>
            </a:extLst>
          </p:cNvPr>
          <p:cNvPicPr>
            <a:picLocks noChangeAspect="1"/>
          </p:cNvPicPr>
          <p:nvPr/>
        </p:nvPicPr>
        <p:blipFill>
          <a:blip r:embed="rId3"/>
          <a:stretch>
            <a:fillRect/>
          </a:stretch>
        </p:blipFill>
        <p:spPr>
          <a:xfrm>
            <a:off x="828676" y="1177289"/>
            <a:ext cx="11758612" cy="6061995"/>
          </a:xfrm>
          <a:prstGeom prst="rect">
            <a:avLst/>
          </a:prstGeom>
        </p:spPr>
      </p:pic>
    </p:spTree>
    <p:extLst>
      <p:ext uri="{BB962C8B-B14F-4D97-AF65-F5344CB8AC3E}">
        <p14:creationId xmlns:p14="http://schemas.microsoft.com/office/powerpoint/2010/main" val="4236690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FE2BA-92E4-7A55-1E74-DF4782A3BDB2}"/>
              </a:ext>
            </a:extLst>
          </p:cNvPr>
          <p:cNvSpPr txBox="1">
            <a:spLocks/>
          </p:cNvSpPr>
          <p:nvPr/>
        </p:nvSpPr>
        <p:spPr>
          <a:xfrm>
            <a:off x="548640" y="183898"/>
            <a:ext cx="13510260" cy="993392"/>
          </a:xfrm>
          <a:prstGeom prst="rect">
            <a:avLst/>
          </a:prstGeom>
        </p:spPr>
        <p:txBody>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CN" dirty="0"/>
              <a:t>iCloud</a:t>
            </a:r>
            <a:r>
              <a:rPr lang="zh-CN" altLang="en-US" dirty="0"/>
              <a:t> </a:t>
            </a:r>
            <a:r>
              <a:rPr lang="en-US" altLang="zh-CN" dirty="0"/>
              <a:t>support</a:t>
            </a:r>
            <a:r>
              <a:rPr lang="zh-CN" altLang="en-US" dirty="0"/>
              <a:t> </a:t>
            </a:r>
            <a:r>
              <a:rPr lang="en-US" altLang="zh-CN" dirty="0"/>
              <a:t>content</a:t>
            </a:r>
            <a:r>
              <a:rPr lang="zh-CN" altLang="en-US" dirty="0"/>
              <a:t> </a:t>
            </a:r>
            <a:r>
              <a:rPr lang="en-US" altLang="zh-CN" dirty="0"/>
              <a:t>type</a:t>
            </a:r>
            <a:endParaRPr lang="en-CN" dirty="0"/>
          </a:p>
        </p:txBody>
      </p:sp>
      <p:pic>
        <p:nvPicPr>
          <p:cNvPr id="4" name="Picture 3">
            <a:extLst>
              <a:ext uri="{FF2B5EF4-FFF2-40B4-BE49-F238E27FC236}">
                <a16:creationId xmlns:a16="http://schemas.microsoft.com/office/drawing/2014/main" id="{9F300DF7-1C69-78EC-2E2F-E2DEA5A1B231}"/>
              </a:ext>
            </a:extLst>
          </p:cNvPr>
          <p:cNvPicPr>
            <a:picLocks noChangeAspect="1"/>
          </p:cNvPicPr>
          <p:nvPr/>
        </p:nvPicPr>
        <p:blipFill>
          <a:blip r:embed="rId2"/>
          <a:stretch>
            <a:fillRect/>
          </a:stretch>
        </p:blipFill>
        <p:spPr>
          <a:xfrm>
            <a:off x="941388" y="3090862"/>
            <a:ext cx="3175000" cy="1790700"/>
          </a:xfrm>
          <a:prstGeom prst="rect">
            <a:avLst/>
          </a:prstGeom>
        </p:spPr>
      </p:pic>
      <p:sp>
        <p:nvSpPr>
          <p:cNvPr id="5" name="TextBox 4">
            <a:extLst>
              <a:ext uri="{FF2B5EF4-FFF2-40B4-BE49-F238E27FC236}">
                <a16:creationId xmlns:a16="http://schemas.microsoft.com/office/drawing/2014/main" id="{FF635FB8-9F23-7FC9-7DA6-BA1C1642CB8C}"/>
              </a:ext>
            </a:extLst>
          </p:cNvPr>
          <p:cNvSpPr txBox="1"/>
          <p:nvPr/>
        </p:nvSpPr>
        <p:spPr>
          <a:xfrm>
            <a:off x="1465936" y="2690752"/>
            <a:ext cx="2125903" cy="400110"/>
          </a:xfrm>
          <a:prstGeom prst="rect">
            <a:avLst/>
          </a:prstGeom>
          <a:noFill/>
        </p:spPr>
        <p:txBody>
          <a:bodyPr wrap="none" rtlCol="0">
            <a:spAutoFit/>
          </a:bodyPr>
          <a:lstStyle/>
          <a:p>
            <a:pPr algn="l"/>
            <a:r>
              <a:rPr lang="en-CN" sz="2000" dirty="0">
                <a:latin typeface="Amazon Ember" panose="020B0603020204020204" pitchFamily="34" charset="0"/>
                <a:ea typeface="Amazon Ember" panose="020B0603020204020204" pitchFamily="34" charset="0"/>
                <a:cs typeface="Amazon Ember" panose="020B0603020204020204" pitchFamily="34" charset="0"/>
              </a:rPr>
              <a:t>iCloud</a:t>
            </a:r>
            <a:r>
              <a:rPr lang="zh-CN" alt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000" dirty="0">
                <a:latin typeface="Amazon Ember" panose="020B0603020204020204" pitchFamily="34" charset="0"/>
                <a:ea typeface="Amazon Ember" panose="020B0603020204020204" pitchFamily="34" charset="0"/>
                <a:cs typeface="Amazon Ember" panose="020B0603020204020204" pitchFamily="34" charset="0"/>
              </a:rPr>
              <a:t>on</a:t>
            </a:r>
            <a:r>
              <a:rPr lang="zh-CN" alt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000" dirty="0">
                <a:latin typeface="Amazon Ember" panose="020B0603020204020204" pitchFamily="34" charset="0"/>
                <a:ea typeface="Amazon Ember" panose="020B0603020204020204" pitchFamily="34" charset="0"/>
                <a:cs typeface="Amazon Ember" panose="020B0603020204020204" pitchFamily="34" charset="0"/>
              </a:rPr>
              <a:t>Device</a:t>
            </a:r>
            <a:endParaRPr lang="en-CN" sz="2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TextBox 5">
            <a:extLst>
              <a:ext uri="{FF2B5EF4-FFF2-40B4-BE49-F238E27FC236}">
                <a16:creationId xmlns:a16="http://schemas.microsoft.com/office/drawing/2014/main" id="{6D7A80BC-AAAC-6423-994E-9D3DD183C2F8}"/>
              </a:ext>
            </a:extLst>
          </p:cNvPr>
          <p:cNvSpPr txBox="1"/>
          <p:nvPr/>
        </p:nvSpPr>
        <p:spPr>
          <a:xfrm>
            <a:off x="1262789" y="4881562"/>
            <a:ext cx="2359941" cy="400110"/>
          </a:xfrm>
          <a:prstGeom prst="rect">
            <a:avLst/>
          </a:prstGeom>
          <a:noFill/>
        </p:spPr>
        <p:txBody>
          <a:bodyPr wrap="none" rtlCol="0">
            <a:spAutoFit/>
          </a:bodyPr>
          <a:lstStyle/>
          <a:p>
            <a:pPr algn="l"/>
            <a:r>
              <a:rPr lang="en-CN" sz="2000" dirty="0">
                <a:latin typeface="Amazon Ember" panose="020B0603020204020204" pitchFamily="34" charset="0"/>
                <a:ea typeface="Amazon Ember" panose="020B0603020204020204" pitchFamily="34" charset="0"/>
                <a:cs typeface="Amazon Ember" panose="020B0603020204020204" pitchFamily="34" charset="0"/>
              </a:rPr>
              <a:t>iOS</a:t>
            </a:r>
            <a:r>
              <a:rPr lang="zh-CN" alt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000" dirty="0">
                <a:latin typeface="Amazon Ember" panose="020B0603020204020204" pitchFamily="34" charset="0"/>
                <a:ea typeface="Amazon Ember" panose="020B0603020204020204" pitchFamily="34" charset="0"/>
                <a:cs typeface="Amazon Ember" panose="020B0603020204020204" pitchFamily="34" charset="0"/>
              </a:rPr>
              <a:t>&amp;</a:t>
            </a:r>
            <a:r>
              <a:rPr lang="zh-CN" alt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000" dirty="0">
                <a:latin typeface="Amazon Ember" panose="020B0603020204020204" pitchFamily="34" charset="0"/>
                <a:ea typeface="Amazon Ember" panose="020B0603020204020204" pitchFamily="34" charset="0"/>
                <a:cs typeface="Amazon Ember" panose="020B0603020204020204" pitchFamily="34" charset="0"/>
              </a:rPr>
              <a:t>OSX</a:t>
            </a:r>
            <a:r>
              <a:rPr lang="zh-CN" alt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000" dirty="0">
                <a:latin typeface="Amazon Ember" panose="020B0603020204020204" pitchFamily="34" charset="0"/>
                <a:ea typeface="Amazon Ember" panose="020B0603020204020204" pitchFamily="34" charset="0"/>
                <a:cs typeface="Amazon Ember" panose="020B0603020204020204" pitchFamily="34" charset="0"/>
              </a:rPr>
              <a:t>Devices</a:t>
            </a:r>
            <a:endParaRPr lang="en-CN" sz="2000" dirty="0" err="1">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8" name="Straight Arrow Connector 7">
            <a:extLst>
              <a:ext uri="{FF2B5EF4-FFF2-40B4-BE49-F238E27FC236}">
                <a16:creationId xmlns:a16="http://schemas.microsoft.com/office/drawing/2014/main" id="{5E5FEF48-B377-07D8-DE8A-945729B7117C}"/>
              </a:ext>
            </a:extLst>
          </p:cNvPr>
          <p:cNvCxnSpPr>
            <a:cxnSpLocks/>
          </p:cNvCxnSpPr>
          <p:nvPr/>
        </p:nvCxnSpPr>
        <p:spPr>
          <a:xfrm>
            <a:off x="4277558" y="3986212"/>
            <a:ext cx="46949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E56819C-9ED2-B737-C22A-E0A0A4993DE4}"/>
              </a:ext>
            </a:extLst>
          </p:cNvPr>
          <p:cNvSpPr txBox="1"/>
          <p:nvPr/>
        </p:nvSpPr>
        <p:spPr>
          <a:xfrm>
            <a:off x="5702365" y="3586102"/>
            <a:ext cx="1845377" cy="400110"/>
          </a:xfrm>
          <a:prstGeom prst="rect">
            <a:avLst/>
          </a:prstGeom>
          <a:noFill/>
        </p:spPr>
        <p:txBody>
          <a:bodyPr wrap="none" rtlCol="0">
            <a:spAutoFit/>
          </a:bodyPr>
          <a:lstStyle/>
          <a:p>
            <a:pPr algn="l"/>
            <a:r>
              <a:rPr lang="en-US" altLang="zh-CN" sz="2000" dirty="0">
                <a:latin typeface="Amazon Ember" panose="020B0603020204020204" pitchFamily="34" charset="0"/>
                <a:ea typeface="Amazon Ember" panose="020B0603020204020204" pitchFamily="34" charset="0"/>
                <a:cs typeface="Amazon Ember" panose="020B0603020204020204" pitchFamily="34" charset="0"/>
              </a:rPr>
              <a:t>6</a:t>
            </a:r>
            <a:r>
              <a:rPr lang="zh-CN" alt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000" dirty="0">
                <a:latin typeface="Amazon Ember" panose="020B0603020204020204" pitchFamily="34" charset="0"/>
                <a:ea typeface="Amazon Ember" panose="020B0603020204020204" pitchFamily="34" charset="0"/>
                <a:cs typeface="Amazon Ember" panose="020B0603020204020204" pitchFamily="34" charset="0"/>
              </a:rPr>
              <a:t>Data</a:t>
            </a:r>
            <a:r>
              <a:rPr lang="zh-CN" altLang="en-US" sz="20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000" dirty="0">
                <a:latin typeface="Amazon Ember" panose="020B0603020204020204" pitchFamily="34" charset="0"/>
                <a:ea typeface="Amazon Ember" panose="020B0603020204020204" pitchFamily="34" charset="0"/>
                <a:cs typeface="Amazon Ember" panose="020B0603020204020204" pitchFamily="34" charset="0"/>
              </a:rPr>
              <a:t>Classes</a:t>
            </a:r>
            <a:endParaRPr lang="en-CN" sz="20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TextBox 11">
            <a:extLst>
              <a:ext uri="{FF2B5EF4-FFF2-40B4-BE49-F238E27FC236}">
                <a16:creationId xmlns:a16="http://schemas.microsoft.com/office/drawing/2014/main" id="{5B847AE4-E951-36D0-C254-B55EA2A163BC}"/>
              </a:ext>
            </a:extLst>
          </p:cNvPr>
          <p:cNvSpPr txBox="1"/>
          <p:nvPr/>
        </p:nvSpPr>
        <p:spPr>
          <a:xfrm>
            <a:off x="5489165" y="4043333"/>
            <a:ext cx="2271776" cy="400110"/>
          </a:xfrm>
          <a:prstGeom prst="rect">
            <a:avLst/>
          </a:prstGeom>
          <a:noFill/>
        </p:spPr>
        <p:txBody>
          <a:bodyPr wrap="none" rtlCol="0">
            <a:spAutoFit/>
          </a:bodyPr>
          <a:lstStyle/>
          <a:p>
            <a:pPr algn="l"/>
            <a:r>
              <a:rPr lang="en-CN" altLang="zh-CN" sz="2000" dirty="0">
                <a:latin typeface="Amazon Ember" panose="020B0603020204020204" pitchFamily="34" charset="0"/>
                <a:ea typeface="Amazon Ember" panose="020B0603020204020204" pitchFamily="34" charset="0"/>
                <a:cs typeface="Amazon Ember" panose="020B0603020204020204" pitchFamily="34" charset="0"/>
              </a:rPr>
              <a:t>PUT/GET/DELETE</a:t>
            </a:r>
            <a:endParaRPr lang="en-CN" sz="20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7" name="Picture 16">
            <a:extLst>
              <a:ext uri="{FF2B5EF4-FFF2-40B4-BE49-F238E27FC236}">
                <a16:creationId xmlns:a16="http://schemas.microsoft.com/office/drawing/2014/main" id="{C3CE48B0-5827-46AA-44D8-4ECA32BFB46A}"/>
              </a:ext>
            </a:extLst>
          </p:cNvPr>
          <p:cNvPicPr>
            <a:picLocks noChangeAspect="1"/>
          </p:cNvPicPr>
          <p:nvPr/>
        </p:nvPicPr>
        <p:blipFill>
          <a:blip r:embed="rId3"/>
          <a:stretch>
            <a:fillRect/>
          </a:stretch>
        </p:blipFill>
        <p:spPr>
          <a:xfrm>
            <a:off x="9354319" y="2006543"/>
            <a:ext cx="812800" cy="812800"/>
          </a:xfrm>
          <a:prstGeom prst="rect">
            <a:avLst/>
          </a:prstGeom>
        </p:spPr>
      </p:pic>
      <p:pic>
        <p:nvPicPr>
          <p:cNvPr id="19" name="Picture 18">
            <a:extLst>
              <a:ext uri="{FF2B5EF4-FFF2-40B4-BE49-F238E27FC236}">
                <a16:creationId xmlns:a16="http://schemas.microsoft.com/office/drawing/2014/main" id="{A5BE2CBB-5D91-9CB2-A7CD-2D32C0DD2936}"/>
              </a:ext>
            </a:extLst>
          </p:cNvPr>
          <p:cNvPicPr>
            <a:picLocks noChangeAspect="1"/>
          </p:cNvPicPr>
          <p:nvPr/>
        </p:nvPicPr>
        <p:blipFill>
          <a:blip r:embed="rId4"/>
          <a:stretch>
            <a:fillRect/>
          </a:stretch>
        </p:blipFill>
        <p:spPr>
          <a:xfrm>
            <a:off x="9351018" y="770890"/>
            <a:ext cx="812800" cy="812800"/>
          </a:xfrm>
          <a:prstGeom prst="rect">
            <a:avLst/>
          </a:prstGeom>
        </p:spPr>
      </p:pic>
      <p:pic>
        <p:nvPicPr>
          <p:cNvPr id="25" name="Graphic 24">
            <a:extLst>
              <a:ext uri="{FF2B5EF4-FFF2-40B4-BE49-F238E27FC236}">
                <a16:creationId xmlns:a16="http://schemas.microsoft.com/office/drawing/2014/main" id="{03AEEF02-0464-D9D6-8EE8-4E11CBB59AB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46918" y="4290727"/>
            <a:ext cx="813599" cy="813599"/>
          </a:xfrm>
          <a:prstGeom prst="rect">
            <a:avLst/>
          </a:prstGeom>
        </p:spPr>
      </p:pic>
      <p:pic>
        <p:nvPicPr>
          <p:cNvPr id="27" name="Picture 26">
            <a:extLst>
              <a:ext uri="{FF2B5EF4-FFF2-40B4-BE49-F238E27FC236}">
                <a16:creationId xmlns:a16="http://schemas.microsoft.com/office/drawing/2014/main" id="{2631B28F-C276-B742-9571-0D32ED5A1DCE}"/>
              </a:ext>
            </a:extLst>
          </p:cNvPr>
          <p:cNvPicPr>
            <a:picLocks noChangeAspect="1"/>
          </p:cNvPicPr>
          <p:nvPr/>
        </p:nvPicPr>
        <p:blipFill>
          <a:blip r:embed="rId7"/>
          <a:stretch>
            <a:fillRect/>
          </a:stretch>
        </p:blipFill>
        <p:spPr>
          <a:xfrm>
            <a:off x="9352269" y="5527179"/>
            <a:ext cx="813599" cy="813599"/>
          </a:xfrm>
          <a:prstGeom prst="rect">
            <a:avLst/>
          </a:prstGeom>
        </p:spPr>
      </p:pic>
      <p:pic>
        <p:nvPicPr>
          <p:cNvPr id="29" name="Picture 28">
            <a:extLst>
              <a:ext uri="{FF2B5EF4-FFF2-40B4-BE49-F238E27FC236}">
                <a16:creationId xmlns:a16="http://schemas.microsoft.com/office/drawing/2014/main" id="{DC68D01B-3CC4-C623-6CEB-22C4645D73C7}"/>
              </a:ext>
            </a:extLst>
          </p:cNvPr>
          <p:cNvPicPr>
            <a:picLocks noChangeAspect="1"/>
          </p:cNvPicPr>
          <p:nvPr/>
        </p:nvPicPr>
        <p:blipFill>
          <a:blip r:embed="rId8"/>
          <a:stretch>
            <a:fillRect/>
          </a:stretch>
        </p:blipFill>
        <p:spPr>
          <a:xfrm>
            <a:off x="9348968" y="6763633"/>
            <a:ext cx="813599" cy="813599"/>
          </a:xfrm>
          <a:prstGeom prst="rect">
            <a:avLst/>
          </a:prstGeom>
        </p:spPr>
      </p:pic>
      <p:pic>
        <p:nvPicPr>
          <p:cNvPr id="30" name="Picture 29">
            <a:extLst>
              <a:ext uri="{FF2B5EF4-FFF2-40B4-BE49-F238E27FC236}">
                <a16:creationId xmlns:a16="http://schemas.microsoft.com/office/drawing/2014/main" id="{A3248F08-15FA-897A-130A-DFC1ACB5E191}"/>
              </a:ext>
            </a:extLst>
          </p:cNvPr>
          <p:cNvPicPr>
            <a:picLocks noChangeAspect="1"/>
          </p:cNvPicPr>
          <p:nvPr/>
        </p:nvPicPr>
        <p:blipFill>
          <a:blip r:embed="rId9"/>
          <a:stretch>
            <a:fillRect/>
          </a:stretch>
        </p:blipFill>
        <p:spPr>
          <a:xfrm>
            <a:off x="9355572" y="3242196"/>
            <a:ext cx="842462" cy="625678"/>
          </a:xfrm>
          <a:prstGeom prst="rect">
            <a:avLst/>
          </a:prstGeom>
        </p:spPr>
      </p:pic>
      <p:sp>
        <p:nvSpPr>
          <p:cNvPr id="32" name="TextBox 31">
            <a:extLst>
              <a:ext uri="{FF2B5EF4-FFF2-40B4-BE49-F238E27FC236}">
                <a16:creationId xmlns:a16="http://schemas.microsoft.com/office/drawing/2014/main" id="{46D7879C-1A11-A5AA-B63B-10C5E22FC878}"/>
              </a:ext>
            </a:extLst>
          </p:cNvPr>
          <p:cNvSpPr txBox="1"/>
          <p:nvPr/>
        </p:nvSpPr>
        <p:spPr>
          <a:xfrm>
            <a:off x="10545656" y="977235"/>
            <a:ext cx="1183337" cy="400110"/>
          </a:xfrm>
          <a:prstGeom prst="rect">
            <a:avLst/>
          </a:prstGeom>
          <a:noFill/>
        </p:spPr>
        <p:txBody>
          <a:bodyPr wrap="none" rtlCol="0">
            <a:spAutoFit/>
          </a:bodyPr>
          <a:lstStyle/>
          <a:p>
            <a:pPr algn="l"/>
            <a:r>
              <a:rPr lang="en-CN" altLang="zh-CN" sz="2000" dirty="0">
                <a:latin typeface="Amazon Ember" panose="020B0603020204020204" pitchFamily="34" charset="0"/>
                <a:ea typeface="Amazon Ember" panose="020B0603020204020204" pitchFamily="34" charset="0"/>
                <a:cs typeface="Amazon Ember" panose="020B0603020204020204" pitchFamily="34" charset="0"/>
              </a:rPr>
              <a:t>CloudKit</a:t>
            </a:r>
            <a:endParaRPr lang="en-CN" sz="2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Box 32">
            <a:extLst>
              <a:ext uri="{FF2B5EF4-FFF2-40B4-BE49-F238E27FC236}">
                <a16:creationId xmlns:a16="http://schemas.microsoft.com/office/drawing/2014/main" id="{283D99FB-8D9F-5D29-E95A-EC899AD6CACD}"/>
              </a:ext>
            </a:extLst>
          </p:cNvPr>
          <p:cNvSpPr txBox="1"/>
          <p:nvPr/>
        </p:nvSpPr>
        <p:spPr>
          <a:xfrm>
            <a:off x="10545656" y="3303945"/>
            <a:ext cx="1175322" cy="400110"/>
          </a:xfrm>
          <a:prstGeom prst="rect">
            <a:avLst/>
          </a:prstGeom>
          <a:noFill/>
        </p:spPr>
        <p:txBody>
          <a:bodyPr wrap="none" rtlCol="0">
            <a:spAutoFit/>
          </a:bodyPr>
          <a:lstStyle/>
          <a:p>
            <a:pPr algn="l"/>
            <a:r>
              <a:rPr lang="en-CN" altLang="zh-CN" sz="2000" dirty="0">
                <a:latin typeface="Amazon Ember" panose="020B0603020204020204" pitchFamily="34" charset="0"/>
                <a:ea typeface="Amazon Ember" panose="020B0603020204020204" pitchFamily="34" charset="0"/>
                <a:cs typeface="Amazon Ember" panose="020B0603020204020204" pitchFamily="34" charset="0"/>
              </a:rPr>
              <a:t>Ubiquity</a:t>
            </a:r>
            <a:endParaRPr lang="en-CN" sz="2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TextBox 33">
            <a:extLst>
              <a:ext uri="{FF2B5EF4-FFF2-40B4-BE49-F238E27FC236}">
                <a16:creationId xmlns:a16="http://schemas.microsoft.com/office/drawing/2014/main" id="{9CF3DE8A-EBC2-C888-9824-3AA741BAD0A9}"/>
              </a:ext>
            </a:extLst>
          </p:cNvPr>
          <p:cNvSpPr txBox="1"/>
          <p:nvPr/>
        </p:nvSpPr>
        <p:spPr>
          <a:xfrm>
            <a:off x="10545656" y="2146658"/>
            <a:ext cx="1029449" cy="400110"/>
          </a:xfrm>
          <a:prstGeom prst="rect">
            <a:avLst/>
          </a:prstGeom>
          <a:noFill/>
        </p:spPr>
        <p:txBody>
          <a:bodyPr wrap="none" rtlCol="0">
            <a:spAutoFit/>
          </a:bodyPr>
          <a:lstStyle/>
          <a:p>
            <a:pPr algn="l"/>
            <a:r>
              <a:rPr lang="en-CN" altLang="zh-CN" sz="2000" dirty="0">
                <a:latin typeface="Amazon Ember" panose="020B0603020204020204" pitchFamily="34" charset="0"/>
                <a:ea typeface="Amazon Ember" panose="020B0603020204020204" pitchFamily="34" charset="0"/>
                <a:cs typeface="Amazon Ember" panose="020B0603020204020204" pitchFamily="34" charset="0"/>
              </a:rPr>
              <a:t>Backup</a:t>
            </a:r>
            <a:endParaRPr lang="en-CN" sz="2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TextBox 34">
            <a:extLst>
              <a:ext uri="{FF2B5EF4-FFF2-40B4-BE49-F238E27FC236}">
                <a16:creationId xmlns:a16="http://schemas.microsoft.com/office/drawing/2014/main" id="{B3872E43-DC56-E8C4-D208-BBB9BAF35BBF}"/>
              </a:ext>
            </a:extLst>
          </p:cNvPr>
          <p:cNvSpPr txBox="1"/>
          <p:nvPr/>
        </p:nvSpPr>
        <p:spPr>
          <a:xfrm>
            <a:off x="10545656" y="4522621"/>
            <a:ext cx="885179" cy="400110"/>
          </a:xfrm>
          <a:prstGeom prst="rect">
            <a:avLst/>
          </a:prstGeom>
          <a:noFill/>
        </p:spPr>
        <p:txBody>
          <a:bodyPr wrap="none" rtlCol="0">
            <a:spAutoFit/>
          </a:bodyPr>
          <a:lstStyle/>
          <a:p>
            <a:pPr algn="l"/>
            <a:r>
              <a:rPr lang="en-CN" altLang="zh-CN" sz="2000" dirty="0">
                <a:latin typeface="Amazon Ember" panose="020B0603020204020204" pitchFamily="34" charset="0"/>
                <a:ea typeface="Amazon Ember" panose="020B0603020204020204" pitchFamily="34" charset="0"/>
                <a:cs typeface="Amazon Ember" panose="020B0603020204020204" pitchFamily="34" charset="0"/>
              </a:rPr>
              <a:t>Photo</a:t>
            </a:r>
            <a:endParaRPr lang="en-CN" sz="2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7" name="TextBox 36">
            <a:extLst>
              <a:ext uri="{FF2B5EF4-FFF2-40B4-BE49-F238E27FC236}">
                <a16:creationId xmlns:a16="http://schemas.microsoft.com/office/drawing/2014/main" id="{79D6BB8A-7752-B8FB-2A55-7D27A8D1E1F3}"/>
              </a:ext>
            </a:extLst>
          </p:cNvPr>
          <p:cNvSpPr txBox="1"/>
          <p:nvPr/>
        </p:nvSpPr>
        <p:spPr>
          <a:xfrm>
            <a:off x="10545656" y="5673484"/>
            <a:ext cx="1088760" cy="400110"/>
          </a:xfrm>
          <a:prstGeom prst="rect">
            <a:avLst/>
          </a:prstGeom>
          <a:noFill/>
        </p:spPr>
        <p:txBody>
          <a:bodyPr wrap="none" rtlCol="0">
            <a:spAutoFit/>
          </a:bodyPr>
          <a:lstStyle/>
          <a:p>
            <a:pPr algn="l"/>
            <a:r>
              <a:rPr lang="en-CN" altLang="zh-CN" sz="2000" dirty="0">
                <a:latin typeface="Amazon Ember" panose="020B0603020204020204" pitchFamily="34" charset="0"/>
                <a:ea typeface="Amazon Ember" panose="020B0603020204020204" pitchFamily="34" charset="0"/>
                <a:cs typeface="Amazon Ember" panose="020B0603020204020204" pitchFamily="34" charset="0"/>
              </a:rPr>
              <a:t>Contact</a:t>
            </a:r>
            <a:endParaRPr lang="en-CN" sz="2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8" name="TextBox 37">
            <a:extLst>
              <a:ext uri="{FF2B5EF4-FFF2-40B4-BE49-F238E27FC236}">
                <a16:creationId xmlns:a16="http://schemas.microsoft.com/office/drawing/2014/main" id="{B4196FD7-E860-937D-E5ED-B66134800B59}"/>
              </a:ext>
            </a:extLst>
          </p:cNvPr>
          <p:cNvSpPr txBox="1"/>
          <p:nvPr/>
        </p:nvSpPr>
        <p:spPr>
          <a:xfrm>
            <a:off x="10545656" y="6852255"/>
            <a:ext cx="1217000" cy="400110"/>
          </a:xfrm>
          <a:prstGeom prst="rect">
            <a:avLst/>
          </a:prstGeom>
          <a:noFill/>
        </p:spPr>
        <p:txBody>
          <a:bodyPr wrap="none" rtlCol="0">
            <a:spAutoFit/>
          </a:bodyPr>
          <a:lstStyle/>
          <a:p>
            <a:pPr algn="l"/>
            <a:r>
              <a:rPr lang="en-CN" altLang="zh-CN" sz="2000" dirty="0">
                <a:latin typeface="Amazon Ember" panose="020B0603020204020204" pitchFamily="34" charset="0"/>
                <a:ea typeface="Amazon Ember" panose="020B0603020204020204" pitchFamily="34" charset="0"/>
                <a:cs typeface="Amazon Ember" panose="020B0603020204020204" pitchFamily="34" charset="0"/>
              </a:rPr>
              <a:t>Calendar</a:t>
            </a:r>
            <a:endParaRPr lang="en-CN" sz="20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03677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0A181F-B8C2-24D0-C026-8D10F14B3C9D}"/>
              </a:ext>
            </a:extLst>
          </p:cNvPr>
          <p:cNvSpPr/>
          <p:nvPr/>
        </p:nvSpPr>
        <p:spPr>
          <a:xfrm>
            <a:off x="7399326" y="1750536"/>
            <a:ext cx="2933709" cy="679268"/>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600" dirty="0"/>
              <a:t>iCloud</a:t>
            </a:r>
            <a:r>
              <a:rPr lang="zh-CN" altLang="en-US" sz="1600" dirty="0"/>
              <a:t> </a:t>
            </a:r>
            <a:r>
              <a:rPr lang="en-US" altLang="zh-CN" sz="1600" dirty="0"/>
              <a:t>Partitions</a:t>
            </a:r>
            <a:r>
              <a:rPr lang="zh-CN" altLang="en-US" sz="1600" dirty="0"/>
              <a:t> </a:t>
            </a:r>
            <a:endParaRPr lang="en-US" altLang="zh-CN" sz="1600" dirty="0"/>
          </a:p>
          <a:p>
            <a:pPr algn="ctr"/>
            <a:r>
              <a:rPr lang="en-US" sz="1200" dirty="0">
                <a:solidFill>
                  <a:srgbClr val="FF9900"/>
                </a:solidFill>
              </a:rPr>
              <a:t>o</a:t>
            </a:r>
            <a:r>
              <a:rPr lang="en-CN" sz="1200" dirty="0">
                <a:solidFill>
                  <a:srgbClr val="FF9900"/>
                </a:solidFill>
              </a:rPr>
              <a:t>n</a:t>
            </a:r>
            <a:r>
              <a:rPr lang="zh-CN" altLang="en-US" sz="1200" dirty="0">
                <a:solidFill>
                  <a:srgbClr val="FF9900"/>
                </a:solidFill>
              </a:rPr>
              <a:t> </a:t>
            </a:r>
            <a:r>
              <a:rPr lang="en-US" altLang="zh-CN" sz="1200" dirty="0">
                <a:solidFill>
                  <a:srgbClr val="FF9900"/>
                </a:solidFill>
              </a:rPr>
              <a:t>Fruitstand</a:t>
            </a:r>
            <a:r>
              <a:rPr lang="zh-CN" altLang="en-US" sz="1200" dirty="0">
                <a:solidFill>
                  <a:srgbClr val="FF9900"/>
                </a:solidFill>
              </a:rPr>
              <a:t> </a:t>
            </a:r>
            <a:r>
              <a:rPr lang="en-US" altLang="zh-CN" sz="1200" dirty="0">
                <a:solidFill>
                  <a:srgbClr val="FF9900"/>
                </a:solidFill>
              </a:rPr>
              <a:t>China</a:t>
            </a:r>
            <a:r>
              <a:rPr lang="zh-CN" altLang="en-US" sz="1200" dirty="0">
                <a:solidFill>
                  <a:srgbClr val="FF9900"/>
                </a:solidFill>
              </a:rPr>
              <a:t> </a:t>
            </a:r>
            <a:r>
              <a:rPr lang="en-US" altLang="zh-CN" sz="1200" dirty="0">
                <a:solidFill>
                  <a:srgbClr val="FF9900"/>
                </a:solidFill>
              </a:rPr>
              <a:t>IDC</a:t>
            </a:r>
            <a:endParaRPr lang="en-CN" sz="1200" dirty="0">
              <a:solidFill>
                <a:srgbClr val="FF9900"/>
              </a:solidFill>
            </a:endParaRPr>
          </a:p>
        </p:txBody>
      </p:sp>
      <p:sp>
        <p:nvSpPr>
          <p:cNvPr id="4" name="Rectangle 3">
            <a:extLst>
              <a:ext uri="{FF2B5EF4-FFF2-40B4-BE49-F238E27FC236}">
                <a16:creationId xmlns:a16="http://schemas.microsoft.com/office/drawing/2014/main" id="{31A6268A-4E9C-1B8B-8BE6-3ED332879839}"/>
              </a:ext>
            </a:extLst>
          </p:cNvPr>
          <p:cNvSpPr/>
          <p:nvPr/>
        </p:nvSpPr>
        <p:spPr>
          <a:xfrm>
            <a:off x="7437760" y="4725062"/>
            <a:ext cx="2882212" cy="2361506"/>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N" sz="1200" dirty="0">
              <a:solidFill>
                <a:srgbClr val="FF9900"/>
              </a:solidFill>
            </a:endParaRPr>
          </a:p>
        </p:txBody>
      </p:sp>
      <p:sp>
        <p:nvSpPr>
          <p:cNvPr id="6" name="Rectangle 5">
            <a:extLst>
              <a:ext uri="{FF2B5EF4-FFF2-40B4-BE49-F238E27FC236}">
                <a16:creationId xmlns:a16="http://schemas.microsoft.com/office/drawing/2014/main" id="{EC7BD0F4-24F6-15D0-01CC-53E15B3DE9AE}"/>
              </a:ext>
            </a:extLst>
          </p:cNvPr>
          <p:cNvSpPr/>
          <p:nvPr/>
        </p:nvSpPr>
        <p:spPr>
          <a:xfrm>
            <a:off x="4694983" y="1737474"/>
            <a:ext cx="1802674" cy="1591512"/>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600" dirty="0"/>
              <a:t>iCloud</a:t>
            </a:r>
            <a:r>
              <a:rPr lang="zh-CN" altLang="en-US" sz="1600" dirty="0"/>
              <a:t> </a:t>
            </a:r>
            <a:r>
              <a:rPr lang="en-US" altLang="zh-CN" sz="1600" dirty="0"/>
              <a:t>Edge</a:t>
            </a:r>
            <a:endParaRPr lang="en-CN" sz="1600" dirty="0"/>
          </a:p>
        </p:txBody>
      </p:sp>
      <p:sp>
        <p:nvSpPr>
          <p:cNvPr id="18" name="TextBox 17">
            <a:extLst>
              <a:ext uri="{FF2B5EF4-FFF2-40B4-BE49-F238E27FC236}">
                <a16:creationId xmlns:a16="http://schemas.microsoft.com/office/drawing/2014/main" id="{0A501F7E-38B6-3964-D463-0BF69D38D670}"/>
              </a:ext>
            </a:extLst>
          </p:cNvPr>
          <p:cNvSpPr txBox="1"/>
          <p:nvPr/>
        </p:nvSpPr>
        <p:spPr>
          <a:xfrm>
            <a:off x="8574554" y="1499668"/>
            <a:ext cx="851515" cy="276999"/>
          </a:xfrm>
          <a:prstGeom prst="rect">
            <a:avLst/>
          </a:prstGeom>
          <a:noFill/>
        </p:spPr>
        <p:txBody>
          <a:bodyPr wrap="none" rtlCol="0">
            <a:spAutoFit/>
          </a:bodyPr>
          <a:lstStyle/>
          <a:p>
            <a:pPr algn="l"/>
            <a:r>
              <a:rPr lang="en-US" sz="1200" dirty="0">
                <a:latin typeface="Amazon Ember" panose="020B0603020204020204" pitchFamily="34" charset="0"/>
                <a:ea typeface="Amazon Ember" panose="020B0603020204020204" pitchFamily="34" charset="0"/>
                <a:cs typeface="Amazon Ember" panose="020B0603020204020204" pitchFamily="34" charset="0"/>
              </a:rPr>
              <a:t>Metadata</a:t>
            </a:r>
            <a:endParaRPr lang="en-CN" sz="1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1" name="TextBox 30">
            <a:extLst>
              <a:ext uri="{FF2B5EF4-FFF2-40B4-BE49-F238E27FC236}">
                <a16:creationId xmlns:a16="http://schemas.microsoft.com/office/drawing/2014/main" id="{11750658-60FA-C904-FD32-D99BE6F4ED84}"/>
              </a:ext>
            </a:extLst>
          </p:cNvPr>
          <p:cNvSpPr txBox="1"/>
          <p:nvPr/>
        </p:nvSpPr>
        <p:spPr>
          <a:xfrm>
            <a:off x="7490660" y="5206554"/>
            <a:ext cx="2666114" cy="523220"/>
          </a:xfrm>
          <a:prstGeom prst="rect">
            <a:avLst/>
          </a:prstGeom>
          <a:noFill/>
        </p:spPr>
        <p:txBody>
          <a:bodyPr wrap="none" rtlCol="0">
            <a:spAutoFit/>
          </a:bodyPr>
          <a:lstStyle/>
          <a:p>
            <a:pPr algn="ctr"/>
            <a:r>
              <a:rPr lang="en-CN" sz="1600" dirty="0"/>
              <a:t>Global Distributed Storage</a:t>
            </a:r>
          </a:p>
          <a:p>
            <a:pPr algn="ctr"/>
            <a:r>
              <a:rPr lang="en-US" sz="1200" dirty="0">
                <a:solidFill>
                  <a:srgbClr val="FF9900"/>
                </a:solidFill>
              </a:rPr>
              <a:t>o</a:t>
            </a:r>
            <a:r>
              <a:rPr lang="en-CN" sz="1200" dirty="0">
                <a:solidFill>
                  <a:srgbClr val="FF9900"/>
                </a:solidFill>
              </a:rPr>
              <a:t>n</a:t>
            </a:r>
            <a:r>
              <a:rPr lang="zh-CN" altLang="en-US" sz="1200" dirty="0">
                <a:solidFill>
                  <a:srgbClr val="FF9900"/>
                </a:solidFill>
              </a:rPr>
              <a:t> </a:t>
            </a:r>
            <a:r>
              <a:rPr lang="en-US" altLang="zh-CN" sz="1200" dirty="0">
                <a:solidFill>
                  <a:srgbClr val="FF9900"/>
                </a:solidFill>
              </a:rPr>
              <a:t>Telco IDC &amp; Public Cloud</a:t>
            </a:r>
            <a:endParaRPr lang="en-CN" sz="1200" dirty="0">
              <a:solidFill>
                <a:srgbClr val="FF9900"/>
              </a:solidFill>
            </a:endParaRPr>
          </a:p>
        </p:txBody>
      </p:sp>
      <p:sp>
        <p:nvSpPr>
          <p:cNvPr id="32" name="Rectangle 31">
            <a:extLst>
              <a:ext uri="{FF2B5EF4-FFF2-40B4-BE49-F238E27FC236}">
                <a16:creationId xmlns:a16="http://schemas.microsoft.com/office/drawing/2014/main" id="{C68A752B-3D11-7734-4665-183B97B6D882}"/>
              </a:ext>
            </a:extLst>
          </p:cNvPr>
          <p:cNvSpPr/>
          <p:nvPr/>
        </p:nvSpPr>
        <p:spPr>
          <a:xfrm>
            <a:off x="7736471" y="5951142"/>
            <a:ext cx="672300" cy="399417"/>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000" dirty="0">
                <a:solidFill>
                  <a:srgbClr val="FF9900"/>
                </a:solidFill>
              </a:rPr>
              <a:t>China Telecom</a:t>
            </a:r>
          </a:p>
        </p:txBody>
      </p:sp>
      <p:sp>
        <p:nvSpPr>
          <p:cNvPr id="36" name="Rectangle 35">
            <a:extLst>
              <a:ext uri="{FF2B5EF4-FFF2-40B4-BE49-F238E27FC236}">
                <a16:creationId xmlns:a16="http://schemas.microsoft.com/office/drawing/2014/main" id="{A0914DB9-1303-EF0C-42D1-7C6F4507B667}"/>
              </a:ext>
            </a:extLst>
          </p:cNvPr>
          <p:cNvSpPr/>
          <p:nvPr/>
        </p:nvSpPr>
        <p:spPr>
          <a:xfrm>
            <a:off x="8537662" y="5951141"/>
            <a:ext cx="672300" cy="399417"/>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000" dirty="0">
                <a:solidFill>
                  <a:srgbClr val="FF9900"/>
                </a:solidFill>
              </a:rPr>
              <a:t>China Mobile</a:t>
            </a:r>
          </a:p>
        </p:txBody>
      </p:sp>
      <p:sp>
        <p:nvSpPr>
          <p:cNvPr id="37" name="Rectangle 36">
            <a:extLst>
              <a:ext uri="{FF2B5EF4-FFF2-40B4-BE49-F238E27FC236}">
                <a16:creationId xmlns:a16="http://schemas.microsoft.com/office/drawing/2014/main" id="{E79CABFB-6388-7EE8-F366-FF335F8DEE9F}"/>
              </a:ext>
            </a:extLst>
          </p:cNvPr>
          <p:cNvSpPr/>
          <p:nvPr/>
        </p:nvSpPr>
        <p:spPr>
          <a:xfrm>
            <a:off x="9307838" y="5951140"/>
            <a:ext cx="672300" cy="399417"/>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000" dirty="0">
                <a:solidFill>
                  <a:srgbClr val="FF9900"/>
                </a:solidFill>
              </a:rPr>
              <a:t>China Unicom</a:t>
            </a:r>
          </a:p>
        </p:txBody>
      </p:sp>
      <p:sp>
        <p:nvSpPr>
          <p:cNvPr id="38" name="Rectangle 37">
            <a:extLst>
              <a:ext uri="{FF2B5EF4-FFF2-40B4-BE49-F238E27FC236}">
                <a16:creationId xmlns:a16="http://schemas.microsoft.com/office/drawing/2014/main" id="{F9B61FDA-E477-81F3-4B5B-CE753871458E}"/>
              </a:ext>
            </a:extLst>
          </p:cNvPr>
          <p:cNvSpPr/>
          <p:nvPr/>
        </p:nvSpPr>
        <p:spPr>
          <a:xfrm>
            <a:off x="7756858" y="6577701"/>
            <a:ext cx="672300" cy="399417"/>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000" dirty="0">
                <a:solidFill>
                  <a:srgbClr val="FF9900"/>
                </a:solidFill>
              </a:rPr>
              <a:t>Baidu Cloud</a:t>
            </a:r>
          </a:p>
        </p:txBody>
      </p:sp>
      <p:sp>
        <p:nvSpPr>
          <p:cNvPr id="39" name="Rectangle 38">
            <a:extLst>
              <a:ext uri="{FF2B5EF4-FFF2-40B4-BE49-F238E27FC236}">
                <a16:creationId xmlns:a16="http://schemas.microsoft.com/office/drawing/2014/main" id="{730581D1-DDBA-BBDB-31D8-EF7A96F10550}"/>
              </a:ext>
            </a:extLst>
          </p:cNvPr>
          <p:cNvSpPr/>
          <p:nvPr/>
        </p:nvSpPr>
        <p:spPr>
          <a:xfrm>
            <a:off x="8537662" y="6574013"/>
            <a:ext cx="672300" cy="399417"/>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000" dirty="0">
                <a:solidFill>
                  <a:srgbClr val="FF9900"/>
                </a:solidFill>
              </a:rPr>
              <a:t>Alibaba Cloud</a:t>
            </a:r>
          </a:p>
        </p:txBody>
      </p:sp>
      <p:sp>
        <p:nvSpPr>
          <p:cNvPr id="40" name="Rectangle 39">
            <a:extLst>
              <a:ext uri="{FF2B5EF4-FFF2-40B4-BE49-F238E27FC236}">
                <a16:creationId xmlns:a16="http://schemas.microsoft.com/office/drawing/2014/main" id="{82C2BEE3-CB25-0E72-0117-289C8AA3F3DE}"/>
              </a:ext>
            </a:extLst>
          </p:cNvPr>
          <p:cNvSpPr/>
          <p:nvPr/>
        </p:nvSpPr>
        <p:spPr>
          <a:xfrm>
            <a:off x="9318466" y="6567415"/>
            <a:ext cx="672300" cy="399417"/>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000" dirty="0">
                <a:solidFill>
                  <a:srgbClr val="FF9900"/>
                </a:solidFill>
              </a:rPr>
              <a:t>Tencent Cloud</a:t>
            </a:r>
          </a:p>
        </p:txBody>
      </p:sp>
      <p:sp>
        <p:nvSpPr>
          <p:cNvPr id="41" name="Title 1">
            <a:extLst>
              <a:ext uri="{FF2B5EF4-FFF2-40B4-BE49-F238E27FC236}">
                <a16:creationId xmlns:a16="http://schemas.microsoft.com/office/drawing/2014/main" id="{BC57B74E-7813-E1A8-8523-F9C95B85B751}"/>
              </a:ext>
            </a:extLst>
          </p:cNvPr>
          <p:cNvSpPr txBox="1">
            <a:spLocks/>
          </p:cNvSpPr>
          <p:nvPr/>
        </p:nvSpPr>
        <p:spPr>
          <a:xfrm>
            <a:off x="548640" y="183898"/>
            <a:ext cx="13510260" cy="993392"/>
          </a:xfrm>
          <a:prstGeom prst="rect">
            <a:avLst/>
          </a:prstGeom>
        </p:spPr>
        <p:txBody>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altLang="zh-CN" dirty="0"/>
              <a:t>iCloud China Current status</a:t>
            </a:r>
            <a:endParaRPr lang="en-US" dirty="0"/>
          </a:p>
        </p:txBody>
      </p:sp>
      <p:sp>
        <p:nvSpPr>
          <p:cNvPr id="56" name="Rectangle 55">
            <a:extLst>
              <a:ext uri="{FF2B5EF4-FFF2-40B4-BE49-F238E27FC236}">
                <a16:creationId xmlns:a16="http://schemas.microsoft.com/office/drawing/2014/main" id="{C37BF48F-03C9-0749-8C15-586B6094CB62}"/>
              </a:ext>
            </a:extLst>
          </p:cNvPr>
          <p:cNvSpPr/>
          <p:nvPr/>
        </p:nvSpPr>
        <p:spPr>
          <a:xfrm>
            <a:off x="613621" y="1711008"/>
            <a:ext cx="1258678" cy="5375546"/>
          </a:xfrm>
          <a:prstGeom prst="rect">
            <a:avLst/>
          </a:prstGeom>
          <a:noFill/>
          <a:ln>
            <a:solidFill>
              <a:schemeClr val="accent5">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iPhone/</a:t>
            </a:r>
          </a:p>
          <a:p>
            <a:pPr algn="ctr"/>
            <a:r>
              <a:rPr lang="en-US" sz="2000" dirty="0"/>
              <a:t>iPad/</a:t>
            </a:r>
          </a:p>
          <a:p>
            <a:pPr algn="ctr"/>
            <a:r>
              <a:rPr lang="en-US" sz="2000" dirty="0"/>
              <a:t>MAC</a:t>
            </a:r>
          </a:p>
        </p:txBody>
      </p:sp>
      <p:cxnSp>
        <p:nvCxnSpPr>
          <p:cNvPr id="58" name="Straight Arrow Connector 57">
            <a:extLst>
              <a:ext uri="{FF2B5EF4-FFF2-40B4-BE49-F238E27FC236}">
                <a16:creationId xmlns:a16="http://schemas.microsoft.com/office/drawing/2014/main" id="{4B081FF0-19C5-3BDA-AF4D-B73C7793D27C}"/>
              </a:ext>
            </a:extLst>
          </p:cNvPr>
          <p:cNvCxnSpPr/>
          <p:nvPr/>
        </p:nvCxnSpPr>
        <p:spPr>
          <a:xfrm>
            <a:off x="1994793" y="2001907"/>
            <a:ext cx="5040000" cy="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798CBA63-B087-DF54-36E9-9ABD4A074919}"/>
              </a:ext>
            </a:extLst>
          </p:cNvPr>
          <p:cNvCxnSpPr/>
          <p:nvPr/>
        </p:nvCxnSpPr>
        <p:spPr>
          <a:xfrm>
            <a:off x="1994793" y="2154307"/>
            <a:ext cx="5040000" cy="0"/>
          </a:xfrm>
          <a:prstGeom prst="straightConnector1">
            <a:avLst/>
          </a:prstGeom>
          <a:ln w="12700">
            <a:headEnd type="triangle"/>
            <a:tailEnd type="non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375C4A95-DDC0-2DAC-9A07-0D2E424FCDC8}"/>
              </a:ext>
            </a:extLst>
          </p:cNvPr>
          <p:cNvCxnSpPr/>
          <p:nvPr/>
        </p:nvCxnSpPr>
        <p:spPr>
          <a:xfrm>
            <a:off x="2062014" y="6377662"/>
            <a:ext cx="5040000" cy="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9533294C-9C22-21AC-E23D-B6885BD2DC71}"/>
              </a:ext>
            </a:extLst>
          </p:cNvPr>
          <p:cNvCxnSpPr/>
          <p:nvPr/>
        </p:nvCxnSpPr>
        <p:spPr>
          <a:xfrm>
            <a:off x="2062014" y="6530062"/>
            <a:ext cx="5040000" cy="0"/>
          </a:xfrm>
          <a:prstGeom prst="straightConnector1">
            <a:avLst/>
          </a:prstGeom>
          <a:ln w="12700">
            <a:headEnd type="triangle"/>
            <a:tailEnd type="non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9AF519A9-6D8B-0816-DAB2-5D3486A8D970}"/>
              </a:ext>
            </a:extLst>
          </p:cNvPr>
          <p:cNvCxnSpPr>
            <a:cxnSpLocks/>
          </p:cNvCxnSpPr>
          <p:nvPr/>
        </p:nvCxnSpPr>
        <p:spPr>
          <a:xfrm flipV="1">
            <a:off x="7899738" y="2666015"/>
            <a:ext cx="0" cy="1980000"/>
          </a:xfrm>
          <a:prstGeom prst="straightConnector1">
            <a:avLst/>
          </a:prstGeom>
          <a:ln w="12700">
            <a:headEnd type="triangle"/>
            <a:tailEnd type="non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C1599DB9-F2CD-3239-8DB8-44B238902513}"/>
              </a:ext>
            </a:extLst>
          </p:cNvPr>
          <p:cNvCxnSpPr>
            <a:cxnSpLocks/>
          </p:cNvCxnSpPr>
          <p:nvPr/>
        </p:nvCxnSpPr>
        <p:spPr>
          <a:xfrm flipV="1">
            <a:off x="8076726" y="2666015"/>
            <a:ext cx="0" cy="1980000"/>
          </a:xfrm>
          <a:prstGeom prst="straightConnector1">
            <a:avLst/>
          </a:prstGeom>
          <a:ln w="12700">
            <a:headEnd type="none"/>
            <a:tailEnd type="triangle"/>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00227C21-F054-2A3A-5BFA-C48A746E756A}"/>
              </a:ext>
            </a:extLst>
          </p:cNvPr>
          <p:cNvSpPr txBox="1"/>
          <p:nvPr/>
        </p:nvSpPr>
        <p:spPr>
          <a:xfrm>
            <a:off x="7218965" y="3551690"/>
            <a:ext cx="638316"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Delete</a:t>
            </a:r>
          </a:p>
        </p:txBody>
      </p:sp>
      <p:sp>
        <p:nvSpPr>
          <p:cNvPr id="73" name="TextBox 72">
            <a:extLst>
              <a:ext uri="{FF2B5EF4-FFF2-40B4-BE49-F238E27FC236}">
                <a16:creationId xmlns:a16="http://schemas.microsoft.com/office/drawing/2014/main" id="{F3D70985-7519-2376-60E0-E36BC8F02B4F}"/>
              </a:ext>
            </a:extLst>
          </p:cNvPr>
          <p:cNvSpPr txBox="1"/>
          <p:nvPr/>
        </p:nvSpPr>
        <p:spPr>
          <a:xfrm>
            <a:off x="8047968" y="3545295"/>
            <a:ext cx="627095"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Status</a:t>
            </a:r>
          </a:p>
        </p:txBody>
      </p:sp>
      <p:sp>
        <p:nvSpPr>
          <p:cNvPr id="74" name="TextBox 73">
            <a:extLst>
              <a:ext uri="{FF2B5EF4-FFF2-40B4-BE49-F238E27FC236}">
                <a16:creationId xmlns:a16="http://schemas.microsoft.com/office/drawing/2014/main" id="{7FB97CA4-25B9-BE25-7B79-DA49D5F60ABC}"/>
              </a:ext>
            </a:extLst>
          </p:cNvPr>
          <p:cNvSpPr txBox="1"/>
          <p:nvPr/>
        </p:nvSpPr>
        <p:spPr>
          <a:xfrm>
            <a:off x="2170362" y="1711008"/>
            <a:ext cx="1120820"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Auth Put/Get</a:t>
            </a:r>
          </a:p>
        </p:txBody>
      </p:sp>
      <p:sp>
        <p:nvSpPr>
          <p:cNvPr id="75" name="TextBox 74">
            <a:extLst>
              <a:ext uri="{FF2B5EF4-FFF2-40B4-BE49-F238E27FC236}">
                <a16:creationId xmlns:a16="http://schemas.microsoft.com/office/drawing/2014/main" id="{8FABA020-1384-1C4A-12F4-30BBF11CBCFB}"/>
              </a:ext>
            </a:extLst>
          </p:cNvPr>
          <p:cNvSpPr txBox="1"/>
          <p:nvPr/>
        </p:nvSpPr>
        <p:spPr>
          <a:xfrm>
            <a:off x="2165580" y="2151344"/>
            <a:ext cx="1067921"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Payload URL</a:t>
            </a:r>
          </a:p>
        </p:txBody>
      </p:sp>
      <p:sp>
        <p:nvSpPr>
          <p:cNvPr id="76" name="TextBox 75">
            <a:extLst>
              <a:ext uri="{FF2B5EF4-FFF2-40B4-BE49-F238E27FC236}">
                <a16:creationId xmlns:a16="http://schemas.microsoft.com/office/drawing/2014/main" id="{5E59B3FB-AC02-1731-CD49-875C47DECB21}"/>
              </a:ext>
            </a:extLst>
          </p:cNvPr>
          <p:cNvSpPr txBox="1"/>
          <p:nvPr/>
        </p:nvSpPr>
        <p:spPr>
          <a:xfrm>
            <a:off x="4764224" y="1358725"/>
            <a:ext cx="1620957"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iCloud Edge Services</a:t>
            </a:r>
          </a:p>
        </p:txBody>
      </p:sp>
      <p:sp>
        <p:nvSpPr>
          <p:cNvPr id="77" name="TextBox 76">
            <a:extLst>
              <a:ext uri="{FF2B5EF4-FFF2-40B4-BE49-F238E27FC236}">
                <a16:creationId xmlns:a16="http://schemas.microsoft.com/office/drawing/2014/main" id="{E4B6CD72-7F2A-A560-1749-C0C09AD24764}"/>
              </a:ext>
            </a:extLst>
          </p:cNvPr>
          <p:cNvSpPr txBox="1"/>
          <p:nvPr/>
        </p:nvSpPr>
        <p:spPr>
          <a:xfrm>
            <a:off x="2353299" y="6069191"/>
            <a:ext cx="744114"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Put/Get</a:t>
            </a:r>
          </a:p>
        </p:txBody>
      </p:sp>
      <p:sp>
        <p:nvSpPr>
          <p:cNvPr id="78" name="TextBox 77">
            <a:extLst>
              <a:ext uri="{FF2B5EF4-FFF2-40B4-BE49-F238E27FC236}">
                <a16:creationId xmlns:a16="http://schemas.microsoft.com/office/drawing/2014/main" id="{1F62B4CB-AB14-F93E-D9DE-B68E3966EDB0}"/>
              </a:ext>
            </a:extLst>
          </p:cNvPr>
          <p:cNvSpPr txBox="1"/>
          <p:nvPr/>
        </p:nvSpPr>
        <p:spPr>
          <a:xfrm>
            <a:off x="2118177" y="6567415"/>
            <a:ext cx="1258678"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Payload/Status</a:t>
            </a:r>
          </a:p>
        </p:txBody>
      </p:sp>
      <p:sp>
        <p:nvSpPr>
          <p:cNvPr id="126" name="TextBox 125">
            <a:extLst>
              <a:ext uri="{FF2B5EF4-FFF2-40B4-BE49-F238E27FC236}">
                <a16:creationId xmlns:a16="http://schemas.microsoft.com/office/drawing/2014/main" id="{50B1C80D-4DE2-C254-D34B-D48DE2ED256B}"/>
              </a:ext>
            </a:extLst>
          </p:cNvPr>
          <p:cNvSpPr txBox="1"/>
          <p:nvPr/>
        </p:nvSpPr>
        <p:spPr>
          <a:xfrm>
            <a:off x="10972026" y="2022756"/>
            <a:ext cx="3716082" cy="1384995"/>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iCloud Paritions Services:</a:t>
            </a:r>
          </a:p>
          <a:p>
            <a:pPr marL="171450" indent="-171450" algn="l">
              <a:buFont typeface="Arial" panose="020B0604020202020204" pitchFamily="34" charset="0"/>
              <a:buChar char="•"/>
            </a:pPr>
            <a:r>
              <a:rPr lang="en-CN" sz="1200" dirty="0">
                <a:latin typeface="Amazon Ember" panose="020B0603020204020204" pitchFamily="34" charset="0"/>
                <a:ea typeface="Amazon Ember" panose="020B0603020204020204" pitchFamily="34" charset="0"/>
                <a:cs typeface="Amazon Ember" panose="020B0603020204020204" pitchFamily="34" charset="0"/>
              </a:rPr>
              <a:t>One partition store a group of user’s metadata</a:t>
            </a:r>
          </a:p>
          <a:p>
            <a:pPr marL="171450" indent="-171450" algn="l">
              <a:buFont typeface="Arial" panose="020B0604020202020204" pitchFamily="34" charset="0"/>
              <a:buChar char="•"/>
            </a:pPr>
            <a:r>
              <a:rPr lang="en-CN" sz="1200" dirty="0">
                <a:latin typeface="Amazon Ember" panose="020B0603020204020204" pitchFamily="34" charset="0"/>
                <a:ea typeface="Amazon Ember" panose="020B0603020204020204" pitchFamily="34" charset="0"/>
                <a:cs typeface="Amazon Ember" panose="020B0603020204020204" pitchFamily="34" charset="0"/>
              </a:rPr>
              <a:t>User Auth (AppleID)</a:t>
            </a:r>
          </a:p>
          <a:p>
            <a:pPr marL="171450" indent="-171450" algn="l">
              <a:buFont typeface="Arial" panose="020B0604020202020204" pitchFamily="34" charset="0"/>
              <a:buChar char="•"/>
            </a:pPr>
            <a:r>
              <a:rPr lang="en-CN" sz="1200" dirty="0">
                <a:latin typeface="Amazon Ember" panose="020B0603020204020204" pitchFamily="34" charset="0"/>
                <a:ea typeface="Amazon Ember" panose="020B0603020204020204" pitchFamily="34" charset="0"/>
                <a:cs typeface="Amazon Ember" panose="020B0603020204020204" pitchFamily="34" charset="0"/>
              </a:rPr>
              <a:t>Payload URL </a:t>
            </a:r>
            <a:r>
              <a:rPr lang="en-US" sz="1200" dirty="0">
                <a:latin typeface="Amazon Ember" panose="020B0603020204020204" pitchFamily="34" charset="0"/>
                <a:ea typeface="Amazon Ember" panose="020B0603020204020204" pitchFamily="34" charset="0"/>
                <a:cs typeface="Amazon Ember" panose="020B0603020204020204" pitchFamily="34" charset="0"/>
              </a:rPr>
              <a:t>issuance to Device</a:t>
            </a:r>
            <a:endParaRPr lang="en-CN" sz="12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algn="l">
              <a:buFont typeface="Arial" panose="020B0604020202020204" pitchFamily="34" charset="0"/>
              <a:buChar char="•"/>
            </a:pPr>
            <a:r>
              <a:rPr lang="en-CN" sz="1200" dirty="0">
                <a:latin typeface="Amazon Ember" panose="020B0603020204020204" pitchFamily="34" charset="0"/>
                <a:ea typeface="Amazon Ember" panose="020B0603020204020204" pitchFamily="34" charset="0"/>
                <a:cs typeface="Amazon Ember" panose="020B0603020204020204" pitchFamily="34" charset="0"/>
              </a:rPr>
              <a:t>Action(Delete/Compact) </a:t>
            </a:r>
            <a:r>
              <a:rPr lang="en-US" sz="1200" dirty="0">
                <a:latin typeface="Amazon Ember" panose="020B0603020204020204" pitchFamily="34" charset="0"/>
                <a:ea typeface="Amazon Ember" panose="020B0603020204020204" pitchFamily="34" charset="0"/>
                <a:cs typeface="Amazon Ember" panose="020B0603020204020204" pitchFamily="34" charset="0"/>
              </a:rPr>
              <a:t>issuance to Global </a:t>
            </a:r>
          </a:p>
          <a:p>
            <a:pPr algn="l"/>
            <a:r>
              <a:rPr lang="en-US" sz="1200" dirty="0">
                <a:latin typeface="Amazon Ember" panose="020B0603020204020204" pitchFamily="34" charset="0"/>
                <a:ea typeface="Amazon Ember" panose="020B0603020204020204" pitchFamily="34" charset="0"/>
                <a:cs typeface="Amazon Ember" panose="020B0603020204020204" pitchFamily="34" charset="0"/>
              </a:rPr>
              <a:t>Distributed Storage Service</a:t>
            </a:r>
            <a:endParaRPr lang="en-CN" sz="12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algn="l">
              <a:buFont typeface="Arial" panose="020B0604020202020204" pitchFamily="34" charset="0"/>
              <a:buChar char="•"/>
            </a:pPr>
            <a:r>
              <a:rPr lang="en-CN" sz="1200" dirty="0">
                <a:latin typeface="Amazon Ember" panose="020B0603020204020204" pitchFamily="34" charset="0"/>
                <a:ea typeface="Amazon Ember" panose="020B0603020204020204" pitchFamily="34" charset="0"/>
                <a:cs typeface="Amazon Ember" panose="020B0603020204020204" pitchFamily="34" charset="0"/>
              </a:rPr>
              <a:t>Status</a:t>
            </a:r>
            <a:r>
              <a:rPr lang="zh-CN" altLang="en-US" sz="12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200" dirty="0">
                <a:latin typeface="Amazon Ember" panose="020B0603020204020204" pitchFamily="34" charset="0"/>
                <a:ea typeface="Amazon Ember" panose="020B0603020204020204" pitchFamily="34" charset="0"/>
                <a:cs typeface="Amazon Ember" panose="020B0603020204020204" pitchFamily="34" charset="0"/>
              </a:rPr>
              <a:t>sync</a:t>
            </a:r>
            <a:endParaRPr lang="en-CN" sz="1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41" name="TextBox 140">
            <a:extLst>
              <a:ext uri="{FF2B5EF4-FFF2-40B4-BE49-F238E27FC236}">
                <a16:creationId xmlns:a16="http://schemas.microsoft.com/office/drawing/2014/main" id="{FE883DD3-3D6C-1AD0-F95D-6796CD7C064F}"/>
              </a:ext>
            </a:extLst>
          </p:cNvPr>
          <p:cNvSpPr txBox="1"/>
          <p:nvPr/>
        </p:nvSpPr>
        <p:spPr>
          <a:xfrm>
            <a:off x="10879205" y="4051555"/>
            <a:ext cx="3808899" cy="2492990"/>
          </a:xfrm>
          <a:prstGeom prst="rect">
            <a:avLst/>
          </a:prstGeom>
          <a:noFill/>
        </p:spPr>
        <p:txBody>
          <a:bodyPr wrap="squar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Global Distributed Storage:</a:t>
            </a:r>
          </a:p>
          <a:p>
            <a:pPr algn="l"/>
            <a:endParaRPr lang="en-CN" sz="12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algn="l">
              <a:buFont typeface="Arial" panose="020B0604020202020204" pitchFamily="34" charset="0"/>
              <a:buChar char="•"/>
            </a:pPr>
            <a:r>
              <a:rPr lang="en-US" sz="1200" dirty="0">
                <a:latin typeface="Amazon Ember" panose="020B0603020204020204" pitchFamily="34" charset="0"/>
                <a:ea typeface="Amazon Ember" panose="020B0603020204020204" pitchFamily="34" charset="0"/>
                <a:cs typeface="Amazon Ember" panose="020B0603020204020204" pitchFamily="34" charset="0"/>
              </a:rPr>
              <a:t>Store 6 classes data, </a:t>
            </a:r>
            <a:r>
              <a:rPr lang="en-US" altLang="zh-CN" sz="1200" dirty="0">
                <a:latin typeface="Amazon Ember" panose="020B0603020204020204" pitchFamily="34" charset="0"/>
                <a:ea typeface="Amazon Ember" panose="020B0603020204020204" pitchFamily="34" charset="0"/>
                <a:cs typeface="Amazon Ember" panose="020B0603020204020204" pitchFamily="34" charset="0"/>
              </a:rPr>
              <a:t>CloudKit</a:t>
            </a:r>
            <a:r>
              <a:rPr lang="en-US" altLang="zh-CN" sz="1200" baseline="30000" dirty="0">
                <a:latin typeface="Amazon Ember" panose="020B0603020204020204" pitchFamily="34" charset="0"/>
                <a:ea typeface="Amazon Ember" panose="020B0603020204020204" pitchFamily="34" charset="0"/>
                <a:cs typeface="Amazon Ember" panose="020B0603020204020204" pitchFamily="34" charset="0"/>
              </a:rPr>
              <a:t>[1]</a:t>
            </a:r>
            <a:r>
              <a:rPr lang="en-US" altLang="zh-CN" sz="1200" dirty="0">
                <a:latin typeface="Amazon Ember" panose="020B0603020204020204" pitchFamily="34" charset="0"/>
                <a:ea typeface="Amazon Ember" panose="020B0603020204020204" pitchFamily="34" charset="0"/>
                <a:cs typeface="Amazon Ember" panose="020B0603020204020204" pitchFamily="34" charset="0"/>
              </a:rPr>
              <a:t>(My Phone Stream)/</a:t>
            </a:r>
            <a:r>
              <a:rPr lang="en-US" sz="1200" dirty="0">
                <a:latin typeface="Amazon Ember" panose="020B0603020204020204" pitchFamily="34" charset="0"/>
                <a:ea typeface="Amazon Ember" panose="020B0603020204020204" pitchFamily="34" charset="0"/>
                <a:cs typeface="Amazon Ember" panose="020B0603020204020204" pitchFamily="34" charset="0"/>
              </a:rPr>
              <a:t>Backup</a:t>
            </a:r>
            <a:r>
              <a:rPr lang="en-US" altLang="zh-CN" sz="1200" dirty="0">
                <a:latin typeface="Amazon Ember" panose="020B0603020204020204" pitchFamily="34" charset="0"/>
                <a:ea typeface="Amazon Ember" panose="020B0603020204020204" pitchFamily="34" charset="0"/>
                <a:cs typeface="Amazon Ember" panose="020B0603020204020204" pitchFamily="34" charset="0"/>
              </a:rPr>
              <a:t>/Ubiquity</a:t>
            </a:r>
            <a:r>
              <a:rPr lang="en-US" altLang="zh-CN" sz="1200" baseline="30000" dirty="0">
                <a:latin typeface="Amazon Ember" panose="020B0603020204020204" pitchFamily="34" charset="0"/>
                <a:ea typeface="Amazon Ember" panose="020B0603020204020204" pitchFamily="34" charset="0"/>
                <a:cs typeface="Amazon Ember" panose="020B0603020204020204" pitchFamily="34" charset="0"/>
              </a:rPr>
              <a:t>[2]</a:t>
            </a:r>
            <a:r>
              <a:rPr lang="en-US" altLang="zh-CN" sz="1200" dirty="0">
                <a:latin typeface="Amazon Ember" panose="020B0603020204020204" pitchFamily="34" charset="0"/>
                <a:ea typeface="Amazon Ember" panose="020B0603020204020204" pitchFamily="34" charset="0"/>
                <a:cs typeface="Amazon Ember" panose="020B0603020204020204" pitchFamily="34" charset="0"/>
              </a:rPr>
              <a:t>/Photo Sharing/Contacts/Calendars</a:t>
            </a:r>
            <a:endParaRPr lang="en-CN" sz="12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algn="l">
              <a:buFont typeface="Arial" panose="020B0604020202020204" pitchFamily="34" charset="0"/>
              <a:buChar char="•"/>
            </a:pPr>
            <a:endParaRPr lang="en-US" sz="12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algn="l">
              <a:buFont typeface="Arial" panose="020B0604020202020204" pitchFamily="34" charset="0"/>
              <a:buChar char="•"/>
            </a:pPr>
            <a:r>
              <a:rPr lang="en-US" sz="1200" dirty="0">
                <a:latin typeface="Amazon Ember" panose="020B0603020204020204" pitchFamily="34" charset="0"/>
                <a:ea typeface="Amazon Ember" panose="020B0603020204020204" pitchFamily="34" charset="0"/>
                <a:cs typeface="Amazon Ember" panose="020B0603020204020204" pitchFamily="34" charset="0"/>
              </a:rPr>
              <a:t>Currently 6 vendor </a:t>
            </a:r>
          </a:p>
          <a:p>
            <a:pPr marL="171450" indent="-171450" algn="l">
              <a:buFont typeface="Arial" panose="020B0604020202020204" pitchFamily="34" charset="0"/>
              <a:buChar char="•"/>
            </a:pPr>
            <a:endParaRPr lang="en-US" sz="12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algn="l">
              <a:buFont typeface="Arial" panose="020B0604020202020204" pitchFamily="34" charset="0"/>
              <a:buChar char="•"/>
            </a:pPr>
            <a:r>
              <a:rPr lang="en-US" sz="1200" dirty="0">
                <a:latin typeface="Amazon Ember" panose="020B0603020204020204" pitchFamily="34" charset="0"/>
                <a:ea typeface="Amazon Ember" panose="020B0603020204020204" pitchFamily="34" charset="0"/>
                <a:cs typeface="Amazon Ember" panose="020B0603020204020204" pitchFamily="34" charset="0"/>
              </a:rPr>
              <a:t>CT(China Telecom)/CM(China Mobile)/CU(China Unicom) provide self-build storage</a:t>
            </a:r>
          </a:p>
          <a:p>
            <a:pPr marL="171450" indent="-171450" algn="l">
              <a:buFont typeface="Arial" panose="020B0604020202020204" pitchFamily="34" charset="0"/>
              <a:buChar char="•"/>
            </a:pPr>
            <a:endParaRPr lang="en-US" sz="12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algn="l">
              <a:buFont typeface="Arial" panose="020B0604020202020204" pitchFamily="34" charset="0"/>
              <a:buChar char="•"/>
            </a:pPr>
            <a:r>
              <a:rPr lang="en-US" sz="1200" dirty="0">
                <a:latin typeface="Amazon Ember" panose="020B0603020204020204" pitchFamily="34" charset="0"/>
                <a:ea typeface="Amazon Ember" panose="020B0603020204020204" pitchFamily="34" charset="0"/>
                <a:cs typeface="Amazon Ember" panose="020B0603020204020204" pitchFamily="34" charset="0"/>
              </a:rPr>
              <a:t>Baidu/Alibaba/Tencent Cloud provide their </a:t>
            </a:r>
          </a:p>
          <a:p>
            <a:pPr algn="l"/>
            <a:r>
              <a:rPr lang="en-US" sz="1200" dirty="0">
                <a:latin typeface="Amazon Ember" panose="020B0603020204020204" pitchFamily="34" charset="0"/>
                <a:ea typeface="Amazon Ember" panose="020B0603020204020204" pitchFamily="34" charset="0"/>
                <a:cs typeface="Amazon Ember" panose="020B0603020204020204" pitchFamily="34" charset="0"/>
              </a:rPr>
              <a:t>object storage</a:t>
            </a:r>
          </a:p>
        </p:txBody>
      </p:sp>
      <p:sp>
        <p:nvSpPr>
          <p:cNvPr id="142" name="TextBox 141">
            <a:extLst>
              <a:ext uri="{FF2B5EF4-FFF2-40B4-BE49-F238E27FC236}">
                <a16:creationId xmlns:a16="http://schemas.microsoft.com/office/drawing/2014/main" id="{32CD7F79-E01C-02C2-0B05-5D5604217511}"/>
              </a:ext>
            </a:extLst>
          </p:cNvPr>
          <p:cNvSpPr txBox="1"/>
          <p:nvPr/>
        </p:nvSpPr>
        <p:spPr>
          <a:xfrm>
            <a:off x="10879205" y="6677710"/>
            <a:ext cx="3592650" cy="1015663"/>
          </a:xfrm>
          <a:prstGeom prst="rect">
            <a:avLst/>
          </a:prstGeom>
          <a:noFill/>
        </p:spPr>
        <p:txBody>
          <a:bodyPr wrap="square" rtlCol="0">
            <a:spAutoFit/>
          </a:bodyPr>
          <a:lstStyle/>
          <a:p>
            <a:pPr algn="l"/>
            <a:r>
              <a:rPr lang="en-CN" sz="1000" dirty="0">
                <a:latin typeface="Amazon Ember" panose="020B0603020204020204" pitchFamily="34" charset="0"/>
                <a:ea typeface="Amazon Ember" panose="020B0603020204020204" pitchFamily="34" charset="0"/>
                <a:cs typeface="Amazon Ember" panose="020B0603020204020204" pitchFamily="34" charset="0"/>
              </a:rPr>
              <a:t>[1]</a:t>
            </a:r>
            <a:r>
              <a:rPr lang="en-US" sz="1000" dirty="0">
                <a:latin typeface="Amazon Ember" panose="020B0603020204020204" pitchFamily="34" charset="0"/>
                <a:ea typeface="Amazon Ember" panose="020B0603020204020204" pitchFamily="34" charset="0"/>
                <a:cs typeface="Amazon Ember" panose="020B0603020204020204" pitchFamily="34" charset="0"/>
              </a:rPr>
              <a:t>Store IOS APP data </a:t>
            </a:r>
            <a:r>
              <a:rPr lang="en-US" sz="1000" dirty="0">
                <a:latin typeface="Amazon Ember" panose="020B0603020204020204" pitchFamily="34" charset="0"/>
                <a:ea typeface="Amazon Ember" panose="020B0603020204020204" pitchFamily="34" charset="0"/>
                <a:cs typeface="Amazon Ember" panose="020B0603020204020204" pitchFamily="34" charset="0"/>
                <a:hlinkClick r:id="rId3"/>
              </a:rPr>
              <a:t>https://developer.apple.com/cn/icloud/cloudkit/</a:t>
            </a:r>
            <a:endParaRPr lang="en-US" sz="1000" dirty="0">
              <a:latin typeface="Amazon Ember" panose="020B0603020204020204" pitchFamily="34" charset="0"/>
              <a:ea typeface="Amazon Ember" panose="020B0603020204020204" pitchFamily="34" charset="0"/>
              <a:cs typeface="Amazon Ember" panose="020B0603020204020204" pitchFamily="34" charset="0"/>
            </a:endParaRPr>
          </a:p>
          <a:p>
            <a:pPr algn="l"/>
            <a:r>
              <a:rPr lang="en-US" sz="1000" dirty="0">
                <a:latin typeface="Amazon Ember" panose="020B0603020204020204" pitchFamily="34" charset="0"/>
                <a:ea typeface="Amazon Ember" panose="020B0603020204020204" pitchFamily="34" charset="0"/>
                <a:cs typeface="Amazon Ember" panose="020B0603020204020204" pitchFamily="34" charset="0"/>
              </a:rPr>
              <a:t>[2]iCloud Container </a:t>
            </a:r>
            <a:r>
              <a:rPr lang="en-US" sz="1000" dirty="0">
                <a:latin typeface="Amazon Ember" panose="020B0603020204020204" pitchFamily="34" charset="0"/>
                <a:ea typeface="Amazon Ember" panose="020B0603020204020204" pitchFamily="34" charset="0"/>
                <a:cs typeface="Amazon Ember" panose="020B0603020204020204" pitchFamily="34" charset="0"/>
                <a:hlinkClick r:id="rId4"/>
              </a:rPr>
              <a:t>https://developer.apple.com/library/archive/documentation/General/Conceptual/iCloudDesignGuide/Chapters/iCloudFundametals.html</a:t>
            </a:r>
            <a:endParaRPr lang="en-US" sz="10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Rectangle 6">
            <a:extLst>
              <a:ext uri="{FF2B5EF4-FFF2-40B4-BE49-F238E27FC236}">
                <a16:creationId xmlns:a16="http://schemas.microsoft.com/office/drawing/2014/main" id="{8119B0F2-6C2C-3CC2-09D2-AF61BDFC0AC9}"/>
              </a:ext>
            </a:extLst>
          </p:cNvPr>
          <p:cNvSpPr/>
          <p:nvPr/>
        </p:nvSpPr>
        <p:spPr>
          <a:xfrm>
            <a:off x="4700047" y="5495043"/>
            <a:ext cx="1802674" cy="1591512"/>
          </a:xfrm>
          <a:prstGeom prst="rect">
            <a:avLst/>
          </a:prstGeom>
          <a:noFill/>
          <a:ln>
            <a:solidFill>
              <a:schemeClr val="bg1">
                <a:lumMod val="50000"/>
                <a:lumOff val="50000"/>
              </a:schemeClr>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CN" sz="1600" dirty="0"/>
              <a:t>iCloud Content</a:t>
            </a:r>
            <a:r>
              <a:rPr lang="zh-CN" altLang="en-US" sz="1600" dirty="0"/>
              <a:t> </a:t>
            </a:r>
            <a:r>
              <a:rPr lang="en-US" altLang="zh-CN" sz="1600" dirty="0"/>
              <a:t>Edge</a:t>
            </a:r>
            <a:endParaRPr lang="en-CN" sz="1600" dirty="0"/>
          </a:p>
        </p:txBody>
      </p:sp>
      <p:sp>
        <p:nvSpPr>
          <p:cNvPr id="9" name="TextBox 8">
            <a:extLst>
              <a:ext uri="{FF2B5EF4-FFF2-40B4-BE49-F238E27FC236}">
                <a16:creationId xmlns:a16="http://schemas.microsoft.com/office/drawing/2014/main" id="{09AB18F3-1CBC-C37C-FD28-FB02AA5FD3B1}"/>
              </a:ext>
            </a:extLst>
          </p:cNvPr>
          <p:cNvSpPr txBox="1"/>
          <p:nvPr/>
        </p:nvSpPr>
        <p:spPr>
          <a:xfrm>
            <a:off x="4623543" y="7057208"/>
            <a:ext cx="798617"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Optional</a:t>
            </a:r>
          </a:p>
        </p:txBody>
      </p:sp>
      <p:cxnSp>
        <p:nvCxnSpPr>
          <p:cNvPr id="13" name="Straight Arrow Connector 12">
            <a:extLst>
              <a:ext uri="{FF2B5EF4-FFF2-40B4-BE49-F238E27FC236}">
                <a16:creationId xmlns:a16="http://schemas.microsoft.com/office/drawing/2014/main" id="{DF78F617-3DCE-5B9B-E9C7-E53591019926}"/>
              </a:ext>
            </a:extLst>
          </p:cNvPr>
          <p:cNvCxnSpPr>
            <a:cxnSpLocks/>
          </p:cNvCxnSpPr>
          <p:nvPr/>
        </p:nvCxnSpPr>
        <p:spPr>
          <a:xfrm flipV="1">
            <a:off x="9434342" y="2637439"/>
            <a:ext cx="0" cy="1620000"/>
          </a:xfrm>
          <a:prstGeom prst="straightConnector1">
            <a:avLst/>
          </a:prstGeom>
          <a:ln w="12700">
            <a:headEnd type="triangle"/>
            <a:tailEnd type="non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3D24FD3-D8B5-2646-08D9-DEEFF061C91B}"/>
              </a:ext>
            </a:extLst>
          </p:cNvPr>
          <p:cNvCxnSpPr>
            <a:cxnSpLocks/>
          </p:cNvCxnSpPr>
          <p:nvPr/>
        </p:nvCxnSpPr>
        <p:spPr>
          <a:xfrm flipV="1">
            <a:off x="9611330" y="2637439"/>
            <a:ext cx="0" cy="1620000"/>
          </a:xfrm>
          <a:prstGeom prst="straightConnector1">
            <a:avLst/>
          </a:prstGeom>
          <a:ln w="12700">
            <a:headEnd type="none"/>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484966B3-D70B-6012-69A8-256B29610A45}"/>
              </a:ext>
            </a:extLst>
          </p:cNvPr>
          <p:cNvSpPr/>
          <p:nvPr/>
        </p:nvSpPr>
        <p:spPr>
          <a:xfrm>
            <a:off x="8873812" y="4391658"/>
            <a:ext cx="1299726" cy="679268"/>
          </a:xfrm>
          <a:prstGeom prst="rect">
            <a:avLst/>
          </a:prstGeom>
          <a:noFill/>
          <a:ln>
            <a:solidFill>
              <a:schemeClr val="bg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Compute Resource  for Compacting </a:t>
            </a:r>
            <a:endParaRPr lang="en-CN" sz="1200" dirty="0">
              <a:solidFill>
                <a:srgbClr val="FF9900"/>
              </a:solidFill>
            </a:endParaRPr>
          </a:p>
        </p:txBody>
      </p:sp>
      <p:sp>
        <p:nvSpPr>
          <p:cNvPr id="24" name="TextBox 23">
            <a:extLst>
              <a:ext uri="{FF2B5EF4-FFF2-40B4-BE49-F238E27FC236}">
                <a16:creationId xmlns:a16="http://schemas.microsoft.com/office/drawing/2014/main" id="{18A17BA3-5186-5FAD-AC02-43728C5BFC79}"/>
              </a:ext>
            </a:extLst>
          </p:cNvPr>
          <p:cNvSpPr txBox="1"/>
          <p:nvPr/>
        </p:nvSpPr>
        <p:spPr>
          <a:xfrm>
            <a:off x="8672949" y="3288429"/>
            <a:ext cx="808235"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Compact</a:t>
            </a:r>
          </a:p>
        </p:txBody>
      </p:sp>
      <p:sp>
        <p:nvSpPr>
          <p:cNvPr id="25" name="TextBox 24">
            <a:extLst>
              <a:ext uri="{FF2B5EF4-FFF2-40B4-BE49-F238E27FC236}">
                <a16:creationId xmlns:a16="http://schemas.microsoft.com/office/drawing/2014/main" id="{85ED5F4F-6036-2542-5FA1-F00F4FFF9C02}"/>
              </a:ext>
            </a:extLst>
          </p:cNvPr>
          <p:cNvSpPr txBox="1"/>
          <p:nvPr/>
        </p:nvSpPr>
        <p:spPr>
          <a:xfrm>
            <a:off x="9610934" y="3269034"/>
            <a:ext cx="627095" cy="276999"/>
          </a:xfrm>
          <a:prstGeom prst="rect">
            <a:avLst/>
          </a:prstGeom>
          <a:noFill/>
        </p:spPr>
        <p:txBody>
          <a:bodyPr wrap="none" rtlCol="0">
            <a:spAutoFit/>
          </a:bodyPr>
          <a:lstStyle/>
          <a:p>
            <a:pPr algn="l"/>
            <a:r>
              <a:rPr lang="en-CN" sz="1200" dirty="0">
                <a:latin typeface="Amazon Ember" panose="020B0603020204020204" pitchFamily="34" charset="0"/>
                <a:ea typeface="Amazon Ember" panose="020B0603020204020204" pitchFamily="34" charset="0"/>
                <a:cs typeface="Amazon Ember" panose="020B0603020204020204" pitchFamily="34" charset="0"/>
              </a:rPr>
              <a:t>Status</a:t>
            </a:r>
          </a:p>
        </p:txBody>
      </p:sp>
    </p:spTree>
    <p:extLst>
      <p:ext uri="{BB962C8B-B14F-4D97-AF65-F5344CB8AC3E}">
        <p14:creationId xmlns:p14="http://schemas.microsoft.com/office/powerpoint/2010/main" val="2453319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F56F0-6076-3250-AF23-58D8A4E7C65F}"/>
              </a:ext>
            </a:extLst>
          </p:cNvPr>
          <p:cNvSpPr>
            <a:spLocks noGrp="1"/>
          </p:cNvSpPr>
          <p:nvPr>
            <p:ph type="title"/>
          </p:nvPr>
        </p:nvSpPr>
        <p:spPr/>
        <p:txBody>
          <a:bodyPr/>
          <a:lstStyle/>
          <a:p>
            <a:r>
              <a:rPr lang="en-CN" dirty="0"/>
              <a:t>iCloud</a:t>
            </a:r>
            <a:r>
              <a:rPr lang="zh-CN" altLang="en-US" dirty="0"/>
              <a:t> </a:t>
            </a:r>
            <a:r>
              <a:rPr lang="en-US" altLang="zh-CN" dirty="0"/>
              <a:t>pricing</a:t>
            </a:r>
            <a:r>
              <a:rPr lang="zh-CN" altLang="en-US" dirty="0"/>
              <a:t> </a:t>
            </a:r>
            <a:r>
              <a:rPr lang="en-US" altLang="zh-CN" dirty="0"/>
              <a:t>in</a:t>
            </a:r>
            <a:r>
              <a:rPr lang="zh-CN" altLang="en-US" dirty="0"/>
              <a:t> </a:t>
            </a:r>
            <a:r>
              <a:rPr lang="en-US" altLang="zh-CN" dirty="0"/>
              <a:t>China</a:t>
            </a:r>
            <a:r>
              <a:rPr lang="zh-CN" altLang="en-US" dirty="0"/>
              <a:t> </a:t>
            </a:r>
            <a:endParaRPr lang="en-CN" dirty="0"/>
          </a:p>
        </p:txBody>
      </p:sp>
      <p:sp>
        <p:nvSpPr>
          <p:cNvPr id="3" name="Text Placeholder 2">
            <a:extLst>
              <a:ext uri="{FF2B5EF4-FFF2-40B4-BE49-F238E27FC236}">
                <a16:creationId xmlns:a16="http://schemas.microsoft.com/office/drawing/2014/main" id="{18DB9750-8697-1E65-00F9-71B28022BE2F}"/>
              </a:ext>
            </a:extLst>
          </p:cNvPr>
          <p:cNvSpPr>
            <a:spLocks noGrp="1"/>
          </p:cNvSpPr>
          <p:nvPr>
            <p:ph type="body" sz="quarter" idx="10"/>
          </p:nvPr>
        </p:nvSpPr>
        <p:spPr/>
        <p:txBody>
          <a:bodyPr/>
          <a:lstStyle/>
          <a:p>
            <a:pPr marL="457200" indent="-457200">
              <a:buFont typeface="Arial" panose="020B0604020202020204" pitchFamily="34" charset="0"/>
              <a:buChar char="•"/>
            </a:pPr>
            <a:r>
              <a:rPr lang="en-US" altLang="zh-CN" dirty="0"/>
              <a:t>¥6/Month</a:t>
            </a:r>
            <a:r>
              <a:rPr lang="zh-CN" altLang="en-US" dirty="0"/>
              <a:t> </a:t>
            </a:r>
            <a:r>
              <a:rPr lang="en-US" altLang="zh-CN" dirty="0"/>
              <a:t>–</a:t>
            </a:r>
            <a:r>
              <a:rPr lang="zh-CN" altLang="en-US" dirty="0"/>
              <a:t> </a:t>
            </a:r>
            <a:r>
              <a:rPr lang="en-US" altLang="zh-CN" dirty="0"/>
              <a:t>50GB </a:t>
            </a:r>
          </a:p>
          <a:p>
            <a:pPr marL="457200" indent="-457200">
              <a:buFont typeface="Arial" panose="020B0604020202020204" pitchFamily="34" charset="0"/>
              <a:buChar char="•"/>
            </a:pPr>
            <a:r>
              <a:rPr lang="en-US" altLang="zh-CN" dirty="0"/>
              <a:t>¥21/Month</a:t>
            </a:r>
            <a:r>
              <a:rPr lang="zh-CN" altLang="en-US" dirty="0"/>
              <a:t> </a:t>
            </a:r>
            <a:r>
              <a:rPr lang="en-US" altLang="zh-CN" dirty="0"/>
              <a:t>–</a:t>
            </a:r>
            <a:r>
              <a:rPr lang="zh-CN" altLang="en-US" dirty="0"/>
              <a:t> </a:t>
            </a:r>
            <a:r>
              <a:rPr lang="en-US" altLang="zh-CN" dirty="0"/>
              <a:t>200GB</a:t>
            </a:r>
          </a:p>
          <a:p>
            <a:pPr marL="457200" indent="-457200">
              <a:buFont typeface="Arial" panose="020B0604020202020204" pitchFamily="34" charset="0"/>
              <a:buChar char="•"/>
            </a:pPr>
            <a:r>
              <a:rPr lang="en-US" altLang="zh-CN" dirty="0"/>
              <a:t>¥68/Month</a:t>
            </a:r>
            <a:r>
              <a:rPr lang="zh-CN" altLang="en-US" dirty="0"/>
              <a:t> </a:t>
            </a:r>
            <a:r>
              <a:rPr lang="en-US" altLang="zh-CN" dirty="0"/>
              <a:t>–</a:t>
            </a:r>
            <a:r>
              <a:rPr lang="zh-CN" altLang="en-US" dirty="0"/>
              <a:t> </a:t>
            </a:r>
            <a:r>
              <a:rPr lang="en-US" altLang="zh-CN" dirty="0"/>
              <a:t>2TB</a:t>
            </a:r>
          </a:p>
          <a:p>
            <a:pPr marL="457200" indent="-457200">
              <a:buFont typeface="Arial" panose="020B0604020202020204" pitchFamily="34" charset="0"/>
              <a:buChar char="•"/>
            </a:pPr>
            <a:endParaRPr lang="en-US" altLang="zh-CN" dirty="0"/>
          </a:p>
          <a:p>
            <a:pPr marL="457200" indent="-457200">
              <a:buFont typeface="Arial" panose="020B0604020202020204" pitchFamily="34" charset="0"/>
              <a:buChar char="•"/>
            </a:pPr>
            <a:endParaRPr lang="en-US" altLang="zh-CN" dirty="0"/>
          </a:p>
          <a:p>
            <a:endParaRPr lang="en-US" altLang="zh-CN" dirty="0"/>
          </a:p>
        </p:txBody>
      </p:sp>
    </p:spTree>
    <p:extLst>
      <p:ext uri="{BB962C8B-B14F-4D97-AF65-F5344CB8AC3E}">
        <p14:creationId xmlns:p14="http://schemas.microsoft.com/office/powerpoint/2010/main" val="2679768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1D7CC-386D-8FB2-8210-1347AF35CB11}"/>
              </a:ext>
            </a:extLst>
          </p:cNvPr>
          <p:cNvSpPr txBox="1">
            <a:spLocks/>
          </p:cNvSpPr>
          <p:nvPr/>
        </p:nvSpPr>
        <p:spPr>
          <a:xfrm>
            <a:off x="548640" y="183898"/>
            <a:ext cx="13510260" cy="993392"/>
          </a:xfrm>
          <a:prstGeom prst="rect">
            <a:avLst/>
          </a:prstGeom>
        </p:spPr>
        <p:txBody>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altLang="zh-CN" sz="3200" dirty="0"/>
              <a:t>Distance between AWS Region and Fruitstand iCloud Data Center</a:t>
            </a:r>
            <a:endParaRPr lang="en-US" sz="3200" dirty="0"/>
          </a:p>
        </p:txBody>
      </p:sp>
      <p:pic>
        <p:nvPicPr>
          <p:cNvPr id="26" name="Picture 25">
            <a:extLst>
              <a:ext uri="{FF2B5EF4-FFF2-40B4-BE49-F238E27FC236}">
                <a16:creationId xmlns:a16="http://schemas.microsoft.com/office/drawing/2014/main" id="{8707E5C1-784F-8AD0-60D7-44D2DFEE7AB8}"/>
              </a:ext>
            </a:extLst>
          </p:cNvPr>
          <p:cNvPicPr>
            <a:picLocks noChangeAspect="1"/>
          </p:cNvPicPr>
          <p:nvPr/>
        </p:nvPicPr>
        <p:blipFill>
          <a:blip r:embed="rId2"/>
          <a:stretch>
            <a:fillRect/>
          </a:stretch>
        </p:blipFill>
        <p:spPr>
          <a:xfrm>
            <a:off x="607106" y="1054306"/>
            <a:ext cx="7982259" cy="6518845"/>
          </a:xfrm>
          <a:prstGeom prst="rect">
            <a:avLst/>
          </a:prstGeom>
        </p:spPr>
      </p:pic>
      <p:sp>
        <p:nvSpPr>
          <p:cNvPr id="29" name="TextBox 28">
            <a:extLst>
              <a:ext uri="{FF2B5EF4-FFF2-40B4-BE49-F238E27FC236}">
                <a16:creationId xmlns:a16="http://schemas.microsoft.com/office/drawing/2014/main" id="{AFD417EE-EBD0-A706-DD5A-C4E97241BDA2}"/>
              </a:ext>
            </a:extLst>
          </p:cNvPr>
          <p:cNvSpPr txBox="1"/>
          <p:nvPr/>
        </p:nvSpPr>
        <p:spPr>
          <a:xfrm>
            <a:off x="5865176" y="3701818"/>
            <a:ext cx="1026243" cy="276999"/>
          </a:xfrm>
          <a:prstGeom prst="rect">
            <a:avLst/>
          </a:prstGeom>
          <a:noFill/>
        </p:spPr>
        <p:txBody>
          <a:bodyPr wrap="none" rtlCol="0">
            <a:spAutoFit/>
          </a:bodyPr>
          <a:lstStyle/>
          <a:p>
            <a:pPr algn="l"/>
            <a:r>
              <a:rPr lang="en-CN"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a:t>
            </a:r>
            <a:r>
              <a:rPr lang="zh-CN" alt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t>
            </a:r>
            <a:r>
              <a:rPr lang="en-US" altLang="zh-CN"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Beijing</a:t>
            </a:r>
            <a:endParaRPr lang="en-CN" sz="1200" dirty="0" err="1">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0" name="TextBox 29">
            <a:extLst>
              <a:ext uri="{FF2B5EF4-FFF2-40B4-BE49-F238E27FC236}">
                <a16:creationId xmlns:a16="http://schemas.microsoft.com/office/drawing/2014/main" id="{BE04622B-92E2-C00C-4C54-3C60A706A919}"/>
              </a:ext>
            </a:extLst>
          </p:cNvPr>
          <p:cNvSpPr txBox="1"/>
          <p:nvPr/>
        </p:nvSpPr>
        <p:spPr>
          <a:xfrm>
            <a:off x="4457751" y="4098221"/>
            <a:ext cx="1077539" cy="276999"/>
          </a:xfrm>
          <a:prstGeom prst="rect">
            <a:avLst/>
          </a:prstGeom>
          <a:noFill/>
        </p:spPr>
        <p:txBody>
          <a:bodyPr wrap="none" rtlCol="0">
            <a:spAutoFit/>
          </a:bodyPr>
          <a:lstStyle/>
          <a:p>
            <a:pPr algn="l"/>
            <a:r>
              <a:rPr lang="en-CN"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AWS</a:t>
            </a:r>
            <a:r>
              <a:rPr lang="zh-CN" altLang="en-US"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t>
            </a:r>
            <a:r>
              <a:rPr lang="en-US" altLang="zh-CN"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Ningxia</a:t>
            </a:r>
            <a:endParaRPr lang="en-CN" sz="1200" dirty="0" err="1">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32" name="Graphic 31" descr="Marker with solid fill">
            <a:extLst>
              <a:ext uri="{FF2B5EF4-FFF2-40B4-BE49-F238E27FC236}">
                <a16:creationId xmlns:a16="http://schemas.microsoft.com/office/drawing/2014/main" id="{637D4134-D30A-7F5C-6F77-274661DBE9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79699" y="3126564"/>
            <a:ext cx="393908" cy="393908"/>
          </a:xfrm>
          <a:prstGeom prst="rect">
            <a:avLst/>
          </a:prstGeom>
        </p:spPr>
      </p:pic>
      <p:sp>
        <p:nvSpPr>
          <p:cNvPr id="33" name="TextBox 32">
            <a:extLst>
              <a:ext uri="{FF2B5EF4-FFF2-40B4-BE49-F238E27FC236}">
                <a16:creationId xmlns:a16="http://schemas.microsoft.com/office/drawing/2014/main" id="{D2DB610F-B3AC-CB83-ADBA-44953D43F6CC}"/>
              </a:ext>
            </a:extLst>
          </p:cNvPr>
          <p:cNvSpPr txBox="1"/>
          <p:nvPr/>
        </p:nvSpPr>
        <p:spPr>
          <a:xfrm>
            <a:off x="5180322" y="3366540"/>
            <a:ext cx="914033" cy="461665"/>
          </a:xfrm>
          <a:prstGeom prst="rect">
            <a:avLst/>
          </a:prstGeom>
          <a:noFill/>
        </p:spPr>
        <p:txBody>
          <a:bodyPr wrap="none" rtlCol="0">
            <a:spAutoFit/>
          </a:bodyPr>
          <a:lstStyle/>
          <a:p>
            <a:pPr algn="l"/>
            <a:r>
              <a:rPr lang="en-CN"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Fruitstand</a:t>
            </a:r>
          </a:p>
          <a:p>
            <a:pPr algn="l"/>
            <a:r>
              <a:rPr lang="en-CN"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North IDC</a:t>
            </a:r>
          </a:p>
        </p:txBody>
      </p:sp>
      <p:pic>
        <p:nvPicPr>
          <p:cNvPr id="34" name="Graphic 33" descr="Marker with solid fill">
            <a:extLst>
              <a:ext uri="{FF2B5EF4-FFF2-40B4-BE49-F238E27FC236}">
                <a16:creationId xmlns:a16="http://schemas.microsoft.com/office/drawing/2014/main" id="{9E299F61-AA0A-32AE-DE01-DE8162358B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8648" y="3315295"/>
            <a:ext cx="393908" cy="393908"/>
          </a:xfrm>
          <a:prstGeom prst="rect">
            <a:avLst/>
          </a:prstGeom>
        </p:spPr>
      </p:pic>
      <p:pic>
        <p:nvPicPr>
          <p:cNvPr id="35" name="Graphic 34" descr="Marker with solid fill">
            <a:extLst>
              <a:ext uri="{FF2B5EF4-FFF2-40B4-BE49-F238E27FC236}">
                <a16:creationId xmlns:a16="http://schemas.microsoft.com/office/drawing/2014/main" id="{DCFA50B2-6881-FF22-CFDD-50D14BF1B3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99566" y="3784358"/>
            <a:ext cx="393908" cy="393908"/>
          </a:xfrm>
          <a:prstGeom prst="rect">
            <a:avLst/>
          </a:prstGeom>
        </p:spPr>
      </p:pic>
      <p:pic>
        <p:nvPicPr>
          <p:cNvPr id="36" name="Graphic 35" descr="Marker with solid fill">
            <a:extLst>
              <a:ext uri="{FF2B5EF4-FFF2-40B4-BE49-F238E27FC236}">
                <a16:creationId xmlns:a16="http://schemas.microsoft.com/office/drawing/2014/main" id="{1EFADF70-7A1A-99C2-4EAA-9C1F410E8D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48264" y="5489599"/>
            <a:ext cx="393908" cy="393908"/>
          </a:xfrm>
          <a:prstGeom prst="rect">
            <a:avLst/>
          </a:prstGeom>
        </p:spPr>
      </p:pic>
      <p:sp>
        <p:nvSpPr>
          <p:cNvPr id="37" name="TextBox 36">
            <a:extLst>
              <a:ext uri="{FF2B5EF4-FFF2-40B4-BE49-F238E27FC236}">
                <a16:creationId xmlns:a16="http://schemas.microsoft.com/office/drawing/2014/main" id="{6DF860BB-49D5-A319-8393-1F61106EAB03}"/>
              </a:ext>
            </a:extLst>
          </p:cNvPr>
          <p:cNvSpPr txBox="1"/>
          <p:nvPr/>
        </p:nvSpPr>
        <p:spPr>
          <a:xfrm>
            <a:off x="4595369" y="5781872"/>
            <a:ext cx="936475" cy="461665"/>
          </a:xfrm>
          <a:prstGeom prst="rect">
            <a:avLst/>
          </a:prstGeom>
          <a:noFill/>
        </p:spPr>
        <p:txBody>
          <a:bodyPr wrap="none" rtlCol="0">
            <a:spAutoFit/>
          </a:bodyPr>
          <a:lstStyle/>
          <a:p>
            <a:pPr algn="l"/>
            <a:r>
              <a:rPr lang="en-CN"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Fruitstand </a:t>
            </a:r>
          </a:p>
          <a:p>
            <a:pPr algn="l"/>
            <a:r>
              <a:rPr lang="en-CN" sz="12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South IDC</a:t>
            </a:r>
          </a:p>
        </p:txBody>
      </p:sp>
      <p:sp>
        <p:nvSpPr>
          <p:cNvPr id="38" name="TextBox 37">
            <a:extLst>
              <a:ext uri="{FF2B5EF4-FFF2-40B4-BE49-F238E27FC236}">
                <a16:creationId xmlns:a16="http://schemas.microsoft.com/office/drawing/2014/main" id="{270720E2-FF46-1DF8-0316-1D7D95B8442F}"/>
              </a:ext>
            </a:extLst>
          </p:cNvPr>
          <p:cNvSpPr txBox="1"/>
          <p:nvPr/>
        </p:nvSpPr>
        <p:spPr>
          <a:xfrm>
            <a:off x="8761612" y="1396171"/>
            <a:ext cx="5229317" cy="4201150"/>
          </a:xfrm>
          <a:prstGeom prst="rect">
            <a:avLst/>
          </a:prstGeom>
          <a:noFill/>
        </p:spPr>
        <p:txBody>
          <a:bodyPr wrap="none" rtlCol="0">
            <a:spAutoFit/>
          </a:bodyPr>
          <a:lstStyle/>
          <a:p>
            <a:pPr algn="l"/>
            <a:r>
              <a:rPr lang="en-CN" sz="2900" dirty="0">
                <a:latin typeface="Amazon Ember" panose="020B0603020204020204" pitchFamily="34" charset="0"/>
                <a:ea typeface="Amazon Ember" panose="020B0603020204020204" pitchFamily="34" charset="0"/>
                <a:cs typeface="Amazon Ember" panose="020B0603020204020204" pitchFamily="34" charset="0"/>
              </a:rPr>
              <a:t>Straight</a:t>
            </a:r>
            <a:r>
              <a:rPr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lang="en-CN" sz="2900" dirty="0">
                <a:latin typeface="Amazon Ember" panose="020B0603020204020204" pitchFamily="34" charset="0"/>
                <a:ea typeface="Amazon Ember" panose="020B0603020204020204" pitchFamily="34" charset="0"/>
                <a:cs typeface="Amazon Ember" panose="020B0603020204020204" pitchFamily="34" charset="0"/>
              </a:rPr>
              <a:t>Distance:</a:t>
            </a:r>
          </a:p>
          <a:p>
            <a:pPr algn="l"/>
            <a:endParaRPr lang="en-CN" sz="29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lgn="l">
              <a:buFont typeface="Arial" panose="020B0604020202020204" pitchFamily="34" charset="0"/>
              <a:buChar char="•"/>
            </a:pPr>
            <a:r>
              <a:rPr lang="en-CN" sz="1600" dirty="0">
                <a:latin typeface="Amazon Ember" panose="020B0603020204020204" pitchFamily="34" charset="0"/>
                <a:ea typeface="Amazon Ember" panose="020B0603020204020204" pitchFamily="34" charset="0"/>
                <a:cs typeface="Amazon Ember" panose="020B0603020204020204" pitchFamily="34" charset="0"/>
              </a:rPr>
              <a:t>FS North IDC between AWS Beijing about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307KM</a:t>
            </a:r>
          </a:p>
          <a:p>
            <a:pPr marL="285750" indent="-285750" algn="l">
              <a:buFont typeface="Arial" panose="020B0604020202020204" pitchFamily="34" charset="0"/>
              <a:buChar char="•"/>
            </a:pPr>
            <a:endParaRPr lang="en-US" altLang="zh-CN" sz="16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FS</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North</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IDC</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between</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AWS</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Ningxia</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about</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788KM</a:t>
            </a:r>
          </a:p>
          <a:p>
            <a:pPr marL="285750" indent="-285750" algn="l">
              <a:buFont typeface="Arial" panose="020B0604020202020204" pitchFamily="34" charset="0"/>
              <a:buChar char="•"/>
            </a:pPr>
            <a:endParaRPr lang="en-US" altLang="zh-CN" sz="16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lgn="l">
              <a:buFont typeface="Arial" panose="020B0604020202020204" pitchFamily="34" charset="0"/>
              <a:buChar char="•"/>
            </a:pP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FS</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South</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IDC</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between</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AWS</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Beijing</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about</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1659KM</a:t>
            </a:r>
          </a:p>
          <a:p>
            <a:pPr algn="l"/>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lgn="l">
              <a:buFont typeface="Arial" panose="020B0604020202020204" pitchFamily="34" charset="0"/>
              <a:buChar char="•"/>
            </a:pPr>
            <a:r>
              <a:rPr lang="en-CN" sz="1600" dirty="0">
                <a:latin typeface="Amazon Ember" panose="020B0603020204020204" pitchFamily="34" charset="0"/>
                <a:ea typeface="Amazon Ember" panose="020B0603020204020204" pitchFamily="34" charset="0"/>
                <a:cs typeface="Amazon Ember" panose="020B0603020204020204" pitchFamily="34" charset="0"/>
              </a:rPr>
              <a:t>FS</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South</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IDC</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between</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AWS</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Ningxia</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about</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1155KM</a:t>
            </a:r>
          </a:p>
          <a:p>
            <a:pPr marL="285750" indent="-285750" algn="l">
              <a:buFont typeface="Arial" panose="020B0604020202020204" pitchFamily="34" charset="0"/>
              <a:buChar char="•"/>
            </a:pP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lgn="l">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FS North IDC between FS South IDC about 1623KM</a:t>
            </a:r>
            <a:endParaRPr lang="en-CN" sz="1600" dirty="0">
              <a:latin typeface="Amazon Ember" panose="020B0603020204020204" pitchFamily="34" charset="0"/>
              <a:ea typeface="Amazon Ember" panose="020B0603020204020204" pitchFamily="34" charset="0"/>
              <a:cs typeface="Amazon Ember" panose="020B0603020204020204" pitchFamily="34" charset="0"/>
            </a:endParaRPr>
          </a:p>
          <a:p>
            <a:pPr algn="l"/>
            <a:endParaRPr lang="en-CN" sz="2900" dirty="0">
              <a:latin typeface="Amazon Ember" panose="020B0603020204020204" pitchFamily="34" charset="0"/>
              <a:ea typeface="Amazon Ember" panose="020B0603020204020204" pitchFamily="34" charset="0"/>
              <a:cs typeface="Amazon Ember" panose="020B0603020204020204" pitchFamily="34" charset="0"/>
            </a:endParaRPr>
          </a:p>
          <a:p>
            <a:pPr algn="l"/>
            <a:endParaRPr lang="en-US" sz="1800" dirty="0">
              <a:latin typeface="Amazon Ember" panose="020B0603020204020204" pitchFamily="34" charset="0"/>
              <a:ea typeface="Amazon Ember" panose="020B0603020204020204" pitchFamily="34" charset="0"/>
              <a:cs typeface="Amazon Ember" panose="020B0603020204020204" pitchFamily="34" charset="0"/>
            </a:endParaRPr>
          </a:p>
          <a:p>
            <a:pPr algn="l"/>
            <a:endParaRPr lang="en-CN" sz="1800" dirty="0" err="1">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889714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C0FBD-6619-056E-D80B-DE197529EB25}"/>
              </a:ext>
            </a:extLst>
          </p:cNvPr>
          <p:cNvSpPr txBox="1">
            <a:spLocks/>
          </p:cNvSpPr>
          <p:nvPr/>
        </p:nvSpPr>
        <p:spPr>
          <a:xfrm>
            <a:off x="548640" y="183898"/>
            <a:ext cx="13510260" cy="993392"/>
          </a:xfrm>
          <a:prstGeom prst="rect">
            <a:avLst/>
          </a:prstGeom>
        </p:spPr>
        <p:txBody>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altLang="zh-CN" sz="3200" dirty="0"/>
              <a:t>SA insight – iCloud</a:t>
            </a:r>
            <a:r>
              <a:rPr lang="zh-CN" altLang="en-US" sz="3200" dirty="0"/>
              <a:t> </a:t>
            </a:r>
            <a:r>
              <a:rPr lang="en-US" altLang="zh-CN" sz="3200" dirty="0"/>
              <a:t>Storage</a:t>
            </a:r>
            <a:r>
              <a:rPr lang="zh-CN" altLang="en-US" sz="3200" dirty="0"/>
              <a:t> </a:t>
            </a:r>
            <a:r>
              <a:rPr lang="en-US" altLang="zh-CN" sz="3200" dirty="0"/>
              <a:t>has</a:t>
            </a:r>
            <a:r>
              <a:rPr lang="zh-CN" altLang="en-US" sz="3200" dirty="0"/>
              <a:t> </a:t>
            </a:r>
            <a:r>
              <a:rPr lang="en-CN" altLang="zh-CN" sz="3200" dirty="0"/>
              <a:t>ran</a:t>
            </a:r>
            <a:r>
              <a:rPr lang="zh-CN" altLang="en-US" sz="3200" dirty="0"/>
              <a:t> </a:t>
            </a:r>
            <a:r>
              <a:rPr lang="en-US" altLang="zh-CN" sz="3200" dirty="0"/>
              <a:t>for</a:t>
            </a:r>
            <a:r>
              <a:rPr lang="zh-CN" altLang="en-US" sz="3200" dirty="0"/>
              <a:t> </a:t>
            </a:r>
            <a:r>
              <a:rPr lang="en-US" altLang="zh-CN" sz="3200" dirty="0"/>
              <a:t>6</a:t>
            </a:r>
            <a:r>
              <a:rPr lang="zh-CN" altLang="en-US" sz="3200" dirty="0"/>
              <a:t> </a:t>
            </a:r>
            <a:r>
              <a:rPr lang="en-US" altLang="zh-CN" sz="3200" dirty="0"/>
              <a:t>years</a:t>
            </a:r>
            <a:endParaRPr lang="en-US" sz="3200" dirty="0"/>
          </a:p>
        </p:txBody>
      </p:sp>
      <p:sp>
        <p:nvSpPr>
          <p:cNvPr id="10" name="Right Arrow 9">
            <a:extLst>
              <a:ext uri="{FF2B5EF4-FFF2-40B4-BE49-F238E27FC236}">
                <a16:creationId xmlns:a16="http://schemas.microsoft.com/office/drawing/2014/main" id="{72A594E7-564E-8C2F-E772-25849C867317}"/>
              </a:ext>
            </a:extLst>
          </p:cNvPr>
          <p:cNvSpPr/>
          <p:nvPr/>
        </p:nvSpPr>
        <p:spPr>
          <a:xfrm>
            <a:off x="814387" y="5086355"/>
            <a:ext cx="12472987" cy="385762"/>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N" dirty="0"/>
          </a:p>
        </p:txBody>
      </p:sp>
      <p:cxnSp>
        <p:nvCxnSpPr>
          <p:cNvPr id="12" name="Straight Arrow Connector 11">
            <a:extLst>
              <a:ext uri="{FF2B5EF4-FFF2-40B4-BE49-F238E27FC236}">
                <a16:creationId xmlns:a16="http://schemas.microsoft.com/office/drawing/2014/main" id="{56A082B8-89AF-E8DB-92ED-54C6DB45FB57}"/>
              </a:ext>
            </a:extLst>
          </p:cNvPr>
          <p:cNvCxnSpPr/>
          <p:nvPr/>
        </p:nvCxnSpPr>
        <p:spPr>
          <a:xfrm>
            <a:off x="6172223" y="5472117"/>
            <a:ext cx="0" cy="5857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B9DC296-321C-92F6-A194-2C7684600FEC}"/>
              </a:ext>
            </a:extLst>
          </p:cNvPr>
          <p:cNvSpPr txBox="1"/>
          <p:nvPr/>
        </p:nvSpPr>
        <p:spPr>
          <a:xfrm>
            <a:off x="4957786" y="6105083"/>
            <a:ext cx="2428874" cy="1077218"/>
          </a:xfrm>
          <a:prstGeom prst="rect">
            <a:avLst/>
          </a:prstGeom>
          <a:noFill/>
        </p:spPr>
        <p:txBody>
          <a:bodyPr wrap="square" rtlCol="0">
            <a:spAutoFit/>
          </a:bodyPr>
          <a:lstStyle/>
          <a:p>
            <a:pPr algn="l"/>
            <a:r>
              <a:rPr lang="en-US" altLang="zh-CN" sz="1600" dirty="0">
                <a:latin typeface="Amazon Ember" panose="020B0603020204020204" pitchFamily="34" charset="0"/>
                <a:ea typeface="Amazon Ember" panose="020B0603020204020204" pitchFamily="34" charset="0"/>
                <a:cs typeface="Amazon Ember" panose="020B0603020204020204" pitchFamily="34" charset="0"/>
              </a:rPr>
              <a:t>2018-02-28 </a:t>
            </a:r>
            <a:r>
              <a:rPr lang="en-US" altLang="zh-CN" sz="1600" dirty="0" err="1">
                <a:latin typeface="Amazon Ember" panose="020B0603020204020204" pitchFamily="34" charset="0"/>
                <a:ea typeface="Amazon Ember" panose="020B0603020204020204" pitchFamily="34" charset="0"/>
                <a:cs typeface="Amazon Ember" panose="020B0603020204020204" pitchFamily="34" charset="0"/>
              </a:rPr>
              <a:t>Fruistand</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 migrate all China user’s data from US to China Guizhou Cloud</a:t>
            </a:r>
            <a:endParaRPr lang="en-CN" sz="1600" dirty="0" err="1">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15" name="Straight Arrow Connector 14">
            <a:extLst>
              <a:ext uri="{FF2B5EF4-FFF2-40B4-BE49-F238E27FC236}">
                <a16:creationId xmlns:a16="http://schemas.microsoft.com/office/drawing/2014/main" id="{2E71A2FE-E119-C82F-8BF0-C1CAF18B6A96}"/>
              </a:ext>
            </a:extLst>
          </p:cNvPr>
          <p:cNvCxnSpPr>
            <a:cxnSpLocks/>
          </p:cNvCxnSpPr>
          <p:nvPr/>
        </p:nvCxnSpPr>
        <p:spPr>
          <a:xfrm flipV="1">
            <a:off x="1952632" y="4514860"/>
            <a:ext cx="0" cy="5714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F8D51D9-186B-3662-182A-8B2ACD1B3D2B}"/>
              </a:ext>
            </a:extLst>
          </p:cNvPr>
          <p:cNvSpPr txBox="1"/>
          <p:nvPr/>
        </p:nvSpPr>
        <p:spPr>
          <a:xfrm>
            <a:off x="814387" y="3737352"/>
            <a:ext cx="2428874" cy="830997"/>
          </a:xfrm>
          <a:prstGeom prst="rect">
            <a:avLst/>
          </a:prstGeom>
          <a:noFill/>
        </p:spPr>
        <p:txBody>
          <a:bodyPr wrap="square" rtlCol="0">
            <a:spAutoFit/>
          </a:bodyPr>
          <a:lstStyle/>
          <a:p>
            <a:pPr algn="l"/>
            <a:r>
              <a:rPr lang="en-US" altLang="zh-CN" sz="1600" dirty="0">
                <a:latin typeface="Amazon Ember" panose="020B0603020204020204" pitchFamily="34" charset="0"/>
                <a:ea typeface="Amazon Ember" panose="020B0603020204020204" pitchFamily="34" charset="0"/>
                <a:cs typeface="Amazon Ember" panose="020B0603020204020204" pitchFamily="34" charset="0"/>
              </a:rPr>
              <a:t>2009</a:t>
            </a:r>
            <a:r>
              <a:rPr lang="zh-CN" altLang="en-US" sz="1600" dirty="0">
                <a:latin typeface="Amazon Ember" panose="020B0603020204020204" pitchFamily="34" charset="0"/>
                <a:ea typeface="Amazon Ember" panose="020B0603020204020204" pitchFamily="34" charset="0"/>
                <a:cs typeface="Amazon Ember" panose="020B0603020204020204" pitchFamily="34" charset="0"/>
              </a:rPr>
              <a:t> </a:t>
            </a:r>
            <a:r>
              <a:rPr lang="en-CN" altLang="zh-CN" sz="1600" dirty="0">
                <a:latin typeface="Amazon Ember" panose="020B0603020204020204" pitchFamily="34" charset="0"/>
                <a:ea typeface="Amazon Ember" panose="020B0603020204020204" pitchFamily="34" charset="0"/>
                <a:cs typeface="Amazon Ember" panose="020B0603020204020204" pitchFamily="34" charset="0"/>
              </a:rPr>
              <a:t>Fruitstand worked with China Unicom selling </a:t>
            </a:r>
            <a:r>
              <a:rPr lang="en-US" altLang="zh-CN" sz="1600" dirty="0">
                <a:latin typeface="Amazon Ember" panose="020B0603020204020204" pitchFamily="34" charset="0"/>
                <a:ea typeface="Amazon Ember" panose="020B0603020204020204" pitchFamily="34" charset="0"/>
                <a:cs typeface="Amazon Ember" panose="020B0603020204020204" pitchFamily="34" charset="0"/>
              </a:rPr>
              <a:t>iPhone 3GS</a:t>
            </a:r>
            <a:endParaRPr lang="en-CN" sz="16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18" name="TextBox 17">
            <a:extLst>
              <a:ext uri="{FF2B5EF4-FFF2-40B4-BE49-F238E27FC236}">
                <a16:creationId xmlns:a16="http://schemas.microsoft.com/office/drawing/2014/main" id="{5938034E-6A26-E8CD-3FAD-981A5FD6ACFB}"/>
              </a:ext>
            </a:extLst>
          </p:cNvPr>
          <p:cNvSpPr txBox="1"/>
          <p:nvPr/>
        </p:nvSpPr>
        <p:spPr>
          <a:xfrm>
            <a:off x="4957786" y="7428520"/>
            <a:ext cx="5832046" cy="830997"/>
          </a:xfrm>
          <a:prstGeom prst="rect">
            <a:avLst/>
          </a:prstGeom>
          <a:noFill/>
        </p:spPr>
        <p:txBody>
          <a:bodyPr wrap="none" rtlCol="0">
            <a:spAutoFit/>
          </a:bodyPr>
          <a:lstStyle/>
          <a:p>
            <a:pPr algn="l"/>
            <a:r>
              <a:rPr lang="en-US" sz="1600" dirty="0">
                <a:latin typeface="Amazon Ember" panose="020B0603020204020204" pitchFamily="34" charset="0"/>
                <a:ea typeface="Amazon Ember" panose="020B0603020204020204" pitchFamily="34" charset="0"/>
                <a:cs typeface="Amazon Ember" panose="020B0603020204020204" pitchFamily="34" charset="0"/>
                <a:hlinkClick r:id="rId2"/>
              </a:rPr>
              <a:t>https://www.datacenters.com/apple-inc-guizhou</a:t>
            </a: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p>
            <a:pPr algn="l"/>
            <a:r>
              <a:rPr lang="en-US" sz="1600" dirty="0">
                <a:latin typeface="Amazon Ember" panose="020B0603020204020204" pitchFamily="34" charset="0"/>
                <a:ea typeface="Amazon Ember" panose="020B0603020204020204" pitchFamily="34" charset="0"/>
                <a:cs typeface="Amazon Ember" panose="020B0603020204020204" pitchFamily="34" charset="0"/>
                <a:hlinkClick r:id="rId3"/>
              </a:rPr>
              <a:t>https://www.163.com/dy/article/H271OVBV051180F7.html</a:t>
            </a: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p>
            <a:pPr algn="l"/>
            <a:endParaRPr lang="en-CN" sz="1600" dirty="0" err="1">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9" name="Picture 18">
            <a:extLst>
              <a:ext uri="{FF2B5EF4-FFF2-40B4-BE49-F238E27FC236}">
                <a16:creationId xmlns:a16="http://schemas.microsoft.com/office/drawing/2014/main" id="{685D721A-FE8F-4ACE-CA48-135C4FDE0F25}"/>
              </a:ext>
            </a:extLst>
          </p:cNvPr>
          <p:cNvPicPr>
            <a:picLocks noChangeAspect="1"/>
          </p:cNvPicPr>
          <p:nvPr/>
        </p:nvPicPr>
        <p:blipFill>
          <a:blip r:embed="rId4"/>
          <a:stretch>
            <a:fillRect/>
          </a:stretch>
        </p:blipFill>
        <p:spPr>
          <a:xfrm>
            <a:off x="7294908" y="6157148"/>
            <a:ext cx="2913073" cy="1219307"/>
          </a:xfrm>
          <a:prstGeom prst="rect">
            <a:avLst/>
          </a:prstGeom>
        </p:spPr>
      </p:pic>
      <p:cxnSp>
        <p:nvCxnSpPr>
          <p:cNvPr id="20" name="Straight Arrow Connector 19">
            <a:extLst>
              <a:ext uri="{FF2B5EF4-FFF2-40B4-BE49-F238E27FC236}">
                <a16:creationId xmlns:a16="http://schemas.microsoft.com/office/drawing/2014/main" id="{5BABC5B5-EE1D-02E9-8809-B48A8D7E7AFD}"/>
              </a:ext>
            </a:extLst>
          </p:cNvPr>
          <p:cNvCxnSpPr>
            <a:cxnSpLocks/>
          </p:cNvCxnSpPr>
          <p:nvPr/>
        </p:nvCxnSpPr>
        <p:spPr>
          <a:xfrm flipV="1">
            <a:off x="12249157" y="4568349"/>
            <a:ext cx="0" cy="5714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278A832-F274-996D-0DA4-453959BC9BB3}"/>
              </a:ext>
            </a:extLst>
          </p:cNvPr>
          <p:cNvSpPr txBox="1"/>
          <p:nvPr/>
        </p:nvSpPr>
        <p:spPr>
          <a:xfrm>
            <a:off x="9682161" y="2927469"/>
            <a:ext cx="4648191" cy="1569660"/>
          </a:xfrm>
          <a:prstGeom prst="rect">
            <a:avLst/>
          </a:prstGeom>
          <a:noFill/>
        </p:spPr>
        <p:txBody>
          <a:bodyPr wrap="square" rtlCol="0">
            <a:spAutoFit/>
          </a:bodyPr>
          <a:lstStyle/>
          <a:p>
            <a:pPr algn="l"/>
            <a:r>
              <a:rPr lang="en-US" sz="1600" dirty="0">
                <a:latin typeface="Amazon Ember" panose="020B0603020204020204" pitchFamily="34" charset="0"/>
                <a:ea typeface="Amazon Ember" panose="020B0603020204020204" pitchFamily="34" charset="0"/>
                <a:cs typeface="Amazon Ember" panose="020B0603020204020204" pitchFamily="34" charset="0"/>
              </a:rPr>
              <a:t>2023-05-11, Apple officially updated the global Apple service status information at around 5:15 pm Beijing time on May 11, 2023. The company acknowledged that the "iCloud Account and Sign In" and "iCloud Mail" services experienced an outage from 3:27 pm to 4:10 pm.</a:t>
            </a:r>
            <a:endParaRPr lang="en-CN" sz="16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22" name="TextBox 21">
            <a:extLst>
              <a:ext uri="{FF2B5EF4-FFF2-40B4-BE49-F238E27FC236}">
                <a16:creationId xmlns:a16="http://schemas.microsoft.com/office/drawing/2014/main" id="{B797F8B7-7672-C895-5130-25DFB79ED8BA}"/>
              </a:ext>
            </a:extLst>
          </p:cNvPr>
          <p:cNvSpPr txBox="1"/>
          <p:nvPr/>
        </p:nvSpPr>
        <p:spPr>
          <a:xfrm>
            <a:off x="7114342" y="4568349"/>
            <a:ext cx="4373313" cy="584775"/>
          </a:xfrm>
          <a:prstGeom prst="rect">
            <a:avLst/>
          </a:prstGeom>
          <a:noFill/>
        </p:spPr>
        <p:txBody>
          <a:bodyPr wrap="none" rtlCol="0">
            <a:spAutoFit/>
          </a:bodyPr>
          <a:lstStyle/>
          <a:p>
            <a:pPr algn="l"/>
            <a:r>
              <a:rPr lang="en-CN" sz="16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Only find iCloud</a:t>
            </a:r>
            <a:r>
              <a:rPr lang="zh-CN" altLang="en-US" sz="16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 </a:t>
            </a:r>
            <a:r>
              <a:rPr lang="en-US" altLang="zh-CN" sz="16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Global Outage information, </a:t>
            </a:r>
          </a:p>
          <a:p>
            <a:pPr algn="l"/>
            <a:r>
              <a:rPr lang="en-US" altLang="zh-CN" sz="1600" dirty="0">
                <a:solidFill>
                  <a:srgbClr val="FF9900"/>
                </a:solidFill>
                <a:latin typeface="Amazon Ember" panose="020B0603020204020204" pitchFamily="34" charset="0"/>
                <a:ea typeface="Amazon Ember" panose="020B0603020204020204" pitchFamily="34" charset="0"/>
                <a:cs typeface="Amazon Ember" panose="020B0603020204020204" pitchFamily="34" charset="0"/>
              </a:rPr>
              <a:t>no iCloud China Outage information.</a:t>
            </a:r>
            <a:endParaRPr lang="en-CN" sz="1600" dirty="0" err="1">
              <a:solidFill>
                <a:srgbClr val="FF99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Rectangle 22">
            <a:extLst>
              <a:ext uri="{FF2B5EF4-FFF2-40B4-BE49-F238E27FC236}">
                <a16:creationId xmlns:a16="http://schemas.microsoft.com/office/drawing/2014/main" id="{EC72D462-CD38-3397-98CF-548524845675}"/>
              </a:ext>
            </a:extLst>
          </p:cNvPr>
          <p:cNvSpPr/>
          <p:nvPr/>
        </p:nvSpPr>
        <p:spPr>
          <a:xfrm>
            <a:off x="6286499" y="4538797"/>
            <a:ext cx="6772251" cy="101566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N" dirty="0"/>
          </a:p>
        </p:txBody>
      </p:sp>
      <p:sp>
        <p:nvSpPr>
          <p:cNvPr id="4" name="TextBox 3">
            <a:extLst>
              <a:ext uri="{FF2B5EF4-FFF2-40B4-BE49-F238E27FC236}">
                <a16:creationId xmlns:a16="http://schemas.microsoft.com/office/drawing/2014/main" id="{4C211108-2210-551A-36BC-5DA4DCEBE415}"/>
              </a:ext>
            </a:extLst>
          </p:cNvPr>
          <p:cNvSpPr txBox="1"/>
          <p:nvPr/>
        </p:nvSpPr>
        <p:spPr>
          <a:xfrm>
            <a:off x="902385" y="1308618"/>
            <a:ext cx="6211957" cy="2200602"/>
          </a:xfrm>
          <a:prstGeom prst="rect">
            <a:avLst/>
          </a:prstGeom>
          <a:noFill/>
        </p:spPr>
        <p:txBody>
          <a:bodyPr wrap="none" rtlCol="0">
            <a:spAutoFit/>
          </a:bodyPr>
          <a:lstStyle/>
          <a:p>
            <a:pPr algn="l"/>
            <a:r>
              <a:rPr lang="en-CN" sz="2900" dirty="0">
                <a:latin typeface="Amazon Ember" panose="020B0603020204020204" pitchFamily="34" charset="0"/>
                <a:ea typeface="Amazon Ember" panose="020B0603020204020204" pitchFamily="34" charset="0"/>
                <a:cs typeface="Amazon Ember" panose="020B0603020204020204" pitchFamily="34" charset="0"/>
              </a:rPr>
              <a:t>Currently</a:t>
            </a:r>
            <a:r>
              <a:rPr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900" dirty="0">
                <a:latin typeface="Amazon Ember" panose="020B0603020204020204" pitchFamily="34" charset="0"/>
                <a:ea typeface="Amazon Ember" panose="020B0603020204020204" pitchFamily="34" charset="0"/>
                <a:cs typeface="Amazon Ember" panose="020B0603020204020204" pitchFamily="34" charset="0"/>
              </a:rPr>
              <a:t>6</a:t>
            </a:r>
            <a:r>
              <a:rPr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2900" dirty="0">
                <a:latin typeface="Amazon Ember" panose="020B0603020204020204" pitchFamily="34" charset="0"/>
                <a:ea typeface="Amazon Ember" panose="020B0603020204020204" pitchFamily="34" charset="0"/>
                <a:cs typeface="Amazon Ember" panose="020B0603020204020204" pitchFamily="34" charset="0"/>
              </a:rPr>
              <a:t>Storage vendors</a:t>
            </a:r>
            <a:r>
              <a:rPr lang="zh-CN" altLang="en-US" sz="2900" dirty="0">
                <a:latin typeface="Amazon Ember" panose="020B0603020204020204" pitchFamily="34" charset="0"/>
                <a:ea typeface="Amazon Ember" panose="020B0603020204020204" pitchFamily="34" charset="0"/>
                <a:cs typeface="Amazon Ember" panose="020B0603020204020204" pitchFamily="34" charset="0"/>
              </a:rPr>
              <a:t>：</a:t>
            </a:r>
            <a:endParaRPr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marL="285750" indent="-285750" algn="l">
              <a:buFont typeface="Arial" panose="020B0604020202020204" pitchFamily="34" charset="0"/>
              <a:buChar char="•"/>
            </a:pP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China</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Telco</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Self-build</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Storage</a:t>
            </a:r>
          </a:p>
          <a:p>
            <a:pPr marL="285750" indent="-285750" algn="l">
              <a:buFont typeface="Arial" panose="020B0604020202020204" pitchFamily="34" charset="0"/>
              <a:buChar char="•"/>
            </a:pPr>
            <a:r>
              <a:rPr lang="en-US" sz="1800" dirty="0">
                <a:latin typeface="Amazon Ember" panose="020B0603020204020204" pitchFamily="34" charset="0"/>
                <a:ea typeface="Amazon Ember" panose="020B0603020204020204" pitchFamily="34" charset="0"/>
                <a:cs typeface="Amazon Ember" panose="020B0603020204020204" pitchFamily="34" charset="0"/>
              </a:rPr>
              <a:t>China</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Mobile</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Self-build</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Storage</a:t>
            </a:r>
          </a:p>
          <a:p>
            <a:pPr marL="285750" indent="-285750" algn="l">
              <a:buFont typeface="Arial" panose="020B0604020202020204" pitchFamily="34" charset="0"/>
              <a:buChar char="•"/>
            </a:pPr>
            <a:r>
              <a:rPr lang="en-US" sz="1800" dirty="0">
                <a:latin typeface="Amazon Ember" panose="020B0603020204020204" pitchFamily="34" charset="0"/>
                <a:ea typeface="Amazon Ember" panose="020B0603020204020204" pitchFamily="34" charset="0"/>
                <a:cs typeface="Amazon Ember" panose="020B0603020204020204" pitchFamily="34" charset="0"/>
              </a:rPr>
              <a:t>China</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Unicom</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IBM</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storage, but will use self-build too</a:t>
            </a:r>
          </a:p>
          <a:p>
            <a:pPr marL="285750" indent="-285750" algn="l">
              <a:buFont typeface="Arial" panose="020B0604020202020204" pitchFamily="34" charset="0"/>
              <a:buChar char="•"/>
            </a:pPr>
            <a:r>
              <a:rPr lang="en-US" sz="1800" dirty="0">
                <a:latin typeface="Amazon Ember" panose="020B0603020204020204" pitchFamily="34" charset="0"/>
                <a:ea typeface="Amazon Ember" panose="020B0603020204020204" pitchFamily="34" charset="0"/>
                <a:cs typeface="Amazon Ember" panose="020B0603020204020204" pitchFamily="34" charset="0"/>
              </a:rPr>
              <a:t>Baidu</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Cloud – Object storage</a:t>
            </a:r>
          </a:p>
          <a:p>
            <a:pPr marL="285750" indent="-285750" algn="l">
              <a:buFont typeface="Arial" panose="020B0604020202020204" pitchFamily="34" charset="0"/>
              <a:buChar char="•"/>
            </a:pPr>
            <a:r>
              <a:rPr lang="en-US" sz="1800" dirty="0">
                <a:latin typeface="Amazon Ember" panose="020B0603020204020204" pitchFamily="34" charset="0"/>
                <a:ea typeface="Amazon Ember" panose="020B0603020204020204" pitchFamily="34" charset="0"/>
                <a:cs typeface="Amazon Ember" panose="020B0603020204020204" pitchFamily="34" charset="0"/>
              </a:rPr>
              <a:t>Alibaba</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Cloud - Object</a:t>
            </a:r>
            <a:r>
              <a:rPr lang="zh-CN" altLang="en-US" sz="1800" dirty="0">
                <a:latin typeface="Amazon Ember" panose="020B0603020204020204" pitchFamily="34" charset="0"/>
                <a:ea typeface="Amazon Ember" panose="020B0603020204020204" pitchFamily="34" charset="0"/>
                <a:cs typeface="Amazon Ember" panose="020B0603020204020204" pitchFamily="34" charset="0"/>
              </a:rPr>
              <a:t> </a:t>
            </a:r>
            <a:r>
              <a:rPr lang="en-US" altLang="zh-CN" sz="1800" dirty="0">
                <a:latin typeface="Amazon Ember" panose="020B0603020204020204" pitchFamily="34" charset="0"/>
                <a:ea typeface="Amazon Ember" panose="020B0603020204020204" pitchFamily="34" charset="0"/>
                <a:cs typeface="Amazon Ember" panose="020B0603020204020204" pitchFamily="34" charset="0"/>
              </a:rPr>
              <a:t>storage</a:t>
            </a:r>
          </a:p>
          <a:p>
            <a:pPr marL="285750" indent="-285750" algn="l">
              <a:buFont typeface="Arial" panose="020B0604020202020204" pitchFamily="34" charset="0"/>
              <a:buChar char="•"/>
            </a:pPr>
            <a:r>
              <a:rPr lang="en-US" sz="1800" dirty="0">
                <a:latin typeface="Amazon Ember" panose="020B0603020204020204" pitchFamily="34" charset="0"/>
                <a:ea typeface="Amazon Ember" panose="020B0603020204020204" pitchFamily="34" charset="0"/>
                <a:cs typeface="Amazon Ember" panose="020B0603020204020204" pitchFamily="34" charset="0"/>
              </a:rPr>
              <a:t>Tencent</a:t>
            </a:r>
            <a:endParaRPr lang="en-CN" sz="1800" dirty="0" err="1">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674701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48751-3752-48F2-B011-7BEAB706EE9B}"/>
              </a:ext>
            </a:extLst>
          </p:cNvPr>
          <p:cNvSpPr>
            <a:spLocks noGrp="1"/>
          </p:cNvSpPr>
          <p:nvPr>
            <p:ph type="title"/>
          </p:nvPr>
        </p:nvSpPr>
        <p:spPr/>
        <p:txBody>
          <a:bodyPr/>
          <a:lstStyle/>
          <a:p>
            <a:r>
              <a:rPr lang="en-US" dirty="0"/>
              <a:t>iCloud Storage Draft RFI Study</a:t>
            </a:r>
          </a:p>
        </p:txBody>
      </p:sp>
      <p:graphicFrame>
        <p:nvGraphicFramePr>
          <p:cNvPr id="4" name="Table 4">
            <a:extLst>
              <a:ext uri="{FF2B5EF4-FFF2-40B4-BE49-F238E27FC236}">
                <a16:creationId xmlns:a16="http://schemas.microsoft.com/office/drawing/2014/main" id="{9DDFB684-DBFB-4B9E-B240-00844A3D6277}"/>
              </a:ext>
            </a:extLst>
          </p:cNvPr>
          <p:cNvGraphicFramePr>
            <a:graphicFrameLocks noGrp="1"/>
          </p:cNvGraphicFramePr>
          <p:nvPr>
            <p:extLst>
              <p:ext uri="{D42A27DB-BD31-4B8C-83A1-F6EECF244321}">
                <p14:modId xmlns:p14="http://schemas.microsoft.com/office/powerpoint/2010/main" val="167196576"/>
              </p:ext>
            </p:extLst>
          </p:nvPr>
        </p:nvGraphicFramePr>
        <p:xfrm>
          <a:off x="699994" y="2234564"/>
          <a:ext cx="13207551" cy="2926080"/>
        </p:xfrm>
        <a:graphic>
          <a:graphicData uri="http://schemas.openxmlformats.org/drawingml/2006/table">
            <a:tbl>
              <a:tblPr firstRow="1" bandRow="1">
                <a:tableStyleId>{5C22544A-7EE6-4342-B048-85BDC9FD1C3A}</a:tableStyleId>
              </a:tblPr>
              <a:tblGrid>
                <a:gridCol w="760730">
                  <a:extLst>
                    <a:ext uri="{9D8B030D-6E8A-4147-A177-3AD203B41FA5}">
                      <a16:colId xmlns:a16="http://schemas.microsoft.com/office/drawing/2014/main" val="957530616"/>
                    </a:ext>
                  </a:extLst>
                </a:gridCol>
                <a:gridCol w="6717324">
                  <a:extLst>
                    <a:ext uri="{9D8B030D-6E8A-4147-A177-3AD203B41FA5}">
                      <a16:colId xmlns:a16="http://schemas.microsoft.com/office/drawing/2014/main" val="964519709"/>
                    </a:ext>
                  </a:extLst>
                </a:gridCol>
                <a:gridCol w="5729497">
                  <a:extLst>
                    <a:ext uri="{9D8B030D-6E8A-4147-A177-3AD203B41FA5}">
                      <a16:colId xmlns:a16="http://schemas.microsoft.com/office/drawing/2014/main" val="134998242"/>
                    </a:ext>
                  </a:extLst>
                </a:gridCol>
              </a:tblGrid>
              <a:tr h="247691">
                <a:tc>
                  <a:txBody>
                    <a:bodyPr/>
                    <a:lstStyle/>
                    <a:p>
                      <a:pPr algn="ctr"/>
                      <a:r>
                        <a:rPr lang="en-US" sz="1600" dirty="0"/>
                        <a:t>GAPS</a:t>
                      </a:r>
                    </a:p>
                  </a:txBody>
                  <a:tcPr/>
                </a:tc>
                <a:tc>
                  <a:txBody>
                    <a:bodyPr/>
                    <a:lstStyle/>
                    <a:p>
                      <a:pPr algn="ctr"/>
                      <a:r>
                        <a:rPr lang="en-US" sz="1800" dirty="0"/>
                        <a:t>Draft RFI Terms</a:t>
                      </a:r>
                    </a:p>
                  </a:txBody>
                  <a:tcPr anchor="ctr"/>
                </a:tc>
                <a:tc>
                  <a:txBody>
                    <a:bodyPr/>
                    <a:lstStyle/>
                    <a:p>
                      <a:pPr algn="ctr"/>
                      <a:r>
                        <a:rPr lang="en-US" sz="1800" dirty="0"/>
                        <a:t>AWS S3 Standard Spec.</a:t>
                      </a:r>
                    </a:p>
                  </a:txBody>
                  <a:tcPr anchor="ctr"/>
                </a:tc>
                <a:extLst>
                  <a:ext uri="{0D108BD9-81ED-4DB2-BD59-A6C34878D82A}">
                    <a16:rowId xmlns:a16="http://schemas.microsoft.com/office/drawing/2014/main" val="2313754939"/>
                  </a:ext>
                </a:extLst>
              </a:tr>
              <a:tr h="227050">
                <a:tc>
                  <a:txBody>
                    <a:bodyPr/>
                    <a:lstStyle/>
                    <a:p>
                      <a:pPr algn="ctr"/>
                      <a:r>
                        <a:rPr lang="en-US" sz="1600" dirty="0"/>
                        <a:t>1</a:t>
                      </a:r>
                    </a:p>
                  </a:txBody>
                  <a:tcPr anchor="ctr"/>
                </a:tc>
                <a:tc>
                  <a:txBody>
                    <a:bodyPr/>
                    <a:lstStyle/>
                    <a:p>
                      <a:pPr marL="0" indent="0" algn="l" fontAlgn="t">
                        <a:buFont typeface="Arial" panose="020B0604020202020204" pitchFamily="34" charset="0"/>
                        <a:buNone/>
                      </a:pPr>
                      <a:r>
                        <a:rPr lang="en-US" sz="1600" b="0" i="0" u="none" strike="noStrike" dirty="0">
                          <a:solidFill>
                            <a:srgbClr val="2E2E2E"/>
                          </a:solidFill>
                          <a:effectLst/>
                          <a:latin typeface="Arial" panose="020B0604020202020204" pitchFamily="34" charset="0"/>
                          <a:cs typeface="Arial" panose="020B0604020202020204" pitchFamily="34" charset="0"/>
                        </a:rPr>
                        <a:t>Durability </a:t>
                      </a:r>
                      <a:r>
                        <a:rPr lang="en-US" sz="1600" b="1" i="0" u="none" strike="noStrike"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99.9999999999% (12 9’s)</a:t>
                      </a:r>
                    </a:p>
                  </a:txBody>
                  <a:tcPr anchor="ctr"/>
                </a:tc>
                <a:tc>
                  <a:txBody>
                    <a:bodyPr/>
                    <a:lstStyle/>
                    <a:p>
                      <a:pPr algn="l" fontAlgn="t"/>
                      <a:r>
                        <a:rPr lang="en-US" sz="1600" b="0" i="0" u="none" strike="noStrike" dirty="0">
                          <a:solidFill>
                            <a:srgbClr val="000000"/>
                          </a:solidFill>
                          <a:effectLst/>
                          <a:latin typeface="Arial" panose="020B0604020202020204" pitchFamily="34" charset="0"/>
                          <a:cs typeface="Arial" panose="020B0604020202020204" pitchFamily="34" charset="0"/>
                        </a:rPr>
                        <a:t>S3 provide </a:t>
                      </a:r>
                      <a:r>
                        <a:rPr lang="en-US" sz="1600" b="1" i="0" u="none" strike="noStrike"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11 9's </a:t>
                      </a:r>
                      <a:r>
                        <a:rPr lang="en-US" sz="1600" b="0" i="0" u="none" strike="noStrike" dirty="0">
                          <a:solidFill>
                            <a:srgbClr val="000000"/>
                          </a:solidFill>
                          <a:effectLst/>
                          <a:latin typeface="Arial" panose="020B0604020202020204" pitchFamily="34" charset="0"/>
                          <a:cs typeface="Arial" panose="020B0604020202020204" pitchFamily="34" charset="0"/>
                        </a:rPr>
                        <a:t>durability</a:t>
                      </a:r>
                    </a:p>
                  </a:txBody>
                  <a:tcPr anchor="ctr"/>
                </a:tc>
                <a:extLst>
                  <a:ext uri="{0D108BD9-81ED-4DB2-BD59-A6C34878D82A}">
                    <a16:rowId xmlns:a16="http://schemas.microsoft.com/office/drawing/2014/main" val="3393119361"/>
                  </a:ext>
                </a:extLst>
              </a:tr>
              <a:tr h="500542">
                <a:tc>
                  <a:txBody>
                    <a:bodyPr/>
                    <a:lstStyle/>
                    <a:p>
                      <a:pPr algn="ctr"/>
                      <a:r>
                        <a:rPr lang="en-US" sz="1600" dirty="0"/>
                        <a:t>2</a:t>
                      </a:r>
                    </a:p>
                  </a:txBody>
                  <a:tcPr anchor="ctr"/>
                </a:tc>
                <a:tc>
                  <a:txBody>
                    <a:bodyPr/>
                    <a:lstStyle/>
                    <a:p>
                      <a:pPr algn="l" fontAlgn="t"/>
                      <a:r>
                        <a:rPr lang="en-US" sz="1600" b="0" i="0" u="none" strike="noStrike" dirty="0">
                          <a:solidFill>
                            <a:srgbClr val="2E2E2E"/>
                          </a:solidFill>
                          <a:effectLst/>
                          <a:latin typeface="Arial" panose="020B0604020202020204" pitchFamily="34" charset="0"/>
                          <a:cs typeface="Arial" panose="020B0604020202020204" pitchFamily="34" charset="0"/>
                        </a:rPr>
                        <a:t>Must support at least two copies written on PUT when the service responds OK, and then in less than 15 mins we needs to be in sync with another data center </a:t>
                      </a:r>
                      <a:r>
                        <a:rPr lang="en-US" sz="1600" b="1" i="0" u="none" strike="noStrike"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no less than 50 miles/ 80 km away</a:t>
                      </a:r>
                    </a:p>
                  </a:txBody>
                  <a:tcPr anchor="ctr"/>
                </a:tc>
                <a:tc>
                  <a:txBody>
                    <a:bodyPr/>
                    <a:lstStyle/>
                    <a:p>
                      <a:pPr algn="l" fontAlgn="t"/>
                      <a:r>
                        <a:rPr lang="en-US" sz="1600" b="0" i="0" u="none" strike="noStrike" dirty="0">
                          <a:solidFill>
                            <a:srgbClr val="000000"/>
                          </a:solidFill>
                          <a:effectLst/>
                          <a:latin typeface="Arial" panose="020B0604020202020204" pitchFamily="34" charset="0"/>
                          <a:cs typeface="Arial" panose="020B0604020202020204" pitchFamily="34" charset="0"/>
                        </a:rPr>
                        <a:t>S3 store data in 3 AZ in each region to ensure data durability. Currently, BJS and ZHY data centers ad-hoc distance </a:t>
                      </a:r>
                      <a:r>
                        <a:rPr lang="en-US" sz="1600" b="1" i="0" u="none" strike="noStrike"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is up to 60 miles, not 100% sure no less than 80KM</a:t>
                      </a:r>
                    </a:p>
                  </a:txBody>
                  <a:tcPr anchor="ctr"/>
                </a:tc>
                <a:extLst>
                  <a:ext uri="{0D108BD9-81ED-4DB2-BD59-A6C34878D82A}">
                    <a16:rowId xmlns:a16="http://schemas.microsoft.com/office/drawing/2014/main" val="3613534213"/>
                  </a:ext>
                </a:extLst>
              </a:tr>
              <a:tr h="335414">
                <a:tc>
                  <a:txBody>
                    <a:bodyPr/>
                    <a:lstStyle/>
                    <a:p>
                      <a:pPr algn="ctr"/>
                      <a:r>
                        <a:rPr lang="en-US" sz="1600" dirty="0"/>
                        <a:t>3</a:t>
                      </a:r>
                    </a:p>
                  </a:txBody>
                  <a:tcPr anchor="ctr"/>
                </a:tc>
                <a:tc>
                  <a:txBody>
                    <a:bodyPr/>
                    <a:lstStyle/>
                    <a:p>
                      <a:pPr algn="l" fontAlgn="ctr"/>
                      <a:r>
                        <a:rPr lang="en-US" sz="1600" b="1" i="0" u="none" strike="noStrike" dirty="0">
                          <a:solidFill>
                            <a:srgbClr val="2E2E2E"/>
                          </a:solidFill>
                          <a:effectLst/>
                          <a:latin typeface="Arial" panose="020B0604020202020204" pitchFamily="34" charset="0"/>
                          <a:cs typeface="Arial" panose="020B0604020202020204" pitchFamily="34" charset="0"/>
                        </a:rPr>
                        <a:t>Concurrent connections </a:t>
                      </a:r>
                      <a:r>
                        <a:rPr lang="en-US" sz="1600" b="0" i="0" u="none" strike="noStrike" dirty="0">
                          <a:solidFill>
                            <a:srgbClr val="2E2E2E"/>
                          </a:solidFill>
                          <a:effectLst/>
                          <a:latin typeface="Arial" panose="020B0604020202020204" pitchFamily="34" charset="0"/>
                          <a:cs typeface="Arial" panose="020B0604020202020204" pitchFamily="34" charset="0"/>
                        </a:rPr>
                        <a:t>Supplier will provide access to a real-time performance graph </a:t>
                      </a:r>
                      <a:r>
                        <a:rPr lang="en-US" sz="1600" b="1" i="0" u="none" strike="noStrike"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showing the concurrent connections per second</a:t>
                      </a:r>
                      <a:r>
                        <a:rPr lang="en-US" sz="1600" b="0" i="0" u="none" strike="noStrike" dirty="0">
                          <a:solidFill>
                            <a:srgbClr val="2E2E2E"/>
                          </a:solidFill>
                          <a:effectLst/>
                          <a:latin typeface="Arial" panose="020B0604020202020204" pitchFamily="34" charset="0"/>
                          <a:cs typeface="Arial" panose="020B0604020202020204" pitchFamily="34" charset="0"/>
                        </a:rPr>
                        <a:t>, with maximum five-minute delay.</a:t>
                      </a:r>
                    </a:p>
                  </a:txBody>
                  <a:tcPr anchor="ctr"/>
                </a:tc>
                <a:tc>
                  <a:txBody>
                    <a:bodyPr/>
                    <a:lstStyle/>
                    <a:p>
                      <a:pPr algn="l" fontAlgn="t"/>
                      <a:r>
                        <a:rPr lang="en-US" sz="1600" b="0" i="0" u="none" strike="noStrike" dirty="0">
                          <a:solidFill>
                            <a:srgbClr val="000000"/>
                          </a:solidFill>
                          <a:effectLst/>
                          <a:latin typeface="Arial" panose="020B0604020202020204" pitchFamily="34" charset="0"/>
                          <a:cs typeface="Arial" panose="020B0604020202020204" pitchFamily="34" charset="0"/>
                        </a:rPr>
                        <a:t>S3 provide concurrent number of API </a:t>
                      </a:r>
                      <a:r>
                        <a:rPr lang="en-US" sz="1600" b="1" i="0" u="none" strike="noStrike"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 minutes</a:t>
                      </a:r>
                      <a:r>
                        <a:rPr lang="en-US" sz="1600" b="0" i="0" u="none" strike="noStrike" dirty="0">
                          <a:solidFill>
                            <a:srgbClr val="000000"/>
                          </a:solidFill>
                          <a:effectLst/>
                          <a:latin typeface="Arial" panose="020B0604020202020204" pitchFamily="34" charset="0"/>
                          <a:cs typeface="Arial" panose="020B0604020202020204" pitchFamily="34" charset="0"/>
                        </a:rPr>
                        <a:t> in CloudWatch or Bucket metrics</a:t>
                      </a:r>
                    </a:p>
                  </a:txBody>
                  <a:tcPr anchor="ctr"/>
                </a:tc>
                <a:extLst>
                  <a:ext uri="{0D108BD9-81ED-4DB2-BD59-A6C34878D82A}">
                    <a16:rowId xmlns:a16="http://schemas.microsoft.com/office/drawing/2014/main" val="2035350921"/>
                  </a:ext>
                </a:extLst>
              </a:tr>
              <a:tr h="335414">
                <a:tc>
                  <a:txBody>
                    <a:bodyPr/>
                    <a:lstStyle/>
                    <a:p>
                      <a:pPr algn="ctr"/>
                      <a:r>
                        <a:rPr lang="en-US" sz="1600" dirty="0"/>
                        <a:t>4</a:t>
                      </a:r>
                    </a:p>
                  </a:txBody>
                  <a:tcPr anchor="ctr"/>
                </a:tc>
                <a:tc>
                  <a:txBody>
                    <a:bodyPr/>
                    <a:lstStyle/>
                    <a:p>
                      <a:pPr algn="l" fontAlgn="ctr"/>
                      <a:r>
                        <a:rPr lang="en-US" sz="1600" b="1" i="0" u="none" strike="noStrike" dirty="0">
                          <a:solidFill>
                            <a:srgbClr val="2E2E2E"/>
                          </a:solidFill>
                          <a:effectLst/>
                          <a:latin typeface="Arial" panose="020B0604020202020204" pitchFamily="34" charset="0"/>
                          <a:cs typeface="Arial" panose="020B0604020202020204" pitchFamily="34" charset="0"/>
                        </a:rPr>
                        <a:t>User Access Log Reports. </a:t>
                      </a:r>
                      <a:r>
                        <a:rPr lang="en-US" sz="1600" b="0" i="0" u="none" strike="noStrike" dirty="0">
                          <a:solidFill>
                            <a:srgbClr val="2E2E2E"/>
                          </a:solidFill>
                          <a:effectLst/>
                          <a:latin typeface="Arial" panose="020B0604020202020204" pitchFamily="34" charset="0"/>
                          <a:cs typeface="Arial" panose="020B0604020202020204" pitchFamily="34" charset="0"/>
                        </a:rPr>
                        <a:t>Supplier will provide XXXXX with </a:t>
                      </a:r>
                      <a:r>
                        <a:rPr lang="en-US" sz="1600" b="1" i="0" u="none" strike="noStrike" dirty="0">
                          <a:solidFill>
                            <a:schemeClr val="accent1">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W3C-formatted</a:t>
                      </a:r>
                      <a:r>
                        <a:rPr lang="en-US" sz="1600" b="0" i="0" u="none" strike="noStrike" dirty="0">
                          <a:solidFill>
                            <a:srgbClr val="2E2E2E"/>
                          </a:solidFill>
                          <a:effectLst/>
                          <a:latin typeface="Arial" panose="020B0604020202020204" pitchFamily="34" charset="0"/>
                          <a:cs typeface="Arial" panose="020B0604020202020204" pitchFamily="34" charset="0"/>
                        </a:rPr>
                        <a:t> (http:// www.w3.org/TR/WD-logfile.html) access logs.</a:t>
                      </a:r>
                    </a:p>
                  </a:txBody>
                  <a:tcPr anchor="ctr"/>
                </a:tc>
                <a:tc>
                  <a:txBody>
                    <a:bodyPr/>
                    <a:lstStyle/>
                    <a:p>
                      <a:pPr algn="l" fontAlgn="t"/>
                      <a:r>
                        <a:rPr lang="en-US" sz="1600" b="0" i="0" u="none" strike="noStrike" dirty="0">
                          <a:solidFill>
                            <a:srgbClr val="000000"/>
                          </a:solidFill>
                          <a:effectLst/>
                          <a:latin typeface="Arial" panose="020B0604020202020204" pitchFamily="34" charset="0"/>
                          <a:cs typeface="Arial" panose="020B0604020202020204" pitchFamily="34" charset="0"/>
                        </a:rPr>
                        <a:t>S3 log do not support W3C format</a:t>
                      </a:r>
                    </a:p>
                  </a:txBody>
                  <a:tcPr anchor="ctr"/>
                </a:tc>
                <a:extLst>
                  <a:ext uri="{0D108BD9-81ED-4DB2-BD59-A6C34878D82A}">
                    <a16:rowId xmlns:a16="http://schemas.microsoft.com/office/drawing/2014/main" val="691660902"/>
                  </a:ext>
                </a:extLst>
              </a:tr>
            </a:tbl>
          </a:graphicData>
        </a:graphic>
      </p:graphicFrame>
    </p:spTree>
    <p:extLst>
      <p:ext uri="{BB962C8B-B14F-4D97-AF65-F5344CB8AC3E}">
        <p14:creationId xmlns:p14="http://schemas.microsoft.com/office/powerpoint/2010/main" val="1445756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53A21-7117-5B09-4636-51BAE8C57FC3}"/>
              </a:ext>
            </a:extLst>
          </p:cNvPr>
          <p:cNvSpPr>
            <a:spLocks noGrp="1"/>
          </p:cNvSpPr>
          <p:nvPr>
            <p:ph type="title"/>
          </p:nvPr>
        </p:nvSpPr>
        <p:spPr/>
        <p:txBody>
          <a:bodyPr/>
          <a:lstStyle/>
          <a:p>
            <a:r>
              <a:rPr lang="en-CN" dirty="0"/>
              <a:t>Storage requirement</a:t>
            </a:r>
            <a:r>
              <a:rPr lang="zh-CN" altLang="en-US" dirty="0"/>
              <a:t> </a:t>
            </a:r>
            <a:r>
              <a:rPr lang="en-US" altLang="zh-CN" dirty="0"/>
              <a:t>from</a:t>
            </a:r>
            <a:r>
              <a:rPr lang="zh-CN" altLang="en-US" dirty="0"/>
              <a:t> </a:t>
            </a:r>
            <a:r>
              <a:rPr lang="en-US" altLang="zh-CN" dirty="0"/>
              <a:t>China</a:t>
            </a:r>
            <a:r>
              <a:rPr lang="zh-CN" altLang="en-US" dirty="0"/>
              <a:t> </a:t>
            </a:r>
            <a:r>
              <a:rPr lang="en-US" altLang="zh-CN" dirty="0"/>
              <a:t>Mobile</a:t>
            </a:r>
            <a:r>
              <a:rPr lang="zh-CN" altLang="en-US" dirty="0"/>
              <a:t> </a:t>
            </a:r>
            <a:r>
              <a:rPr lang="en-US" altLang="zh-CN" dirty="0"/>
              <a:t>PFI</a:t>
            </a:r>
            <a:endParaRPr lang="en-CN" dirty="0"/>
          </a:p>
        </p:txBody>
      </p:sp>
      <p:graphicFrame>
        <p:nvGraphicFramePr>
          <p:cNvPr id="4" name="Table 3">
            <a:extLst>
              <a:ext uri="{FF2B5EF4-FFF2-40B4-BE49-F238E27FC236}">
                <a16:creationId xmlns:a16="http://schemas.microsoft.com/office/drawing/2014/main" id="{42282ADA-20ED-8548-6874-5F5EA03457C4}"/>
              </a:ext>
            </a:extLst>
          </p:cNvPr>
          <p:cNvGraphicFramePr>
            <a:graphicFrameLocks noGrp="1"/>
          </p:cNvGraphicFramePr>
          <p:nvPr>
            <p:extLst>
              <p:ext uri="{D42A27DB-BD31-4B8C-83A1-F6EECF244321}">
                <p14:modId xmlns:p14="http://schemas.microsoft.com/office/powerpoint/2010/main" val="713050533"/>
              </p:ext>
            </p:extLst>
          </p:nvPr>
        </p:nvGraphicFramePr>
        <p:xfrm>
          <a:off x="1009649" y="2139315"/>
          <a:ext cx="12306301" cy="3950970"/>
        </p:xfrm>
        <a:graphic>
          <a:graphicData uri="http://schemas.openxmlformats.org/drawingml/2006/table">
            <a:tbl>
              <a:tblPr firstRow="1" bandRow="1">
                <a:tableStyleId>{5C22544A-7EE6-4342-B048-85BDC9FD1C3A}</a:tableStyleId>
              </a:tblPr>
              <a:tblGrid>
                <a:gridCol w="3811588">
                  <a:extLst>
                    <a:ext uri="{9D8B030D-6E8A-4147-A177-3AD203B41FA5}">
                      <a16:colId xmlns:a16="http://schemas.microsoft.com/office/drawing/2014/main" val="3614921387"/>
                    </a:ext>
                  </a:extLst>
                </a:gridCol>
                <a:gridCol w="3811588">
                  <a:extLst>
                    <a:ext uri="{9D8B030D-6E8A-4147-A177-3AD203B41FA5}">
                      <a16:colId xmlns:a16="http://schemas.microsoft.com/office/drawing/2014/main" val="1692056586"/>
                    </a:ext>
                  </a:extLst>
                </a:gridCol>
                <a:gridCol w="4683125">
                  <a:extLst>
                    <a:ext uri="{9D8B030D-6E8A-4147-A177-3AD203B41FA5}">
                      <a16:colId xmlns:a16="http://schemas.microsoft.com/office/drawing/2014/main" val="1779487652"/>
                    </a:ext>
                  </a:extLst>
                </a:gridCol>
              </a:tblGrid>
              <a:tr h="541655">
                <a:tc>
                  <a:txBody>
                    <a:bodyPr/>
                    <a:lstStyle/>
                    <a:p>
                      <a:r>
                        <a:rPr lang="en-CN" dirty="0"/>
                        <a:t>Item</a:t>
                      </a:r>
                    </a:p>
                  </a:txBody>
                  <a:tcPr/>
                </a:tc>
                <a:tc>
                  <a:txBody>
                    <a:bodyPr/>
                    <a:lstStyle/>
                    <a:p>
                      <a:r>
                        <a:rPr lang="en-CN" dirty="0"/>
                        <a:t>Value</a:t>
                      </a:r>
                    </a:p>
                  </a:txBody>
                  <a:tcPr/>
                </a:tc>
                <a:tc>
                  <a:txBody>
                    <a:bodyPr/>
                    <a:lstStyle/>
                    <a:p>
                      <a:r>
                        <a:rPr lang="en-CN" dirty="0"/>
                        <a:t>Comments</a:t>
                      </a:r>
                    </a:p>
                  </a:txBody>
                  <a:tcPr/>
                </a:tc>
                <a:extLst>
                  <a:ext uri="{0D108BD9-81ED-4DB2-BD59-A6C34878D82A}">
                    <a16:rowId xmlns:a16="http://schemas.microsoft.com/office/drawing/2014/main" val="3578160750"/>
                  </a:ext>
                </a:extLst>
              </a:tr>
              <a:tr h="541655">
                <a:tc>
                  <a:txBody>
                    <a:bodyPr/>
                    <a:lstStyle/>
                    <a:p>
                      <a:pPr algn="l" fontAlgn="b"/>
                      <a:r>
                        <a:rPr lang="en-US" sz="2000" b="0" i="0" u="none" strike="noStrike" dirty="0">
                          <a:solidFill>
                            <a:srgbClr val="000000"/>
                          </a:solidFill>
                          <a:effectLst/>
                          <a:latin typeface="Calibri" panose="020F0502020204030204" pitchFamily="34" charset="0"/>
                        </a:rPr>
                        <a:t>Possible S3 storage size</a:t>
                      </a:r>
                    </a:p>
                  </a:txBody>
                  <a:tcPr marL="9525" marR="9525" marT="9525" marB="0" anchor="b"/>
                </a:tc>
                <a:tc>
                  <a:txBody>
                    <a:bodyPr/>
                    <a:lstStyle/>
                    <a:p>
                      <a:r>
                        <a:rPr lang="en-US" altLang="zh-CN" sz="2000" dirty="0"/>
                        <a:t>300PB</a:t>
                      </a:r>
                      <a:endParaRPr lang="en-CN" sz="2000" dirty="0"/>
                    </a:p>
                  </a:txBody>
                  <a:tcPr/>
                </a:tc>
                <a:tc>
                  <a:txBody>
                    <a:bodyPr/>
                    <a:lstStyle/>
                    <a:p>
                      <a:r>
                        <a:rPr lang="en-CN" sz="2000" dirty="0"/>
                        <a:t>China Mobile’s quota</a:t>
                      </a:r>
                    </a:p>
                  </a:txBody>
                  <a:tcPr/>
                </a:tc>
                <a:extLst>
                  <a:ext uri="{0D108BD9-81ED-4DB2-BD59-A6C34878D82A}">
                    <a16:rowId xmlns:a16="http://schemas.microsoft.com/office/drawing/2014/main" val="2015251126"/>
                  </a:ext>
                </a:extLst>
              </a:tr>
              <a:tr h="541655">
                <a:tc>
                  <a:txBody>
                    <a:bodyPr/>
                    <a:lstStyle/>
                    <a:p>
                      <a:pPr algn="l" fontAlgn="b"/>
                      <a:r>
                        <a:rPr lang="en-US" sz="2000" b="0" i="0" u="none" strike="noStrike" dirty="0">
                          <a:solidFill>
                            <a:srgbClr val="000000"/>
                          </a:solidFill>
                          <a:effectLst/>
                          <a:latin typeface="Calibri" panose="020F0502020204030204" pitchFamily="34" charset="0"/>
                        </a:rPr>
                        <a:t>Object average Size</a:t>
                      </a:r>
                    </a:p>
                  </a:txBody>
                  <a:tcPr marL="9525" marR="9525" marT="9525" marB="0" anchor="b"/>
                </a:tc>
                <a:tc>
                  <a:txBody>
                    <a:bodyPr/>
                    <a:lstStyle/>
                    <a:p>
                      <a:r>
                        <a:rPr lang="en-US" altLang="zh-CN" sz="2000" dirty="0"/>
                        <a:t>2MB</a:t>
                      </a:r>
                      <a:endParaRPr lang="en-CN" sz="2000" dirty="0"/>
                    </a:p>
                  </a:txBody>
                  <a:tcPr/>
                </a:tc>
                <a:tc>
                  <a:txBody>
                    <a:bodyPr/>
                    <a:lstStyle/>
                    <a:p>
                      <a:r>
                        <a:rPr lang="en-CN" sz="2000" dirty="0"/>
                        <a:t>MiCloud</a:t>
                      </a:r>
                      <a:r>
                        <a:rPr lang="zh-CN" altLang="en-US" sz="2000" dirty="0"/>
                        <a:t> </a:t>
                      </a:r>
                      <a:r>
                        <a:rPr lang="en-US" altLang="zh-CN" sz="2000" dirty="0"/>
                        <a:t>is</a:t>
                      </a:r>
                      <a:r>
                        <a:rPr lang="zh-CN" altLang="en-US" sz="2000" dirty="0"/>
                        <a:t> </a:t>
                      </a:r>
                      <a:r>
                        <a:rPr lang="en-US" altLang="zh-CN" sz="2000" dirty="0"/>
                        <a:t>4MB</a:t>
                      </a:r>
                      <a:endParaRPr lang="en-CN" sz="2000" dirty="0"/>
                    </a:p>
                  </a:txBody>
                  <a:tcPr/>
                </a:tc>
                <a:extLst>
                  <a:ext uri="{0D108BD9-81ED-4DB2-BD59-A6C34878D82A}">
                    <a16:rowId xmlns:a16="http://schemas.microsoft.com/office/drawing/2014/main" val="147430435"/>
                  </a:ext>
                </a:extLst>
              </a:tr>
              <a:tr h="541655">
                <a:tc>
                  <a:txBody>
                    <a:bodyPr/>
                    <a:lstStyle/>
                    <a:p>
                      <a:pPr algn="l" fontAlgn="b"/>
                      <a:r>
                        <a:rPr lang="en-US" sz="2000" b="0" i="0" u="none" strike="noStrike">
                          <a:solidFill>
                            <a:srgbClr val="000000"/>
                          </a:solidFill>
                          <a:effectLst/>
                          <a:latin typeface="Calibri" panose="020F0502020204030204" pitchFamily="34" charset="0"/>
                        </a:rPr>
                        <a:t>Daily total Put size </a:t>
                      </a:r>
                    </a:p>
                  </a:txBody>
                  <a:tcPr marL="9525" marR="9525" marT="9525" marB="0" anchor="b"/>
                </a:tc>
                <a:tc>
                  <a:txBody>
                    <a:bodyPr/>
                    <a:lstStyle/>
                    <a:p>
                      <a:r>
                        <a:rPr lang="en-US" altLang="zh-CN" sz="2000" dirty="0"/>
                        <a:t>1~1.5PB</a:t>
                      </a:r>
                      <a:endParaRPr lang="en-CN" sz="2000" dirty="0"/>
                    </a:p>
                  </a:txBody>
                  <a:tcPr/>
                </a:tc>
                <a:tc>
                  <a:txBody>
                    <a:bodyPr/>
                    <a:lstStyle/>
                    <a:p>
                      <a:r>
                        <a:rPr lang="en-CN" sz="2000" dirty="0"/>
                        <a:t>Follow two slides will list the requirement detail</a:t>
                      </a:r>
                    </a:p>
                  </a:txBody>
                  <a:tcPr/>
                </a:tc>
                <a:extLst>
                  <a:ext uri="{0D108BD9-81ED-4DB2-BD59-A6C34878D82A}">
                    <a16:rowId xmlns:a16="http://schemas.microsoft.com/office/drawing/2014/main" val="3282841741"/>
                  </a:ext>
                </a:extLst>
              </a:tr>
              <a:tr h="541655">
                <a:tc>
                  <a:txBody>
                    <a:bodyPr/>
                    <a:lstStyle/>
                    <a:p>
                      <a:pPr algn="l" fontAlgn="b"/>
                      <a:r>
                        <a:rPr lang="en-US" sz="2000" b="0" i="0" u="none" strike="noStrike">
                          <a:solidFill>
                            <a:srgbClr val="000000"/>
                          </a:solidFill>
                          <a:effectLst/>
                          <a:latin typeface="Calibri" panose="020F0502020204030204" pitchFamily="34" charset="0"/>
                        </a:rPr>
                        <a:t>Put peak QPS</a:t>
                      </a:r>
                    </a:p>
                  </a:txBody>
                  <a:tcPr marL="9525" marR="9525" marT="9525" marB="0" anchor="b"/>
                </a:tc>
                <a:tc>
                  <a:txBody>
                    <a:bodyPr/>
                    <a:lstStyle/>
                    <a:p>
                      <a:r>
                        <a:rPr lang="en-CN" sz="2000" dirty="0"/>
                        <a:t>12.5K/s</a:t>
                      </a:r>
                    </a:p>
                  </a:txBody>
                  <a:tcPr/>
                </a:tc>
                <a:tc>
                  <a:txBody>
                    <a:bodyPr/>
                    <a:lstStyle/>
                    <a:p>
                      <a:r>
                        <a:rPr lang="en-CN" sz="2000" dirty="0"/>
                        <a:t>Impact S3 Upstream bandwidth</a:t>
                      </a:r>
                    </a:p>
                  </a:txBody>
                  <a:tcPr/>
                </a:tc>
                <a:extLst>
                  <a:ext uri="{0D108BD9-81ED-4DB2-BD59-A6C34878D82A}">
                    <a16:rowId xmlns:a16="http://schemas.microsoft.com/office/drawing/2014/main" val="2830928935"/>
                  </a:ext>
                </a:extLst>
              </a:tr>
              <a:tr h="541655">
                <a:tc>
                  <a:txBody>
                    <a:bodyPr/>
                    <a:lstStyle/>
                    <a:p>
                      <a:pPr algn="l" fontAlgn="b"/>
                      <a:r>
                        <a:rPr lang="en-US" sz="2000" b="0" i="0" u="none" strike="noStrike">
                          <a:solidFill>
                            <a:srgbClr val="000000"/>
                          </a:solidFill>
                          <a:effectLst/>
                          <a:latin typeface="Calibri" panose="020F0502020204030204" pitchFamily="34" charset="0"/>
                        </a:rPr>
                        <a:t>Get peak QPS</a:t>
                      </a:r>
                    </a:p>
                  </a:txBody>
                  <a:tcPr marL="9525" marR="9525" marT="9525" marB="0" anchor="b"/>
                </a:tc>
                <a:tc>
                  <a:txBody>
                    <a:bodyPr/>
                    <a:lstStyle/>
                    <a:p>
                      <a:r>
                        <a:rPr lang="en-CN" sz="2000" dirty="0"/>
                        <a:t>11K/s</a:t>
                      </a:r>
                    </a:p>
                  </a:txBody>
                  <a:tcPr/>
                </a:tc>
                <a:tc>
                  <a: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CN" sz="2000" dirty="0"/>
                        <a:t>Impact S3 Downstream bandwidth</a:t>
                      </a:r>
                    </a:p>
                  </a:txBody>
                  <a:tcPr/>
                </a:tc>
                <a:extLst>
                  <a:ext uri="{0D108BD9-81ED-4DB2-BD59-A6C34878D82A}">
                    <a16:rowId xmlns:a16="http://schemas.microsoft.com/office/drawing/2014/main" val="2506492060"/>
                  </a:ext>
                </a:extLst>
              </a:tr>
              <a:tr h="541655">
                <a:tc>
                  <a:txBody>
                    <a:bodyPr/>
                    <a:lstStyle/>
                    <a:p>
                      <a:pPr algn="l" fontAlgn="b"/>
                      <a:r>
                        <a:rPr lang="en-US" sz="2000" b="0" i="0" u="none" strike="noStrike" dirty="0">
                          <a:solidFill>
                            <a:srgbClr val="000000"/>
                          </a:solidFill>
                          <a:effectLst/>
                          <a:latin typeface="Calibri" panose="020F0502020204030204" pitchFamily="34" charset="0"/>
                        </a:rPr>
                        <a:t>Delete peak QPS</a:t>
                      </a:r>
                    </a:p>
                  </a:txBody>
                  <a:tcPr marL="9525" marR="9525" marT="9525" marB="0" anchor="b"/>
                </a:tc>
                <a:tc>
                  <a:txBody>
                    <a:bodyPr/>
                    <a:lstStyle/>
                    <a:p>
                      <a:r>
                        <a:rPr lang="en-CN" sz="2000" dirty="0"/>
                        <a:t>22K/s</a:t>
                      </a:r>
                    </a:p>
                  </a:txBody>
                  <a:tcPr/>
                </a:tc>
                <a:tc>
                  <a:txBody>
                    <a:bodyPr/>
                    <a:lstStyle/>
                    <a:p>
                      <a:r>
                        <a:rPr lang="en-CN" sz="2000" dirty="0"/>
                        <a:t>S3 doesn’t have Delete A</a:t>
                      </a:r>
                      <a:r>
                        <a:rPr lang="en-US" sz="2000" dirty="0"/>
                        <a:t>PI charge</a:t>
                      </a:r>
                      <a:endParaRPr lang="en-CN" sz="2000" dirty="0"/>
                    </a:p>
                  </a:txBody>
                  <a:tcPr/>
                </a:tc>
                <a:extLst>
                  <a:ext uri="{0D108BD9-81ED-4DB2-BD59-A6C34878D82A}">
                    <a16:rowId xmlns:a16="http://schemas.microsoft.com/office/drawing/2014/main" val="1591251570"/>
                  </a:ext>
                </a:extLst>
              </a:tr>
            </a:tbl>
          </a:graphicData>
        </a:graphic>
      </p:graphicFrame>
    </p:spTree>
    <p:extLst>
      <p:ext uri="{BB962C8B-B14F-4D97-AF65-F5344CB8AC3E}">
        <p14:creationId xmlns:p14="http://schemas.microsoft.com/office/powerpoint/2010/main" val="511410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A0A54-B977-57E6-888B-E69D884448A8}"/>
              </a:ext>
            </a:extLst>
          </p:cNvPr>
          <p:cNvSpPr>
            <a:spLocks noGrp="1"/>
          </p:cNvSpPr>
          <p:nvPr>
            <p:ph type="title"/>
          </p:nvPr>
        </p:nvSpPr>
        <p:spPr/>
        <p:txBody>
          <a:bodyPr/>
          <a:lstStyle/>
          <a:p>
            <a:r>
              <a:rPr lang="en-US" sz="4000" u="none" strike="noStrike" dirty="0">
                <a:effectLst/>
              </a:rPr>
              <a:t>Daily total Put object size 1PB Scenario</a:t>
            </a:r>
            <a:br>
              <a:rPr lang="en-US" sz="4000" b="0" i="0" u="none" strike="noStrike" dirty="0">
                <a:solidFill>
                  <a:srgbClr val="000000"/>
                </a:solidFill>
                <a:effectLst/>
                <a:latin typeface="Calibri" panose="020F0502020204030204" pitchFamily="34" charset="0"/>
              </a:rPr>
            </a:br>
            <a:endParaRPr lang="en-CN" dirty="0"/>
          </a:p>
        </p:txBody>
      </p:sp>
      <p:graphicFrame>
        <p:nvGraphicFramePr>
          <p:cNvPr id="4" name="Table 3">
            <a:extLst>
              <a:ext uri="{FF2B5EF4-FFF2-40B4-BE49-F238E27FC236}">
                <a16:creationId xmlns:a16="http://schemas.microsoft.com/office/drawing/2014/main" id="{7DBDA48F-0C69-318A-A91E-D1974B732F5A}"/>
              </a:ext>
            </a:extLst>
          </p:cNvPr>
          <p:cNvGraphicFramePr>
            <a:graphicFrameLocks noGrp="1"/>
          </p:cNvGraphicFramePr>
          <p:nvPr>
            <p:extLst>
              <p:ext uri="{D42A27DB-BD31-4B8C-83A1-F6EECF244321}">
                <p14:modId xmlns:p14="http://schemas.microsoft.com/office/powerpoint/2010/main" val="45231133"/>
              </p:ext>
            </p:extLst>
          </p:nvPr>
        </p:nvGraphicFramePr>
        <p:xfrm>
          <a:off x="868363" y="1416825"/>
          <a:ext cx="12204699" cy="2007870"/>
        </p:xfrm>
        <a:graphic>
          <a:graphicData uri="http://schemas.openxmlformats.org/drawingml/2006/table">
            <a:tbl>
              <a:tblPr>
                <a:tableStyleId>{5C22544A-7EE6-4342-B048-85BDC9FD1C3A}</a:tableStyleId>
              </a:tblPr>
              <a:tblGrid>
                <a:gridCol w="5099814">
                  <a:extLst>
                    <a:ext uri="{9D8B030D-6E8A-4147-A177-3AD203B41FA5}">
                      <a16:colId xmlns:a16="http://schemas.microsoft.com/office/drawing/2014/main" val="679536049"/>
                    </a:ext>
                  </a:extLst>
                </a:gridCol>
                <a:gridCol w="1541013">
                  <a:extLst>
                    <a:ext uri="{9D8B030D-6E8A-4147-A177-3AD203B41FA5}">
                      <a16:colId xmlns:a16="http://schemas.microsoft.com/office/drawing/2014/main" val="1997292758"/>
                    </a:ext>
                  </a:extLst>
                </a:gridCol>
                <a:gridCol w="1411245">
                  <a:extLst>
                    <a:ext uri="{9D8B030D-6E8A-4147-A177-3AD203B41FA5}">
                      <a16:colId xmlns:a16="http://schemas.microsoft.com/office/drawing/2014/main" val="1507850249"/>
                    </a:ext>
                  </a:extLst>
                </a:gridCol>
                <a:gridCol w="4152627">
                  <a:extLst>
                    <a:ext uri="{9D8B030D-6E8A-4147-A177-3AD203B41FA5}">
                      <a16:colId xmlns:a16="http://schemas.microsoft.com/office/drawing/2014/main" val="2854576843"/>
                    </a:ext>
                  </a:extLst>
                </a:gridCol>
              </a:tblGrid>
              <a:tr h="237219">
                <a:tc gridSpan="4">
                  <a:txBody>
                    <a:bodyPr/>
                    <a:lstStyle/>
                    <a:p>
                      <a:pPr algn="ctr" fontAlgn="b"/>
                      <a:r>
                        <a:rPr lang="en-US" sz="2800" u="none" strike="noStrike" dirty="0">
                          <a:effectLst/>
                        </a:rPr>
                        <a:t>Daily total Put object size 1PB Scenario</a:t>
                      </a:r>
                      <a:endParaRPr lang="en-US" sz="2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hMerge="1">
                  <a:txBody>
                    <a:bodyPr/>
                    <a:lstStyle/>
                    <a:p>
                      <a:endParaRPr lang="en-CN"/>
                    </a:p>
                  </a:txBody>
                  <a:tcPr/>
                </a:tc>
                <a:tc hMerge="1">
                  <a:txBody>
                    <a:bodyPr/>
                    <a:lstStyle/>
                    <a:p>
                      <a:endParaRPr lang="en-CN"/>
                    </a:p>
                  </a:txBody>
                  <a:tcPr/>
                </a:tc>
                <a:tc hMerge="1">
                  <a:txBody>
                    <a:bodyPr/>
                    <a:lstStyle/>
                    <a:p>
                      <a:endParaRPr lang="en-CN"/>
                    </a:p>
                  </a:txBody>
                  <a:tcPr/>
                </a:tc>
                <a:extLst>
                  <a:ext uri="{0D108BD9-81ED-4DB2-BD59-A6C34878D82A}">
                    <a16:rowId xmlns:a16="http://schemas.microsoft.com/office/drawing/2014/main" val="3181902021"/>
                  </a:ext>
                </a:extLst>
              </a:tr>
              <a:tr h="237219">
                <a:tc>
                  <a:txBody>
                    <a:bodyPr/>
                    <a:lstStyle/>
                    <a:p>
                      <a:pPr algn="l" fontAlgn="b"/>
                      <a:r>
                        <a:rPr lang="en-US" sz="2000" u="none" strike="noStrike">
                          <a:effectLst/>
                        </a:rPr>
                        <a:t>Total Size</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1048576</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GB</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rowSpan="5">
                  <a:txBody>
                    <a:bodyPr/>
                    <a:lstStyle/>
                    <a:p>
                      <a:pPr algn="l" fontAlgn="b"/>
                      <a:r>
                        <a:rPr lang="en-CN" sz="2000" u="none" strike="noStrike" dirty="0">
                          <a:effectLst/>
                        </a:rPr>
                        <a:t> </a:t>
                      </a:r>
                    </a:p>
                    <a:p>
                      <a:pPr algn="l" fontAlgn="b"/>
                      <a:r>
                        <a:rPr lang="en-CN" sz="2000" u="none" strike="noStrike" dirty="0">
                          <a:effectLst/>
                        </a:rPr>
                        <a:t> </a:t>
                      </a:r>
                    </a:p>
                    <a:p>
                      <a:pPr algn="l" fontAlgn="b"/>
                      <a:r>
                        <a:rPr lang="en-CN" sz="2000" u="none" strike="noStrike" dirty="0">
                          <a:effectLst/>
                        </a:rPr>
                        <a:t> Data source</a:t>
                      </a:r>
                    </a:p>
                    <a:p>
                      <a:pPr algn="l" fontAlgn="b"/>
                      <a:r>
                        <a:rPr lang="en-CN" sz="2000" u="none" strike="noStrike" dirty="0">
                          <a:effectLst/>
                        </a:rPr>
                        <a:t> </a:t>
                      </a:r>
                    </a:p>
                    <a:p>
                      <a:pPr algn="l" fontAlgn="b"/>
                      <a:r>
                        <a:rPr lang="en-CN" sz="2000" u="none" strike="noStrike" dirty="0">
                          <a:effectLst/>
                        </a:rPr>
                        <a:t> </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1895908470"/>
                  </a:ext>
                </a:extLst>
              </a:tr>
              <a:tr h="237219">
                <a:tc>
                  <a:txBody>
                    <a:bodyPr/>
                    <a:lstStyle/>
                    <a:p>
                      <a:pPr algn="l" fontAlgn="b"/>
                      <a:r>
                        <a:rPr lang="en-US" sz="2000" u="none" strike="noStrike">
                          <a:effectLst/>
                        </a:rPr>
                        <a:t>Object average Size</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2</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MB</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vMerge="1">
                  <a:txBody>
                    <a:bodyPr/>
                    <a:lstStyle/>
                    <a:p>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4084451600"/>
                  </a:ext>
                </a:extLst>
              </a:tr>
              <a:tr h="237219">
                <a:tc>
                  <a:txBody>
                    <a:bodyPr/>
                    <a:lstStyle/>
                    <a:p>
                      <a:pPr algn="l" fontAlgn="b"/>
                      <a:r>
                        <a:rPr lang="en-US" sz="2000" u="none" strike="noStrike">
                          <a:effectLst/>
                        </a:rPr>
                        <a:t>Put peak QPS</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12500</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Per second</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vMerge="1">
                  <a:txBody>
                    <a:bodyPr/>
                    <a:lstStyle/>
                    <a:p>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3730148659"/>
                  </a:ext>
                </a:extLst>
              </a:tr>
              <a:tr h="237219">
                <a:tc>
                  <a:txBody>
                    <a:bodyPr/>
                    <a:lstStyle/>
                    <a:p>
                      <a:pPr algn="l" fontAlgn="b"/>
                      <a:r>
                        <a:rPr lang="en-US" sz="2000" u="none" strike="noStrike">
                          <a:effectLst/>
                        </a:rPr>
                        <a:t>Get peak QPS</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11000</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Per second</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vMerge="1">
                  <a:txBody>
                    <a:bodyPr/>
                    <a:lstStyle/>
                    <a:p>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559963379"/>
                  </a:ext>
                </a:extLst>
              </a:tr>
              <a:tr h="237219">
                <a:tc>
                  <a:txBody>
                    <a:bodyPr/>
                    <a:lstStyle/>
                    <a:p>
                      <a:pPr algn="l" fontAlgn="b"/>
                      <a:r>
                        <a:rPr lang="en-US" sz="2000" u="none" strike="noStrike">
                          <a:effectLst/>
                        </a:rPr>
                        <a:t>Delete peak QPS</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22000</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Per second</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vMerge="1">
                  <a:txBody>
                    <a:bodyPr/>
                    <a:lstStyle/>
                    <a:p>
                      <a:endParaRPr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25165720"/>
                  </a:ext>
                </a:extLst>
              </a:tr>
            </a:tbl>
          </a:graphicData>
        </a:graphic>
      </p:graphicFrame>
      <p:sp>
        <p:nvSpPr>
          <p:cNvPr id="5" name="TextBox 4">
            <a:extLst>
              <a:ext uri="{FF2B5EF4-FFF2-40B4-BE49-F238E27FC236}">
                <a16:creationId xmlns:a16="http://schemas.microsoft.com/office/drawing/2014/main" id="{6808AD1C-8433-6449-9A7A-E09A7995110A}"/>
              </a:ext>
            </a:extLst>
          </p:cNvPr>
          <p:cNvSpPr txBox="1"/>
          <p:nvPr/>
        </p:nvSpPr>
        <p:spPr>
          <a:xfrm>
            <a:off x="739776" y="6476042"/>
            <a:ext cx="11261416" cy="1938992"/>
          </a:xfrm>
          <a:prstGeom prst="rect">
            <a:avLst/>
          </a:prstGeom>
          <a:noFill/>
        </p:spPr>
        <p:txBody>
          <a:bodyPr wrap="none" rtlCol="0">
            <a:spAutoFit/>
          </a:bodyPr>
          <a:lstStyle/>
          <a:p>
            <a:pPr algn="l"/>
            <a:r>
              <a:rPr lang="en-CN" sz="2400" dirty="0">
                <a:latin typeface="Amazon Ember" panose="020B0603020204020204" pitchFamily="34" charset="0"/>
                <a:ea typeface="Amazon Ember" panose="020B0603020204020204" pitchFamily="34" charset="0"/>
                <a:cs typeface="Amazon Ember" panose="020B0603020204020204" pitchFamily="34" charset="0"/>
              </a:rPr>
              <a:t>Conclusion:</a:t>
            </a:r>
          </a:p>
          <a:p>
            <a:pPr marL="514350" indent="-514350" algn="l">
              <a:buAutoNum type="arabicPeriod"/>
            </a:pPr>
            <a:r>
              <a:rPr lang="en-CN" sz="2400" dirty="0">
                <a:latin typeface="Amazon Ember" panose="020B0603020204020204" pitchFamily="34" charset="0"/>
                <a:ea typeface="Amazon Ember" panose="020B0603020204020204" pitchFamily="34" charset="0"/>
                <a:cs typeface="Amazon Ember" panose="020B0603020204020204" pitchFamily="34" charset="0"/>
              </a:rPr>
              <a:t>S3 bandwidth at lease 195Gbps</a:t>
            </a:r>
          </a:p>
          <a:p>
            <a:pPr marL="514350" indent="-514350" algn="l">
              <a:buAutoNum type="arabicPeriod"/>
            </a:pPr>
            <a:r>
              <a:rPr lang="en-CN" sz="2400" dirty="0">
                <a:latin typeface="Amazon Ember" panose="020B0603020204020204" pitchFamily="34" charset="0"/>
                <a:ea typeface="Amazon Ember" panose="020B0603020204020204" pitchFamily="34" charset="0"/>
                <a:cs typeface="Amazon Ember" panose="020B0603020204020204" pitchFamily="34" charset="0"/>
              </a:rPr>
              <a:t>S3 DTO is unknown, but this item is already included in PPA as 1/15 of DTI</a:t>
            </a:r>
          </a:p>
          <a:p>
            <a:pPr marL="514350" indent="-514350" algn="l">
              <a:buAutoNum type="arabicPeriod"/>
            </a:pPr>
            <a:endParaRPr lang="en-CN" sz="2400" dirty="0">
              <a:latin typeface="Amazon Ember" panose="020B0603020204020204" pitchFamily="34" charset="0"/>
              <a:ea typeface="Amazon Ember" panose="020B0603020204020204" pitchFamily="34" charset="0"/>
              <a:cs typeface="Amazon Ember" panose="020B0603020204020204" pitchFamily="34" charset="0"/>
            </a:endParaRPr>
          </a:p>
          <a:p>
            <a:pPr marL="514350" indent="-514350" algn="l">
              <a:buAutoNum type="arabicPeriod"/>
            </a:pPr>
            <a:endParaRPr lang="en-CN" sz="2400" dirty="0">
              <a:latin typeface="Amazon Ember" panose="020B0603020204020204" pitchFamily="34" charset="0"/>
              <a:ea typeface="Amazon Ember" panose="020B0603020204020204" pitchFamily="34" charset="0"/>
              <a:cs typeface="Amazon Ember" panose="020B0603020204020204" pitchFamily="34" charset="0"/>
            </a:endParaRPr>
          </a:p>
        </p:txBody>
      </p:sp>
      <p:graphicFrame>
        <p:nvGraphicFramePr>
          <p:cNvPr id="8" name="Table 7">
            <a:extLst>
              <a:ext uri="{FF2B5EF4-FFF2-40B4-BE49-F238E27FC236}">
                <a16:creationId xmlns:a16="http://schemas.microsoft.com/office/drawing/2014/main" id="{0DE1F8C0-B225-3F07-C1F8-4D9EEF7F8BAD}"/>
              </a:ext>
            </a:extLst>
          </p:cNvPr>
          <p:cNvGraphicFramePr>
            <a:graphicFrameLocks noGrp="1"/>
          </p:cNvGraphicFramePr>
          <p:nvPr>
            <p:extLst>
              <p:ext uri="{D42A27DB-BD31-4B8C-83A1-F6EECF244321}">
                <p14:modId xmlns:p14="http://schemas.microsoft.com/office/powerpoint/2010/main" val="1804522561"/>
              </p:ext>
            </p:extLst>
          </p:nvPr>
        </p:nvGraphicFramePr>
        <p:xfrm>
          <a:off x="868362" y="3818337"/>
          <a:ext cx="12204699" cy="2445984"/>
        </p:xfrm>
        <a:graphic>
          <a:graphicData uri="http://schemas.openxmlformats.org/drawingml/2006/table">
            <a:tbl>
              <a:tblPr>
                <a:tableStyleId>{5C22544A-7EE6-4342-B048-85BDC9FD1C3A}</a:tableStyleId>
              </a:tblPr>
              <a:tblGrid>
                <a:gridCol w="5099814">
                  <a:extLst>
                    <a:ext uri="{9D8B030D-6E8A-4147-A177-3AD203B41FA5}">
                      <a16:colId xmlns:a16="http://schemas.microsoft.com/office/drawing/2014/main" val="58942690"/>
                    </a:ext>
                  </a:extLst>
                </a:gridCol>
                <a:gridCol w="1541013">
                  <a:extLst>
                    <a:ext uri="{9D8B030D-6E8A-4147-A177-3AD203B41FA5}">
                      <a16:colId xmlns:a16="http://schemas.microsoft.com/office/drawing/2014/main" val="2262170674"/>
                    </a:ext>
                  </a:extLst>
                </a:gridCol>
                <a:gridCol w="1411245">
                  <a:extLst>
                    <a:ext uri="{9D8B030D-6E8A-4147-A177-3AD203B41FA5}">
                      <a16:colId xmlns:a16="http://schemas.microsoft.com/office/drawing/2014/main" val="106720180"/>
                    </a:ext>
                  </a:extLst>
                </a:gridCol>
                <a:gridCol w="4152627">
                  <a:extLst>
                    <a:ext uri="{9D8B030D-6E8A-4147-A177-3AD203B41FA5}">
                      <a16:colId xmlns:a16="http://schemas.microsoft.com/office/drawing/2014/main" val="3565752133"/>
                    </a:ext>
                  </a:extLst>
                </a:gridCol>
              </a:tblGrid>
              <a:tr h="237219">
                <a:tc gridSpan="4">
                  <a:txBody>
                    <a:bodyPr/>
                    <a:lstStyle/>
                    <a:p>
                      <a:pPr algn="ctr" fontAlgn="b"/>
                      <a:r>
                        <a:rPr lang="en-US" sz="2800" b="0" i="0" u="none" strike="noStrike" dirty="0">
                          <a:solidFill>
                            <a:srgbClr val="000000"/>
                          </a:solidFill>
                          <a:effectLst/>
                          <a:latin typeface="Calibri" panose="020F0502020204030204" pitchFamily="34" charset="0"/>
                        </a:rPr>
                        <a:t>Technique Requirements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hMerge="1">
                  <a:txBody>
                    <a:bodyPr/>
                    <a:lstStyle/>
                    <a:p>
                      <a:pPr algn="r" fontAlgn="b"/>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hMerge="1">
                  <a:txBody>
                    <a:bodyPr/>
                    <a:lstStyle/>
                    <a:p>
                      <a:pPr algn="l" fontAlgn="b"/>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hMerge="1">
                  <a:txBody>
                    <a:bodyPr/>
                    <a:lstStyle/>
                    <a:p>
                      <a:pPr algn="l"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479402842"/>
                  </a:ext>
                </a:extLst>
              </a:tr>
              <a:tr h="237219">
                <a:tc>
                  <a:txBody>
                    <a:bodyPr/>
                    <a:lstStyle/>
                    <a:p>
                      <a:pPr algn="l" fontAlgn="b"/>
                      <a:r>
                        <a:rPr lang="en-US" sz="2000" u="none" strike="noStrike" dirty="0">
                          <a:effectLst/>
                        </a:rPr>
                        <a:t>S3 Daily Put total request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536870912</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dirty="0">
                          <a:effectLst/>
                        </a:rPr>
                        <a:t> </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S3 Daily Put API total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3207278400"/>
                  </a:ext>
                </a:extLst>
              </a:tr>
              <a:tr h="237219">
                <a:tc>
                  <a:txBody>
                    <a:bodyPr/>
                    <a:lstStyle/>
                    <a:p>
                      <a:pPr algn="l" fontAlgn="b"/>
                      <a:r>
                        <a:rPr lang="en-US" sz="2000" u="none" strike="noStrike">
                          <a:effectLst/>
                        </a:rPr>
                        <a:t>S3 DTI</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1048576</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GB</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a:effectLst/>
                        </a:rPr>
                        <a:t> </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89120383"/>
                  </a:ext>
                </a:extLst>
              </a:tr>
              <a:tr h="237219">
                <a:tc>
                  <a:txBody>
                    <a:bodyPr/>
                    <a:lstStyle/>
                    <a:p>
                      <a:pPr algn="l" fontAlgn="b"/>
                      <a:r>
                        <a:rPr lang="en-US" sz="2000" u="none" strike="noStrike">
                          <a:effectLst/>
                        </a:rPr>
                        <a:t>S3 Upstream bandwidth requirement</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dirty="0">
                          <a:effectLst/>
                        </a:rPr>
                        <a:t>195.3125</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Gbps</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a:effectLst/>
                        </a:rPr>
                        <a:t> </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076580914"/>
                  </a:ext>
                </a:extLst>
              </a:tr>
              <a:tr h="237219">
                <a:tc>
                  <a:txBody>
                    <a:bodyPr/>
                    <a:lstStyle/>
                    <a:p>
                      <a:pPr algn="l" fontAlgn="b"/>
                      <a:r>
                        <a:rPr lang="en-US" sz="2000" u="none" strike="noStrike">
                          <a:effectLst/>
                        </a:rPr>
                        <a:t>S3 Daily Get total request  </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N/A</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a:effectLst/>
                        </a:rPr>
                        <a:t> </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S3 Daily Get API total </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790571456"/>
                  </a:ext>
                </a:extLst>
              </a:tr>
              <a:tr h="237219">
                <a:tc>
                  <a:txBody>
                    <a:bodyPr/>
                    <a:lstStyle/>
                    <a:p>
                      <a:pPr algn="l" fontAlgn="b"/>
                      <a:r>
                        <a:rPr lang="en-US" sz="2000" u="none" strike="noStrike" dirty="0">
                          <a:effectLst/>
                        </a:rPr>
                        <a:t>S3 DTO</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N/A</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dirty="0">
                          <a:effectLst/>
                        </a:rPr>
                        <a:t> </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Depend on Get total request</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1299587511"/>
                  </a:ext>
                </a:extLst>
              </a:tr>
              <a:tr h="438114">
                <a:tc>
                  <a:txBody>
                    <a:bodyPr/>
                    <a:lstStyle/>
                    <a:p>
                      <a:pPr algn="l" fontAlgn="b"/>
                      <a:r>
                        <a:rPr lang="en-US" sz="2000" u="none" strike="noStrike" dirty="0">
                          <a:effectLst/>
                        </a:rPr>
                        <a:t>S3 Downstream bandwidth requirement</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dirty="0">
                          <a:effectLst/>
                        </a:rPr>
                        <a:t>171.875</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Gbps</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dirty="0">
                          <a:effectLst/>
                        </a:rPr>
                        <a:t> </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3916858329"/>
                  </a:ext>
                </a:extLst>
              </a:tr>
            </a:tbl>
          </a:graphicData>
        </a:graphic>
      </p:graphicFrame>
    </p:spTree>
    <p:extLst>
      <p:ext uri="{BB962C8B-B14F-4D97-AF65-F5344CB8AC3E}">
        <p14:creationId xmlns:p14="http://schemas.microsoft.com/office/powerpoint/2010/main" val="1315413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A0A54-B977-57E6-888B-E69D884448A8}"/>
              </a:ext>
            </a:extLst>
          </p:cNvPr>
          <p:cNvSpPr>
            <a:spLocks noGrp="1"/>
          </p:cNvSpPr>
          <p:nvPr>
            <p:ph type="title"/>
          </p:nvPr>
        </p:nvSpPr>
        <p:spPr/>
        <p:txBody>
          <a:bodyPr/>
          <a:lstStyle/>
          <a:p>
            <a:r>
              <a:rPr lang="en-US" sz="4000" u="none" strike="noStrike" dirty="0">
                <a:effectLst/>
              </a:rPr>
              <a:t>Daily total Put object size 1PB Scenario</a:t>
            </a:r>
            <a:br>
              <a:rPr lang="en-US" sz="4000" b="0" i="0" u="none" strike="noStrike" dirty="0">
                <a:solidFill>
                  <a:srgbClr val="000000"/>
                </a:solidFill>
                <a:effectLst/>
                <a:latin typeface="Calibri" panose="020F0502020204030204" pitchFamily="34" charset="0"/>
              </a:rPr>
            </a:br>
            <a:endParaRPr lang="en-CN" dirty="0"/>
          </a:p>
        </p:txBody>
      </p:sp>
      <p:graphicFrame>
        <p:nvGraphicFramePr>
          <p:cNvPr id="4" name="Table 3">
            <a:extLst>
              <a:ext uri="{FF2B5EF4-FFF2-40B4-BE49-F238E27FC236}">
                <a16:creationId xmlns:a16="http://schemas.microsoft.com/office/drawing/2014/main" id="{7DBDA48F-0C69-318A-A91E-D1974B732F5A}"/>
              </a:ext>
            </a:extLst>
          </p:cNvPr>
          <p:cNvGraphicFramePr>
            <a:graphicFrameLocks noGrp="1"/>
          </p:cNvGraphicFramePr>
          <p:nvPr>
            <p:extLst>
              <p:ext uri="{D42A27DB-BD31-4B8C-83A1-F6EECF244321}">
                <p14:modId xmlns:p14="http://schemas.microsoft.com/office/powerpoint/2010/main" val="3003631895"/>
              </p:ext>
            </p:extLst>
          </p:nvPr>
        </p:nvGraphicFramePr>
        <p:xfrm>
          <a:off x="868363" y="1416825"/>
          <a:ext cx="12204699" cy="2007870"/>
        </p:xfrm>
        <a:graphic>
          <a:graphicData uri="http://schemas.openxmlformats.org/drawingml/2006/table">
            <a:tbl>
              <a:tblPr>
                <a:tableStyleId>{5C22544A-7EE6-4342-B048-85BDC9FD1C3A}</a:tableStyleId>
              </a:tblPr>
              <a:tblGrid>
                <a:gridCol w="5099814">
                  <a:extLst>
                    <a:ext uri="{9D8B030D-6E8A-4147-A177-3AD203B41FA5}">
                      <a16:colId xmlns:a16="http://schemas.microsoft.com/office/drawing/2014/main" val="679536049"/>
                    </a:ext>
                  </a:extLst>
                </a:gridCol>
                <a:gridCol w="1541013">
                  <a:extLst>
                    <a:ext uri="{9D8B030D-6E8A-4147-A177-3AD203B41FA5}">
                      <a16:colId xmlns:a16="http://schemas.microsoft.com/office/drawing/2014/main" val="1997292758"/>
                    </a:ext>
                  </a:extLst>
                </a:gridCol>
                <a:gridCol w="1411245">
                  <a:extLst>
                    <a:ext uri="{9D8B030D-6E8A-4147-A177-3AD203B41FA5}">
                      <a16:colId xmlns:a16="http://schemas.microsoft.com/office/drawing/2014/main" val="1507850249"/>
                    </a:ext>
                  </a:extLst>
                </a:gridCol>
                <a:gridCol w="4152627">
                  <a:extLst>
                    <a:ext uri="{9D8B030D-6E8A-4147-A177-3AD203B41FA5}">
                      <a16:colId xmlns:a16="http://schemas.microsoft.com/office/drawing/2014/main" val="2854576843"/>
                    </a:ext>
                  </a:extLst>
                </a:gridCol>
              </a:tblGrid>
              <a:tr h="237219">
                <a:tc gridSpan="4">
                  <a:txBody>
                    <a:bodyPr/>
                    <a:lstStyle/>
                    <a:p>
                      <a:pPr algn="ctr" fontAlgn="b"/>
                      <a:r>
                        <a:rPr lang="en-US" sz="2800" u="none" strike="noStrike" dirty="0">
                          <a:effectLst/>
                        </a:rPr>
                        <a:t>Daily total Put object size 1PB Scenario</a:t>
                      </a:r>
                      <a:endParaRPr lang="en-US" sz="2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hMerge="1">
                  <a:txBody>
                    <a:bodyPr/>
                    <a:lstStyle/>
                    <a:p>
                      <a:endParaRPr lang="en-CN"/>
                    </a:p>
                  </a:txBody>
                  <a:tcPr/>
                </a:tc>
                <a:tc hMerge="1">
                  <a:txBody>
                    <a:bodyPr/>
                    <a:lstStyle/>
                    <a:p>
                      <a:endParaRPr lang="en-CN"/>
                    </a:p>
                  </a:txBody>
                  <a:tcPr/>
                </a:tc>
                <a:tc hMerge="1">
                  <a:txBody>
                    <a:bodyPr/>
                    <a:lstStyle/>
                    <a:p>
                      <a:endParaRPr lang="en-CN"/>
                    </a:p>
                  </a:txBody>
                  <a:tcPr/>
                </a:tc>
                <a:extLst>
                  <a:ext uri="{0D108BD9-81ED-4DB2-BD59-A6C34878D82A}">
                    <a16:rowId xmlns:a16="http://schemas.microsoft.com/office/drawing/2014/main" val="3181902021"/>
                  </a:ext>
                </a:extLst>
              </a:tr>
              <a:tr h="237219">
                <a:tc>
                  <a:txBody>
                    <a:bodyPr/>
                    <a:lstStyle/>
                    <a:p>
                      <a:pPr algn="l" fontAlgn="b"/>
                      <a:r>
                        <a:rPr lang="en-US" sz="2000" u="none" strike="noStrike" dirty="0">
                          <a:effectLst/>
                        </a:rPr>
                        <a:t>Total Size</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dirty="0">
                          <a:effectLst/>
                          <a:latin typeface="+mn-lt"/>
                        </a:rPr>
                        <a:t>1572864</a:t>
                      </a:r>
                      <a:endParaRPr lang="en-CN" sz="20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GB</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rowSpan="5">
                  <a:txBody>
                    <a:bodyPr/>
                    <a:lstStyle/>
                    <a:p>
                      <a:pPr algn="l" fontAlgn="b"/>
                      <a:r>
                        <a:rPr lang="en-CN" sz="2000" u="none" strike="noStrike" dirty="0">
                          <a:effectLst/>
                        </a:rPr>
                        <a:t> </a:t>
                      </a:r>
                    </a:p>
                    <a:p>
                      <a:pPr algn="l" fontAlgn="b"/>
                      <a:r>
                        <a:rPr lang="en-CN" sz="2000" u="none" strike="noStrike" dirty="0">
                          <a:effectLst/>
                        </a:rPr>
                        <a:t> </a:t>
                      </a:r>
                    </a:p>
                    <a:p>
                      <a:pPr algn="l" fontAlgn="b"/>
                      <a:r>
                        <a:rPr lang="en-CN" sz="2000" u="none" strike="noStrike" dirty="0">
                          <a:effectLst/>
                        </a:rPr>
                        <a:t> Data source</a:t>
                      </a:r>
                    </a:p>
                    <a:p>
                      <a:pPr algn="l" fontAlgn="b"/>
                      <a:r>
                        <a:rPr lang="en-CN" sz="2000" u="none" strike="noStrike" dirty="0">
                          <a:effectLst/>
                        </a:rPr>
                        <a:t> </a:t>
                      </a:r>
                    </a:p>
                    <a:p>
                      <a:pPr algn="l" fontAlgn="b"/>
                      <a:r>
                        <a:rPr lang="en-CN" sz="2000" u="none" strike="noStrike" dirty="0">
                          <a:effectLst/>
                        </a:rPr>
                        <a:t> </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1895908470"/>
                  </a:ext>
                </a:extLst>
              </a:tr>
              <a:tr h="237219">
                <a:tc>
                  <a:txBody>
                    <a:bodyPr/>
                    <a:lstStyle/>
                    <a:p>
                      <a:pPr algn="l" fontAlgn="b"/>
                      <a:r>
                        <a:rPr lang="en-US" sz="2000" u="none" strike="noStrike" dirty="0">
                          <a:effectLst/>
                        </a:rPr>
                        <a:t>Object average Size</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2</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MB</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vMerge="1">
                  <a:txBody>
                    <a:bodyPr/>
                    <a:lstStyle/>
                    <a:p>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4084451600"/>
                  </a:ext>
                </a:extLst>
              </a:tr>
              <a:tr h="237219">
                <a:tc>
                  <a:txBody>
                    <a:bodyPr/>
                    <a:lstStyle/>
                    <a:p>
                      <a:pPr algn="l" fontAlgn="b"/>
                      <a:r>
                        <a:rPr lang="en-US" sz="2000" u="none" strike="noStrike" dirty="0">
                          <a:effectLst/>
                        </a:rPr>
                        <a:t>Put peak QPS</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12500</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Per second</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vMerge="1">
                  <a:txBody>
                    <a:bodyPr/>
                    <a:lstStyle/>
                    <a:p>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3730148659"/>
                  </a:ext>
                </a:extLst>
              </a:tr>
              <a:tr h="237219">
                <a:tc>
                  <a:txBody>
                    <a:bodyPr/>
                    <a:lstStyle/>
                    <a:p>
                      <a:pPr algn="l" fontAlgn="b"/>
                      <a:r>
                        <a:rPr lang="en-US" sz="2000" u="none" strike="noStrike" dirty="0">
                          <a:effectLst/>
                        </a:rPr>
                        <a:t>Get peak QPS</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a:effectLst/>
                        </a:rPr>
                        <a:t>11000</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Per second</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vMerge="1">
                  <a:txBody>
                    <a:bodyPr/>
                    <a:lstStyle/>
                    <a:p>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559963379"/>
                  </a:ext>
                </a:extLst>
              </a:tr>
              <a:tr h="237219">
                <a:tc>
                  <a:txBody>
                    <a:bodyPr/>
                    <a:lstStyle/>
                    <a:p>
                      <a:pPr algn="l" fontAlgn="b"/>
                      <a:r>
                        <a:rPr lang="en-US" sz="2000" u="none" strike="noStrike" dirty="0">
                          <a:effectLst/>
                        </a:rPr>
                        <a:t>Delete peak QPS</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dirty="0">
                          <a:effectLst/>
                        </a:rPr>
                        <a:t>22000</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Per second</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vMerge="1">
                  <a:txBody>
                    <a:bodyPr/>
                    <a:lstStyle/>
                    <a:p>
                      <a:endParaRPr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25165720"/>
                  </a:ext>
                </a:extLst>
              </a:tr>
            </a:tbl>
          </a:graphicData>
        </a:graphic>
      </p:graphicFrame>
      <p:sp>
        <p:nvSpPr>
          <p:cNvPr id="5" name="TextBox 4">
            <a:extLst>
              <a:ext uri="{FF2B5EF4-FFF2-40B4-BE49-F238E27FC236}">
                <a16:creationId xmlns:a16="http://schemas.microsoft.com/office/drawing/2014/main" id="{6808AD1C-8433-6449-9A7A-E09A7995110A}"/>
              </a:ext>
            </a:extLst>
          </p:cNvPr>
          <p:cNvSpPr txBox="1"/>
          <p:nvPr/>
        </p:nvSpPr>
        <p:spPr>
          <a:xfrm>
            <a:off x="739776" y="6476042"/>
            <a:ext cx="11187678" cy="1938992"/>
          </a:xfrm>
          <a:prstGeom prst="rect">
            <a:avLst/>
          </a:prstGeom>
          <a:noFill/>
        </p:spPr>
        <p:txBody>
          <a:bodyPr wrap="none" rtlCol="0">
            <a:spAutoFit/>
          </a:bodyPr>
          <a:lstStyle/>
          <a:p>
            <a:pPr algn="l"/>
            <a:r>
              <a:rPr lang="en-CN" sz="2400" dirty="0">
                <a:latin typeface="Amazon Ember" panose="020B0603020204020204" pitchFamily="34" charset="0"/>
                <a:ea typeface="Amazon Ember" panose="020B0603020204020204" pitchFamily="34" charset="0"/>
                <a:cs typeface="Amazon Ember" panose="020B0603020204020204" pitchFamily="34" charset="0"/>
              </a:rPr>
              <a:t>Conclusion:</a:t>
            </a:r>
          </a:p>
          <a:p>
            <a:pPr marL="514350" indent="-514350" algn="l">
              <a:buAutoNum type="arabicPeriod"/>
            </a:pPr>
            <a:r>
              <a:rPr lang="en-CN" sz="2400" dirty="0">
                <a:latin typeface="Amazon Ember" panose="020B0603020204020204" pitchFamily="34" charset="0"/>
                <a:ea typeface="Amazon Ember" panose="020B0603020204020204" pitchFamily="34" charset="0"/>
                <a:cs typeface="Amazon Ember" panose="020B0603020204020204" pitchFamily="34" charset="0"/>
              </a:rPr>
              <a:t>S3 bandwidth at lease 195Gbps</a:t>
            </a:r>
          </a:p>
          <a:p>
            <a:pPr marL="514350" indent="-514350" algn="l">
              <a:buAutoNum type="arabicPeriod"/>
            </a:pPr>
            <a:r>
              <a:rPr lang="en-CN" sz="2400" dirty="0">
                <a:latin typeface="Amazon Ember" panose="020B0603020204020204" pitchFamily="34" charset="0"/>
                <a:ea typeface="Amazon Ember" panose="020B0603020204020204" pitchFamily="34" charset="0"/>
                <a:cs typeface="Amazon Ember" panose="020B0603020204020204" pitchFamily="34" charset="0"/>
              </a:rPr>
              <a:t>S3 DTO is unknown, but this item is already included in PPA as 1/15 of DTI </a:t>
            </a:r>
          </a:p>
          <a:p>
            <a:pPr marL="514350" indent="-514350" algn="l">
              <a:buAutoNum type="arabicPeriod"/>
            </a:pPr>
            <a:endParaRPr lang="en-CN" sz="2400" dirty="0">
              <a:latin typeface="Amazon Ember" panose="020B0603020204020204" pitchFamily="34" charset="0"/>
              <a:ea typeface="Amazon Ember" panose="020B0603020204020204" pitchFamily="34" charset="0"/>
              <a:cs typeface="Amazon Ember" panose="020B0603020204020204" pitchFamily="34" charset="0"/>
            </a:endParaRPr>
          </a:p>
          <a:p>
            <a:pPr marL="514350" indent="-514350" algn="l">
              <a:buAutoNum type="arabicPeriod"/>
            </a:pPr>
            <a:endParaRPr lang="en-CN" sz="2400" dirty="0">
              <a:latin typeface="Amazon Ember" panose="020B0603020204020204" pitchFamily="34" charset="0"/>
              <a:ea typeface="Amazon Ember" panose="020B0603020204020204" pitchFamily="34" charset="0"/>
              <a:cs typeface="Amazon Ember" panose="020B0603020204020204" pitchFamily="34" charset="0"/>
            </a:endParaRPr>
          </a:p>
        </p:txBody>
      </p:sp>
      <p:graphicFrame>
        <p:nvGraphicFramePr>
          <p:cNvPr id="8" name="Table 7">
            <a:extLst>
              <a:ext uri="{FF2B5EF4-FFF2-40B4-BE49-F238E27FC236}">
                <a16:creationId xmlns:a16="http://schemas.microsoft.com/office/drawing/2014/main" id="{0DE1F8C0-B225-3F07-C1F8-4D9EEF7F8BAD}"/>
              </a:ext>
            </a:extLst>
          </p:cNvPr>
          <p:cNvGraphicFramePr>
            <a:graphicFrameLocks noGrp="1"/>
          </p:cNvGraphicFramePr>
          <p:nvPr>
            <p:extLst>
              <p:ext uri="{D42A27DB-BD31-4B8C-83A1-F6EECF244321}">
                <p14:modId xmlns:p14="http://schemas.microsoft.com/office/powerpoint/2010/main" val="3139919874"/>
              </p:ext>
            </p:extLst>
          </p:nvPr>
        </p:nvGraphicFramePr>
        <p:xfrm>
          <a:off x="868362" y="3818337"/>
          <a:ext cx="12204699" cy="2445984"/>
        </p:xfrm>
        <a:graphic>
          <a:graphicData uri="http://schemas.openxmlformats.org/drawingml/2006/table">
            <a:tbl>
              <a:tblPr>
                <a:tableStyleId>{5C22544A-7EE6-4342-B048-85BDC9FD1C3A}</a:tableStyleId>
              </a:tblPr>
              <a:tblGrid>
                <a:gridCol w="5099814">
                  <a:extLst>
                    <a:ext uri="{9D8B030D-6E8A-4147-A177-3AD203B41FA5}">
                      <a16:colId xmlns:a16="http://schemas.microsoft.com/office/drawing/2014/main" val="58942690"/>
                    </a:ext>
                  </a:extLst>
                </a:gridCol>
                <a:gridCol w="1541013">
                  <a:extLst>
                    <a:ext uri="{9D8B030D-6E8A-4147-A177-3AD203B41FA5}">
                      <a16:colId xmlns:a16="http://schemas.microsoft.com/office/drawing/2014/main" val="2262170674"/>
                    </a:ext>
                  </a:extLst>
                </a:gridCol>
                <a:gridCol w="1411245">
                  <a:extLst>
                    <a:ext uri="{9D8B030D-6E8A-4147-A177-3AD203B41FA5}">
                      <a16:colId xmlns:a16="http://schemas.microsoft.com/office/drawing/2014/main" val="106720180"/>
                    </a:ext>
                  </a:extLst>
                </a:gridCol>
                <a:gridCol w="4152627">
                  <a:extLst>
                    <a:ext uri="{9D8B030D-6E8A-4147-A177-3AD203B41FA5}">
                      <a16:colId xmlns:a16="http://schemas.microsoft.com/office/drawing/2014/main" val="3565752133"/>
                    </a:ext>
                  </a:extLst>
                </a:gridCol>
              </a:tblGrid>
              <a:tr h="237219">
                <a:tc gridSpan="4">
                  <a:txBody>
                    <a:bodyPr/>
                    <a:lstStyle/>
                    <a:p>
                      <a:pPr algn="ctr" fontAlgn="b"/>
                      <a:r>
                        <a:rPr lang="en-US" sz="2800" b="0" i="0" u="none" strike="noStrike" dirty="0">
                          <a:solidFill>
                            <a:srgbClr val="000000"/>
                          </a:solidFill>
                          <a:effectLst/>
                          <a:latin typeface="Calibri" panose="020F0502020204030204" pitchFamily="34" charset="0"/>
                        </a:rPr>
                        <a:t>Technique Requirements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hMerge="1">
                  <a:txBody>
                    <a:bodyPr/>
                    <a:lstStyle/>
                    <a:p>
                      <a:pPr algn="r" fontAlgn="b"/>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hMerge="1">
                  <a:txBody>
                    <a:bodyPr/>
                    <a:lstStyle/>
                    <a:p>
                      <a:pPr algn="l" fontAlgn="b"/>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hMerge="1">
                  <a:txBody>
                    <a:bodyPr/>
                    <a:lstStyle/>
                    <a:p>
                      <a:pPr algn="l"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479402842"/>
                  </a:ext>
                </a:extLst>
              </a:tr>
              <a:tr h="237219">
                <a:tc>
                  <a:txBody>
                    <a:bodyPr/>
                    <a:lstStyle/>
                    <a:p>
                      <a:pPr algn="l" fontAlgn="b"/>
                      <a:r>
                        <a:rPr lang="en-US" sz="2000" u="none" strike="noStrike" dirty="0">
                          <a:effectLst/>
                        </a:rPr>
                        <a:t>S3 Daily Put total request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b="0" i="0" u="none" strike="noStrike" dirty="0">
                          <a:solidFill>
                            <a:srgbClr val="000000"/>
                          </a:solidFill>
                          <a:effectLst/>
                          <a:latin typeface="+mn-lt"/>
                        </a:rPr>
                        <a:t>805306368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dirty="0">
                          <a:effectLst/>
                        </a:rPr>
                        <a:t> </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S3 Daily Put API total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3207278400"/>
                  </a:ext>
                </a:extLst>
              </a:tr>
              <a:tr h="237219">
                <a:tc>
                  <a:txBody>
                    <a:bodyPr/>
                    <a:lstStyle/>
                    <a:p>
                      <a:pPr algn="l" fontAlgn="b"/>
                      <a:r>
                        <a:rPr lang="en-US" sz="2000" u="none" strike="noStrike">
                          <a:effectLst/>
                        </a:rPr>
                        <a:t>S3 DTI</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dirty="0">
                          <a:effectLst/>
                        </a:rPr>
                        <a:t>1572864</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GB</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a:effectLst/>
                        </a:rPr>
                        <a:t> </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89120383"/>
                  </a:ext>
                </a:extLst>
              </a:tr>
              <a:tr h="237219">
                <a:tc>
                  <a:txBody>
                    <a:bodyPr/>
                    <a:lstStyle/>
                    <a:p>
                      <a:pPr algn="l" fontAlgn="b"/>
                      <a:r>
                        <a:rPr lang="en-US" sz="2000" u="none" strike="noStrike">
                          <a:effectLst/>
                        </a:rPr>
                        <a:t>S3 Upstream bandwidth requirement</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dirty="0">
                          <a:effectLst/>
                        </a:rPr>
                        <a:t>195.3125</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Gbps</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a:effectLst/>
                        </a:rPr>
                        <a:t> </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076580914"/>
                  </a:ext>
                </a:extLst>
              </a:tr>
              <a:tr h="237219">
                <a:tc>
                  <a:txBody>
                    <a:bodyPr/>
                    <a:lstStyle/>
                    <a:p>
                      <a:pPr algn="l" fontAlgn="b"/>
                      <a:r>
                        <a:rPr lang="en-US" sz="2000" u="none" strike="noStrike">
                          <a:effectLst/>
                        </a:rPr>
                        <a:t>S3 Daily Get total request  </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N/A</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a:effectLst/>
                        </a:rPr>
                        <a:t> </a:t>
                      </a:r>
                      <a:endParaRPr lang="en-CN"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S3 Daily Get API total </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2790571456"/>
                  </a:ext>
                </a:extLst>
              </a:tr>
              <a:tr h="237219">
                <a:tc>
                  <a:txBody>
                    <a:bodyPr/>
                    <a:lstStyle/>
                    <a:p>
                      <a:pPr algn="l" fontAlgn="b"/>
                      <a:r>
                        <a:rPr lang="en-US" sz="2000" u="none" strike="noStrike" dirty="0">
                          <a:effectLst/>
                        </a:rPr>
                        <a:t>S3 DTO</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N/A</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dirty="0">
                          <a:effectLst/>
                        </a:rPr>
                        <a:t> </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a:effectLst/>
                        </a:rPr>
                        <a:t>Depend on Get total request</a:t>
                      </a:r>
                      <a:endParaRPr lang="en-US" sz="20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1299587511"/>
                  </a:ext>
                </a:extLst>
              </a:tr>
              <a:tr h="438114">
                <a:tc>
                  <a:txBody>
                    <a:bodyPr/>
                    <a:lstStyle/>
                    <a:p>
                      <a:pPr algn="l" fontAlgn="b"/>
                      <a:r>
                        <a:rPr lang="en-US" sz="2000" u="none" strike="noStrike" dirty="0">
                          <a:effectLst/>
                        </a:rPr>
                        <a:t>S3 Downstream bandwidth requirement</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r" fontAlgn="b"/>
                      <a:r>
                        <a:rPr lang="en-CN" sz="2000" u="none" strike="noStrike" dirty="0">
                          <a:effectLst/>
                        </a:rPr>
                        <a:t>171.875</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US" sz="2000" u="none" strike="noStrike" dirty="0">
                          <a:effectLst/>
                        </a:rPr>
                        <a:t>Gbps</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tc>
                  <a:txBody>
                    <a:bodyPr/>
                    <a:lstStyle/>
                    <a:p>
                      <a:pPr algn="l" fontAlgn="b"/>
                      <a:r>
                        <a:rPr lang="en-CN" sz="2000" u="none" strike="noStrike" dirty="0">
                          <a:effectLst/>
                        </a:rPr>
                        <a:t> </a:t>
                      </a:r>
                      <a:endParaRPr lang="en-CN"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10000"/>
                        <a:lumOff val="90000"/>
                      </a:schemeClr>
                    </a:solidFill>
                  </a:tcPr>
                </a:tc>
                <a:extLst>
                  <a:ext uri="{0D108BD9-81ED-4DB2-BD59-A6C34878D82A}">
                    <a16:rowId xmlns:a16="http://schemas.microsoft.com/office/drawing/2014/main" val="3916858329"/>
                  </a:ext>
                </a:extLst>
              </a:tr>
            </a:tbl>
          </a:graphicData>
        </a:graphic>
      </p:graphicFrame>
    </p:spTree>
    <p:extLst>
      <p:ext uri="{BB962C8B-B14F-4D97-AF65-F5344CB8AC3E}">
        <p14:creationId xmlns:p14="http://schemas.microsoft.com/office/powerpoint/2010/main" val="1760347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48751-3752-48F2-B011-7BEAB706EE9B}"/>
              </a:ext>
            </a:extLst>
          </p:cNvPr>
          <p:cNvSpPr>
            <a:spLocks noGrp="1"/>
          </p:cNvSpPr>
          <p:nvPr>
            <p:ph type="title"/>
          </p:nvPr>
        </p:nvSpPr>
        <p:spPr/>
        <p:txBody>
          <a:bodyPr/>
          <a:lstStyle/>
          <a:p>
            <a:r>
              <a:rPr lang="en-US" altLang="zh-CN" sz="2800" dirty="0"/>
              <a:t>BYON potential proposals</a:t>
            </a:r>
            <a:r>
              <a:rPr lang="zh-CN" altLang="en-US" sz="2800" dirty="0"/>
              <a:t> </a:t>
            </a:r>
            <a:r>
              <a:rPr lang="en-US" altLang="zh-CN" sz="2800" dirty="0"/>
              <a:t>–</a:t>
            </a:r>
            <a:r>
              <a:rPr lang="zh-CN" altLang="en-US" sz="2800" dirty="0"/>
              <a:t> </a:t>
            </a:r>
            <a:r>
              <a:rPr lang="en-US" altLang="zh-CN" sz="2800" dirty="0"/>
              <a:t>With</a:t>
            </a:r>
            <a:r>
              <a:rPr lang="zh-CN" altLang="en-US" sz="2800" dirty="0"/>
              <a:t> </a:t>
            </a:r>
            <a:r>
              <a:rPr lang="en-US" altLang="zh-CN" sz="2800" dirty="0"/>
              <a:t>Telco</a:t>
            </a:r>
            <a:r>
              <a:rPr lang="zh-CN" altLang="en-US" sz="2800" dirty="0"/>
              <a:t> </a:t>
            </a:r>
            <a:r>
              <a:rPr lang="en-US" altLang="zh-CN" sz="2800" dirty="0"/>
              <a:t>Partner, reduce the more Storage cost</a:t>
            </a:r>
            <a:endParaRPr lang="en-US" sz="2800" dirty="0"/>
          </a:p>
        </p:txBody>
      </p:sp>
      <p:graphicFrame>
        <p:nvGraphicFramePr>
          <p:cNvPr id="4" name="Table 4">
            <a:extLst>
              <a:ext uri="{FF2B5EF4-FFF2-40B4-BE49-F238E27FC236}">
                <a16:creationId xmlns:a16="http://schemas.microsoft.com/office/drawing/2014/main" id="{EFC843A4-CED4-4E0C-A733-36F44E37B022}"/>
              </a:ext>
            </a:extLst>
          </p:cNvPr>
          <p:cNvGraphicFramePr>
            <a:graphicFrameLocks noGrp="1"/>
          </p:cNvGraphicFramePr>
          <p:nvPr>
            <p:extLst>
              <p:ext uri="{D42A27DB-BD31-4B8C-83A1-F6EECF244321}">
                <p14:modId xmlns:p14="http://schemas.microsoft.com/office/powerpoint/2010/main" val="3644946575"/>
              </p:ext>
            </p:extLst>
          </p:nvPr>
        </p:nvGraphicFramePr>
        <p:xfrm>
          <a:off x="865333" y="1032267"/>
          <a:ext cx="12899733" cy="6248127"/>
        </p:xfrm>
        <a:graphic>
          <a:graphicData uri="http://schemas.openxmlformats.org/drawingml/2006/table">
            <a:tbl>
              <a:tblPr firstRow="1" bandRow="1">
                <a:tableStyleId>{5C22544A-7EE6-4342-B048-85BDC9FD1C3A}</a:tableStyleId>
              </a:tblPr>
              <a:tblGrid>
                <a:gridCol w="3224933">
                  <a:extLst>
                    <a:ext uri="{9D8B030D-6E8A-4147-A177-3AD203B41FA5}">
                      <a16:colId xmlns:a16="http://schemas.microsoft.com/office/drawing/2014/main" val="1997058042"/>
                    </a:ext>
                  </a:extLst>
                </a:gridCol>
                <a:gridCol w="481734">
                  <a:extLst>
                    <a:ext uri="{9D8B030D-6E8A-4147-A177-3AD203B41FA5}">
                      <a16:colId xmlns:a16="http://schemas.microsoft.com/office/drawing/2014/main" val="355128949"/>
                    </a:ext>
                  </a:extLst>
                </a:gridCol>
                <a:gridCol w="4596533">
                  <a:extLst>
                    <a:ext uri="{9D8B030D-6E8A-4147-A177-3AD203B41FA5}">
                      <a16:colId xmlns:a16="http://schemas.microsoft.com/office/drawing/2014/main" val="2338046542"/>
                    </a:ext>
                  </a:extLst>
                </a:gridCol>
                <a:gridCol w="4596533">
                  <a:extLst>
                    <a:ext uri="{9D8B030D-6E8A-4147-A177-3AD203B41FA5}">
                      <a16:colId xmlns:a16="http://schemas.microsoft.com/office/drawing/2014/main" val="3135669625"/>
                    </a:ext>
                  </a:extLst>
                </a:gridCol>
              </a:tblGrid>
              <a:tr h="336331">
                <a:tc>
                  <a:txBody>
                    <a:bodyPr/>
                    <a:lstStyle/>
                    <a:p>
                      <a:pPr algn="ctr"/>
                      <a:r>
                        <a:rPr lang="en-US" altLang="zh-CN" sz="1800" dirty="0"/>
                        <a:t>Deal Structure</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CN" sz="1800" dirty="0"/>
                        <a:t>Plan A: BYON</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Plan B:</a:t>
                      </a:r>
                      <a:r>
                        <a:rPr lang="zh-CN" altLang="en-US" sz="1800" dirty="0"/>
                        <a:t> </a:t>
                      </a:r>
                      <a:r>
                        <a:rPr lang="en-US" altLang="zh-CN" sz="1800" dirty="0" err="1"/>
                        <a:t>BYON+New</a:t>
                      </a:r>
                      <a:r>
                        <a:rPr lang="zh-CN" altLang="en-US" sz="1800" dirty="0"/>
                        <a:t> </a:t>
                      </a:r>
                      <a:r>
                        <a:rPr lang="en-US" altLang="zh-CN" sz="1800" dirty="0"/>
                        <a:t>Data Center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462506"/>
                  </a:ext>
                </a:extLst>
              </a:tr>
              <a:tr h="4356442">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467915"/>
                  </a:ext>
                </a:extLst>
              </a:tr>
              <a:tr h="1525925">
                <a:tc>
                  <a:txBody>
                    <a:bodyPr/>
                    <a:lstStyle/>
                    <a:p>
                      <a:pPr marL="285750" indent="-285750">
                        <a:buFont typeface="Courier New" panose="02070309020205020404" pitchFamily="49" charset="0"/>
                        <a:buChar char="o"/>
                      </a:pPr>
                      <a:r>
                        <a:rPr lang="en-US" altLang="zh-CN" sz="1400" dirty="0">
                          <a:solidFill>
                            <a:schemeClr val="tx1"/>
                          </a:solidFill>
                        </a:rPr>
                        <a:t>All-in-one-price </a:t>
                      </a:r>
                    </a:p>
                    <a:p>
                      <a:pPr marL="0" indent="0">
                        <a:buFont typeface="Courier New" panose="02070309020205020404" pitchFamily="49" charset="0"/>
                        <a:buNone/>
                      </a:pPr>
                      <a:r>
                        <a:rPr lang="en-US" altLang="zh-CN" sz="1400" dirty="0">
                          <a:solidFill>
                            <a:schemeClr val="tx1"/>
                          </a:solidFill>
                        </a:rPr>
                        <a:t>      = Telco Network + </a:t>
                      </a:r>
                      <a:r>
                        <a:rPr lang="en-US" sz="1400" dirty="0">
                          <a:solidFill>
                            <a:schemeClr val="tx1"/>
                          </a:solidFill>
                        </a:rPr>
                        <a:t>AWS S3</a:t>
                      </a:r>
                      <a:endParaRPr lang="en-US"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285750" indent="-285750" algn="l" defTabSz="731520" rtl="0" eaLnBrk="1" latinLnBrk="0" hangingPunct="1">
                        <a:buFont typeface="Courier New" panose="02070309020205020404" pitchFamily="49" charset="0"/>
                        <a:buChar char="o"/>
                      </a:pPr>
                      <a:r>
                        <a:rPr lang="en-US" sz="1400" kern="1200" dirty="0">
                          <a:solidFill>
                            <a:schemeClr val="tx1"/>
                          </a:solidFill>
                          <a:latin typeface="+mn-lt"/>
                          <a:ea typeface="+mn-ea"/>
                          <a:cs typeface="+mn-cs"/>
                        </a:rPr>
                        <a:t>S3 end point IPs would be provided by Telco.</a:t>
                      </a:r>
                    </a:p>
                    <a:p>
                      <a:pPr marL="285750" indent="-285750" algn="l" defTabSz="731520" rtl="0" eaLnBrk="1" latinLnBrk="0" hangingPunct="1">
                        <a:buFont typeface="Courier New" panose="02070309020205020404" pitchFamily="49" charset="0"/>
                        <a:buChar char="o"/>
                      </a:pPr>
                      <a:r>
                        <a:rPr lang="en-US" sz="1400" kern="1200" dirty="0">
                          <a:solidFill>
                            <a:schemeClr val="tx1"/>
                          </a:solidFill>
                          <a:latin typeface="+mn-lt"/>
                          <a:ea typeface="+mn-ea"/>
                          <a:cs typeface="+mn-cs"/>
                        </a:rPr>
                        <a:t>New dedicated internet trucks for DTO of </a:t>
                      </a:r>
                      <a:r>
                        <a:rPr lang="en-US" sz="1400" kern="1200" dirty="0" err="1">
                          <a:solidFill>
                            <a:schemeClr val="tx1"/>
                          </a:solidFill>
                          <a:latin typeface="+mn-lt"/>
                          <a:ea typeface="+mn-ea"/>
                          <a:cs typeface="+mn-cs"/>
                        </a:rPr>
                        <a:t>fruitstand</a:t>
                      </a:r>
                      <a:r>
                        <a:rPr lang="en-US" sz="1400" kern="1200" dirty="0">
                          <a:solidFill>
                            <a:schemeClr val="tx1"/>
                          </a:solidFill>
                          <a:latin typeface="+mn-lt"/>
                          <a:ea typeface="+mn-ea"/>
                          <a:cs typeface="+mn-cs"/>
                        </a:rPr>
                        <a:t> Telco project, no charge for AWS from Telco.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731520" rtl="0" eaLnBrk="1" latinLnBrk="0" hangingPunct="1">
                        <a:buFont typeface="Courier New" panose="02070309020205020404" pitchFamily="49" charset="0"/>
                        <a:buChar char="o"/>
                      </a:pPr>
                      <a:r>
                        <a:rPr lang="en-US" sz="1400" kern="1200" dirty="0">
                          <a:solidFill>
                            <a:schemeClr val="tx1"/>
                          </a:solidFill>
                          <a:latin typeface="+mn-lt"/>
                          <a:ea typeface="+mn-ea"/>
                          <a:cs typeface="+mn-cs"/>
                        </a:rPr>
                        <a:t>S3 end point Ips would be provided by Telco.</a:t>
                      </a:r>
                    </a:p>
                    <a:p>
                      <a:pPr marL="285750" indent="-285750" algn="l" defTabSz="731520" rtl="0" eaLnBrk="1" latinLnBrk="0" hangingPunct="1">
                        <a:buFont typeface="Courier New" panose="02070309020205020404" pitchFamily="49" charset="0"/>
                        <a:buChar char="o"/>
                      </a:pPr>
                      <a:r>
                        <a:rPr lang="en-US" sz="1400" kern="1200" dirty="0">
                          <a:solidFill>
                            <a:schemeClr val="tx1"/>
                          </a:solidFill>
                          <a:latin typeface="+mn-lt"/>
                          <a:ea typeface="+mn-ea"/>
                          <a:cs typeface="+mn-cs"/>
                        </a:rPr>
                        <a:t>New data center infra to meet 80KM, dedicated for </a:t>
                      </a:r>
                      <a:r>
                        <a:rPr lang="en-US" sz="1400" kern="1200" dirty="0" err="1">
                          <a:solidFill>
                            <a:schemeClr val="tx1"/>
                          </a:solidFill>
                          <a:latin typeface="+mn-lt"/>
                          <a:ea typeface="+mn-ea"/>
                          <a:cs typeface="+mn-cs"/>
                        </a:rPr>
                        <a:t>fruitstand</a:t>
                      </a:r>
                      <a:r>
                        <a:rPr lang="en-US" sz="1400" kern="1200" dirty="0">
                          <a:solidFill>
                            <a:schemeClr val="tx1"/>
                          </a:solidFill>
                          <a:latin typeface="+mn-lt"/>
                          <a:ea typeface="+mn-ea"/>
                          <a:cs typeface="+mn-cs"/>
                        </a:rPr>
                        <a:t> project S3. Cost under discussion.</a:t>
                      </a:r>
                    </a:p>
                    <a:p>
                      <a:pPr marL="285750" indent="-285750" algn="l" defTabSz="731520" rtl="0" eaLnBrk="1" latinLnBrk="0" hangingPunct="1">
                        <a:buFont typeface="Courier New" panose="02070309020205020404" pitchFamily="49" charset="0"/>
                        <a:buChar char="o"/>
                      </a:pPr>
                      <a:r>
                        <a:rPr lang="en-US" sz="1400" kern="1200" dirty="0">
                          <a:solidFill>
                            <a:schemeClr val="tx1"/>
                          </a:solidFill>
                          <a:latin typeface="+mn-lt"/>
                          <a:ea typeface="+mn-ea"/>
                          <a:cs typeface="+mn-cs"/>
                        </a:rPr>
                        <a:t>Dedicated Interlink and Internet trucks, no charge for AWS from Telco.</a:t>
                      </a:r>
                    </a:p>
                    <a:p>
                      <a:pPr marL="285750" indent="-285750" algn="l" defTabSz="731520" rtl="0" eaLnBrk="1" latinLnBrk="0" hangingPunct="1">
                        <a:buFont typeface="Courier New" panose="02070309020205020404" pitchFamily="49" charset="0"/>
                        <a:buChar char="o"/>
                      </a:pPr>
                      <a:endParaRPr lang="en-US"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9420525"/>
                  </a:ext>
                </a:extLst>
              </a:tr>
            </a:tbl>
          </a:graphicData>
        </a:graphic>
      </p:graphicFrame>
      <p:grpSp>
        <p:nvGrpSpPr>
          <p:cNvPr id="20" name="Group 19">
            <a:extLst>
              <a:ext uri="{FF2B5EF4-FFF2-40B4-BE49-F238E27FC236}">
                <a16:creationId xmlns:a16="http://schemas.microsoft.com/office/drawing/2014/main" id="{53AEA077-B04F-483B-9DF3-94334E751919}"/>
              </a:ext>
            </a:extLst>
          </p:cNvPr>
          <p:cNvGrpSpPr/>
          <p:nvPr/>
        </p:nvGrpSpPr>
        <p:grpSpPr>
          <a:xfrm>
            <a:off x="1431429" y="2112238"/>
            <a:ext cx="2195384" cy="3222066"/>
            <a:chOff x="1643303" y="2346411"/>
            <a:chExt cx="2195384" cy="3222066"/>
          </a:xfrm>
        </p:grpSpPr>
        <p:pic>
          <p:nvPicPr>
            <p:cNvPr id="9" name="Picture 8">
              <a:extLst>
                <a:ext uri="{FF2B5EF4-FFF2-40B4-BE49-F238E27FC236}">
                  <a16:creationId xmlns:a16="http://schemas.microsoft.com/office/drawing/2014/main" id="{FD6BA24F-B716-4185-8B7F-F2B97AAD8B90}"/>
                </a:ext>
              </a:extLst>
            </p:cNvPr>
            <p:cNvPicPr>
              <a:picLocks noChangeAspect="1"/>
            </p:cNvPicPr>
            <p:nvPr/>
          </p:nvPicPr>
          <p:blipFill>
            <a:blip r:embed="rId2"/>
            <a:stretch>
              <a:fillRect/>
            </a:stretch>
          </p:blipFill>
          <p:spPr>
            <a:xfrm>
              <a:off x="2132093" y="2346411"/>
              <a:ext cx="834132" cy="547399"/>
            </a:xfrm>
            <a:prstGeom prst="rect">
              <a:avLst/>
            </a:prstGeom>
          </p:spPr>
        </p:pic>
        <p:pic>
          <p:nvPicPr>
            <p:cNvPr id="10" name="Picture 9">
              <a:extLst>
                <a:ext uri="{FF2B5EF4-FFF2-40B4-BE49-F238E27FC236}">
                  <a16:creationId xmlns:a16="http://schemas.microsoft.com/office/drawing/2014/main" id="{304B8AC2-C327-431E-B482-1DD18946FDC6}"/>
                </a:ext>
              </a:extLst>
            </p:cNvPr>
            <p:cNvPicPr>
              <a:picLocks noChangeAspect="1"/>
            </p:cNvPicPr>
            <p:nvPr/>
          </p:nvPicPr>
          <p:blipFill>
            <a:blip r:embed="rId3"/>
            <a:stretch>
              <a:fillRect/>
            </a:stretch>
          </p:blipFill>
          <p:spPr>
            <a:xfrm>
              <a:off x="2348837" y="3583323"/>
              <a:ext cx="1013273" cy="697206"/>
            </a:xfrm>
            <a:prstGeom prst="rect">
              <a:avLst/>
            </a:prstGeom>
          </p:spPr>
        </p:pic>
        <p:pic>
          <p:nvPicPr>
            <p:cNvPr id="11" name="Picture 10">
              <a:extLst>
                <a:ext uri="{FF2B5EF4-FFF2-40B4-BE49-F238E27FC236}">
                  <a16:creationId xmlns:a16="http://schemas.microsoft.com/office/drawing/2014/main" id="{0C3BEBD5-EB37-4E5C-A80F-9A60A2740464}"/>
                </a:ext>
              </a:extLst>
            </p:cNvPr>
            <p:cNvPicPr>
              <a:picLocks noChangeAspect="1"/>
            </p:cNvPicPr>
            <p:nvPr/>
          </p:nvPicPr>
          <p:blipFill>
            <a:blip r:embed="rId4"/>
            <a:stretch>
              <a:fillRect/>
            </a:stretch>
          </p:blipFill>
          <p:spPr>
            <a:xfrm>
              <a:off x="1643303" y="3540256"/>
              <a:ext cx="1305568" cy="783340"/>
            </a:xfrm>
            <a:prstGeom prst="rect">
              <a:avLst/>
            </a:prstGeom>
          </p:spPr>
        </p:pic>
        <p:pic>
          <p:nvPicPr>
            <p:cNvPr id="12" name="Graphic 7">
              <a:extLst>
                <a:ext uri="{FF2B5EF4-FFF2-40B4-BE49-F238E27FC236}">
                  <a16:creationId xmlns:a16="http://schemas.microsoft.com/office/drawing/2014/main" id="{4308A168-077B-49D5-95FD-C34C36A51C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13651" y="5107288"/>
              <a:ext cx="775637" cy="461189"/>
            </a:xfrm>
            <a:prstGeom prst="rect">
              <a:avLst/>
            </a:prstGeom>
          </p:spPr>
        </p:pic>
        <p:cxnSp>
          <p:nvCxnSpPr>
            <p:cNvPr id="14" name="Straight Arrow Connector 13">
              <a:extLst>
                <a:ext uri="{FF2B5EF4-FFF2-40B4-BE49-F238E27FC236}">
                  <a16:creationId xmlns:a16="http://schemas.microsoft.com/office/drawing/2014/main" id="{B6583E74-4B84-445C-BCF6-F001D4B31E7B}"/>
                </a:ext>
              </a:extLst>
            </p:cNvPr>
            <p:cNvCxnSpPr>
              <a:cxnSpLocks/>
              <a:endCxn id="9" idx="2"/>
            </p:cNvCxnSpPr>
            <p:nvPr/>
          </p:nvCxnSpPr>
          <p:spPr>
            <a:xfrm flipV="1">
              <a:off x="2549159" y="2893810"/>
              <a:ext cx="0" cy="783340"/>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4C73DBB-2F77-4B36-B38A-51E8EE151EAA}"/>
                </a:ext>
              </a:extLst>
            </p:cNvPr>
            <p:cNvCxnSpPr>
              <a:cxnSpLocks/>
            </p:cNvCxnSpPr>
            <p:nvPr/>
          </p:nvCxnSpPr>
          <p:spPr>
            <a:xfrm flipV="1">
              <a:off x="2578406" y="4237461"/>
              <a:ext cx="0" cy="783340"/>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6A75638-F253-40E9-88DE-34FD5EE3B5C6}"/>
                </a:ext>
              </a:extLst>
            </p:cNvPr>
            <p:cNvSpPr txBox="1"/>
            <p:nvPr/>
          </p:nvSpPr>
          <p:spPr>
            <a:xfrm>
              <a:off x="2578406" y="4449893"/>
              <a:ext cx="1210588" cy="461665"/>
            </a:xfrm>
            <a:prstGeom prst="rect">
              <a:avLst/>
            </a:prstGeom>
            <a:noFill/>
          </p:spPr>
          <p:txBody>
            <a:bodyPr wrap="none" rtlCol="0">
              <a:spAutoFit/>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Subcontractor</a:t>
              </a:r>
            </a:p>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S3 price</a:t>
              </a:r>
            </a:p>
          </p:txBody>
        </p:sp>
        <p:sp>
          <p:nvSpPr>
            <p:cNvPr id="19" name="TextBox 18">
              <a:extLst>
                <a:ext uri="{FF2B5EF4-FFF2-40B4-BE49-F238E27FC236}">
                  <a16:creationId xmlns:a16="http://schemas.microsoft.com/office/drawing/2014/main" id="{C2F41309-9B6B-47C0-934E-4FBB15A623BE}"/>
                </a:ext>
              </a:extLst>
            </p:cNvPr>
            <p:cNvSpPr txBox="1"/>
            <p:nvPr/>
          </p:nvSpPr>
          <p:spPr>
            <a:xfrm>
              <a:off x="2578406" y="3158607"/>
              <a:ext cx="1260281" cy="276999"/>
            </a:xfrm>
            <a:prstGeom prst="rect">
              <a:avLst/>
            </a:prstGeom>
            <a:noFill/>
          </p:spPr>
          <p:txBody>
            <a:bodyPr wrap="none" rtlCol="0">
              <a:spAutoFit/>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all-in-one-price</a:t>
              </a:r>
            </a:p>
          </p:txBody>
        </p:sp>
      </p:grpSp>
      <p:grpSp>
        <p:nvGrpSpPr>
          <p:cNvPr id="191" name="Group 190">
            <a:extLst>
              <a:ext uri="{FF2B5EF4-FFF2-40B4-BE49-F238E27FC236}">
                <a16:creationId xmlns:a16="http://schemas.microsoft.com/office/drawing/2014/main" id="{D77813C5-7B2F-4F23-8AFB-213418750F89}"/>
              </a:ext>
            </a:extLst>
          </p:cNvPr>
          <p:cNvGrpSpPr/>
          <p:nvPr/>
        </p:nvGrpSpPr>
        <p:grpSpPr>
          <a:xfrm>
            <a:off x="4957336" y="1633371"/>
            <a:ext cx="3713756" cy="3917125"/>
            <a:chOff x="4957336" y="1878693"/>
            <a:chExt cx="3713756" cy="3917125"/>
          </a:xfrm>
        </p:grpSpPr>
        <p:cxnSp>
          <p:nvCxnSpPr>
            <p:cNvPr id="109" name="Straight Connector 108">
              <a:extLst>
                <a:ext uri="{FF2B5EF4-FFF2-40B4-BE49-F238E27FC236}">
                  <a16:creationId xmlns:a16="http://schemas.microsoft.com/office/drawing/2014/main" id="{EF135BFE-0AE7-4BE5-A211-E5B08A3516E0}"/>
                </a:ext>
              </a:extLst>
            </p:cNvPr>
            <p:cNvCxnSpPr>
              <a:cxnSpLocks/>
              <a:stCxn id="142" idx="1"/>
              <a:endCxn id="128" idx="0"/>
            </p:cNvCxnSpPr>
            <p:nvPr/>
          </p:nvCxnSpPr>
          <p:spPr>
            <a:xfrm>
              <a:off x="5972399" y="3111214"/>
              <a:ext cx="1342800" cy="768213"/>
            </a:xfrm>
            <a:prstGeom prst="line">
              <a:avLst/>
            </a:prstGeom>
            <a:ln>
              <a:solidFill>
                <a:srgbClr val="02489D"/>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188EEBA0-047F-48EB-9A93-7EF7A1DCA770}"/>
                </a:ext>
              </a:extLst>
            </p:cNvPr>
            <p:cNvCxnSpPr>
              <a:cxnSpLocks/>
              <a:stCxn id="142" idx="1"/>
              <a:endCxn id="127" idx="0"/>
            </p:cNvCxnSpPr>
            <p:nvPr/>
          </p:nvCxnSpPr>
          <p:spPr>
            <a:xfrm>
              <a:off x="5972399" y="3111214"/>
              <a:ext cx="147116" cy="768213"/>
            </a:xfrm>
            <a:prstGeom prst="line">
              <a:avLst/>
            </a:prstGeom>
            <a:ln>
              <a:solidFill>
                <a:srgbClr val="02489D"/>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BD34043A-C949-41B4-ACB6-1AC9C198B50B}"/>
                </a:ext>
              </a:extLst>
            </p:cNvPr>
            <p:cNvCxnSpPr>
              <a:cxnSpLocks/>
              <a:stCxn id="136" idx="1"/>
              <a:endCxn id="127" idx="0"/>
            </p:cNvCxnSpPr>
            <p:nvPr/>
          </p:nvCxnSpPr>
          <p:spPr>
            <a:xfrm flipH="1">
              <a:off x="6119515" y="2665117"/>
              <a:ext cx="795641" cy="12143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44B25903-170E-4DCA-98F3-A8E5F07E3772}"/>
                </a:ext>
              </a:extLst>
            </p:cNvPr>
            <p:cNvCxnSpPr>
              <a:cxnSpLocks/>
              <a:stCxn id="139" idx="1"/>
              <a:endCxn id="127" idx="0"/>
            </p:cNvCxnSpPr>
            <p:nvPr/>
          </p:nvCxnSpPr>
          <p:spPr>
            <a:xfrm flipH="1">
              <a:off x="6119515" y="3056652"/>
              <a:ext cx="1576154" cy="822775"/>
            </a:xfrm>
            <a:prstGeom prst="line">
              <a:avLst/>
            </a:prstGeom>
            <a:ln>
              <a:solidFill>
                <a:srgbClr val="8BC53E"/>
              </a:solidFill>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C9DA2994-2AD4-4345-B86E-27AC2BAD56F2}"/>
                </a:ext>
              </a:extLst>
            </p:cNvPr>
            <p:cNvCxnSpPr>
              <a:cxnSpLocks/>
              <a:stCxn id="136" idx="1"/>
              <a:endCxn id="128" idx="0"/>
            </p:cNvCxnSpPr>
            <p:nvPr/>
          </p:nvCxnSpPr>
          <p:spPr>
            <a:xfrm>
              <a:off x="6915156" y="2665117"/>
              <a:ext cx="400043" cy="12143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36082335-F4FF-479D-95ED-27F88A5037B1}"/>
                </a:ext>
              </a:extLst>
            </p:cNvPr>
            <p:cNvCxnSpPr>
              <a:cxnSpLocks/>
              <a:stCxn id="139" idx="1"/>
              <a:endCxn id="128" idx="0"/>
            </p:cNvCxnSpPr>
            <p:nvPr/>
          </p:nvCxnSpPr>
          <p:spPr>
            <a:xfrm flipH="1">
              <a:off x="7315199" y="3056652"/>
              <a:ext cx="380470" cy="822775"/>
            </a:xfrm>
            <a:prstGeom prst="line">
              <a:avLst/>
            </a:prstGeom>
            <a:ln>
              <a:solidFill>
                <a:srgbClr val="8BC53E"/>
              </a:solidFill>
            </a:ln>
          </p:spPr>
          <p:style>
            <a:lnRef idx="2">
              <a:schemeClr val="accent1"/>
            </a:lnRef>
            <a:fillRef idx="0">
              <a:schemeClr val="accent1"/>
            </a:fillRef>
            <a:effectRef idx="1">
              <a:schemeClr val="accent1"/>
            </a:effectRef>
            <a:fontRef idx="minor">
              <a:schemeClr val="tx1"/>
            </a:fontRef>
          </p:style>
        </p:cxnSp>
        <p:grpSp>
          <p:nvGrpSpPr>
            <p:cNvPr id="115" name="Group 114">
              <a:extLst>
                <a:ext uri="{FF2B5EF4-FFF2-40B4-BE49-F238E27FC236}">
                  <a16:creationId xmlns:a16="http://schemas.microsoft.com/office/drawing/2014/main" id="{4CCABD82-6CC1-498C-A97A-CD8800AA796A}"/>
                </a:ext>
              </a:extLst>
            </p:cNvPr>
            <p:cNvGrpSpPr/>
            <p:nvPr/>
          </p:nvGrpSpPr>
          <p:grpSpPr>
            <a:xfrm>
              <a:off x="5147600" y="5258362"/>
              <a:ext cx="1072412" cy="323315"/>
              <a:chOff x="5364024" y="3934714"/>
              <a:chExt cx="1072412" cy="323315"/>
            </a:xfrm>
          </p:grpSpPr>
          <p:pic>
            <p:nvPicPr>
              <p:cNvPr id="116" name="Graphic 115">
                <a:extLst>
                  <a:ext uri="{FF2B5EF4-FFF2-40B4-BE49-F238E27FC236}">
                    <a16:creationId xmlns:a16="http://schemas.microsoft.com/office/drawing/2014/main" id="{C1FF7C39-83A0-4BE6-A1EB-D017C1F5B57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64024" y="3936055"/>
                <a:ext cx="312165" cy="321974"/>
              </a:xfrm>
              <a:prstGeom prst="rect">
                <a:avLst/>
              </a:prstGeom>
            </p:spPr>
          </p:pic>
          <p:sp>
            <p:nvSpPr>
              <p:cNvPr id="117" name="Rectangle 116">
                <a:extLst>
                  <a:ext uri="{FF2B5EF4-FFF2-40B4-BE49-F238E27FC236}">
                    <a16:creationId xmlns:a16="http://schemas.microsoft.com/office/drawing/2014/main" id="{36783771-92D2-4D2A-A4B9-187EAFA6F045}"/>
                  </a:ext>
                </a:extLst>
              </p:cNvPr>
              <p:cNvSpPr/>
              <p:nvPr/>
            </p:nvSpPr>
            <p:spPr>
              <a:xfrm>
                <a:off x="5365755" y="3934714"/>
                <a:ext cx="1070681" cy="321974"/>
              </a:xfrm>
              <a:prstGeom prst="rect">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AZ-a</a:t>
                </a:r>
              </a:p>
            </p:txBody>
          </p:sp>
        </p:grpSp>
        <p:grpSp>
          <p:nvGrpSpPr>
            <p:cNvPr id="118" name="Group 117">
              <a:extLst>
                <a:ext uri="{FF2B5EF4-FFF2-40B4-BE49-F238E27FC236}">
                  <a16:creationId xmlns:a16="http://schemas.microsoft.com/office/drawing/2014/main" id="{DCC8862F-BE1D-4024-87EA-FF073BA05A19}"/>
                </a:ext>
              </a:extLst>
            </p:cNvPr>
            <p:cNvGrpSpPr/>
            <p:nvPr/>
          </p:nvGrpSpPr>
          <p:grpSpPr>
            <a:xfrm>
              <a:off x="6287913" y="5258362"/>
              <a:ext cx="1072412" cy="323315"/>
              <a:chOff x="5364024" y="3934714"/>
              <a:chExt cx="1072412" cy="323315"/>
            </a:xfrm>
          </p:grpSpPr>
          <p:pic>
            <p:nvPicPr>
              <p:cNvPr id="119" name="Graphic 118">
                <a:extLst>
                  <a:ext uri="{FF2B5EF4-FFF2-40B4-BE49-F238E27FC236}">
                    <a16:creationId xmlns:a16="http://schemas.microsoft.com/office/drawing/2014/main" id="{3AFDFDB0-66FA-478D-BCF0-FFA304AB0D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64024" y="3936055"/>
                <a:ext cx="312165" cy="321974"/>
              </a:xfrm>
              <a:prstGeom prst="rect">
                <a:avLst/>
              </a:prstGeom>
            </p:spPr>
          </p:pic>
          <p:sp>
            <p:nvSpPr>
              <p:cNvPr id="120" name="Rectangle 119">
                <a:extLst>
                  <a:ext uri="{FF2B5EF4-FFF2-40B4-BE49-F238E27FC236}">
                    <a16:creationId xmlns:a16="http://schemas.microsoft.com/office/drawing/2014/main" id="{E53B6228-533A-46D8-8FBF-D475FF0A6FA9}"/>
                  </a:ext>
                </a:extLst>
              </p:cNvPr>
              <p:cNvSpPr/>
              <p:nvPr/>
            </p:nvSpPr>
            <p:spPr>
              <a:xfrm>
                <a:off x="5365755" y="3934714"/>
                <a:ext cx="1070681" cy="321974"/>
              </a:xfrm>
              <a:prstGeom prst="rect">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AZ-</a:t>
                </a:r>
                <a:r>
                  <a:rPr kumimoji="0" lang="en-US" altLang="zh-CN"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b</a:t>
                </a:r>
                <a:endPar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endParaRPr>
              </a:p>
            </p:txBody>
          </p:sp>
        </p:grpSp>
        <p:grpSp>
          <p:nvGrpSpPr>
            <p:cNvPr id="121" name="Group 120">
              <a:extLst>
                <a:ext uri="{FF2B5EF4-FFF2-40B4-BE49-F238E27FC236}">
                  <a16:creationId xmlns:a16="http://schemas.microsoft.com/office/drawing/2014/main" id="{6CAB5C25-B620-4730-8DB7-17A82EF73F95}"/>
                </a:ext>
              </a:extLst>
            </p:cNvPr>
            <p:cNvGrpSpPr/>
            <p:nvPr/>
          </p:nvGrpSpPr>
          <p:grpSpPr>
            <a:xfrm>
              <a:off x="7428225" y="5258362"/>
              <a:ext cx="1072412" cy="323315"/>
              <a:chOff x="5364024" y="3934714"/>
              <a:chExt cx="1072412" cy="323315"/>
            </a:xfrm>
          </p:grpSpPr>
          <p:pic>
            <p:nvPicPr>
              <p:cNvPr id="122" name="Graphic 121">
                <a:extLst>
                  <a:ext uri="{FF2B5EF4-FFF2-40B4-BE49-F238E27FC236}">
                    <a16:creationId xmlns:a16="http://schemas.microsoft.com/office/drawing/2014/main" id="{7A2D17C8-44B3-4591-BC61-F627190D825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64024" y="3936055"/>
                <a:ext cx="312165" cy="321974"/>
              </a:xfrm>
              <a:prstGeom prst="rect">
                <a:avLst/>
              </a:prstGeom>
            </p:spPr>
          </p:pic>
          <p:sp>
            <p:nvSpPr>
              <p:cNvPr id="123" name="Rectangle 122">
                <a:extLst>
                  <a:ext uri="{FF2B5EF4-FFF2-40B4-BE49-F238E27FC236}">
                    <a16:creationId xmlns:a16="http://schemas.microsoft.com/office/drawing/2014/main" id="{B2C2AD90-BA89-4065-B1AF-EA3EA8B59809}"/>
                  </a:ext>
                </a:extLst>
              </p:cNvPr>
              <p:cNvSpPr/>
              <p:nvPr/>
            </p:nvSpPr>
            <p:spPr>
              <a:xfrm>
                <a:off x="5365755" y="3934714"/>
                <a:ext cx="1070681" cy="321974"/>
              </a:xfrm>
              <a:prstGeom prst="rect">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AZ-</a:t>
                </a:r>
                <a:r>
                  <a:rPr kumimoji="0" lang="en-US" altLang="zh-CN"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c</a:t>
                </a:r>
                <a:endPar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endParaRPr>
              </a:p>
            </p:txBody>
          </p:sp>
        </p:grpSp>
        <p:sp>
          <p:nvSpPr>
            <p:cNvPr id="124" name="Rectangle 123">
              <a:extLst>
                <a:ext uri="{FF2B5EF4-FFF2-40B4-BE49-F238E27FC236}">
                  <a16:creationId xmlns:a16="http://schemas.microsoft.com/office/drawing/2014/main" id="{8350A3E3-3158-4EA3-A8F9-C80843153711}"/>
                </a:ext>
              </a:extLst>
            </p:cNvPr>
            <p:cNvSpPr/>
            <p:nvPr/>
          </p:nvSpPr>
          <p:spPr>
            <a:xfrm>
              <a:off x="4966079" y="3462334"/>
              <a:ext cx="3705013" cy="2333484"/>
            </a:xfrm>
            <a:prstGeom prst="rect">
              <a:avLst/>
            </a:prstGeom>
            <a:noFill/>
            <a:ln w="12700">
              <a:solidFill>
                <a:srgbClr val="FF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9900"/>
                  </a:solidFill>
                  <a:effectLst/>
                  <a:uLnTx/>
                  <a:uFillTx/>
                  <a:latin typeface="Arial" panose="020B0604020202020204" pitchFamily="34" charset="0"/>
                  <a:ea typeface="+mn-ea"/>
                  <a:cs typeface="Arial" panose="020B0604020202020204" pitchFamily="34" charset="0"/>
                </a:rPr>
                <a:t>AWS Region</a:t>
              </a:r>
            </a:p>
          </p:txBody>
        </p:sp>
        <p:pic>
          <p:nvPicPr>
            <p:cNvPr id="125" name="Graphic 124">
              <a:extLst>
                <a:ext uri="{FF2B5EF4-FFF2-40B4-BE49-F238E27FC236}">
                  <a16:creationId xmlns:a16="http://schemas.microsoft.com/office/drawing/2014/main" id="{CC1C1FBC-9BD9-43C2-BD7D-39CEB67DE3A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57336" y="3452593"/>
              <a:ext cx="321974" cy="321974"/>
            </a:xfrm>
            <a:prstGeom prst="rect">
              <a:avLst/>
            </a:prstGeom>
          </p:spPr>
        </p:pic>
        <p:sp>
          <p:nvSpPr>
            <p:cNvPr id="126" name="Oval 125">
              <a:extLst>
                <a:ext uri="{FF2B5EF4-FFF2-40B4-BE49-F238E27FC236}">
                  <a16:creationId xmlns:a16="http://schemas.microsoft.com/office/drawing/2014/main" id="{5AC2755A-7609-47C3-BBC7-12D235FEE903}"/>
                </a:ext>
              </a:extLst>
            </p:cNvPr>
            <p:cNvSpPr/>
            <p:nvPr/>
          </p:nvSpPr>
          <p:spPr>
            <a:xfrm>
              <a:off x="5365790" y="4407428"/>
              <a:ext cx="2801091" cy="589101"/>
            </a:xfrm>
            <a:prstGeom prst="ellipse">
              <a:avLst/>
            </a:prstGeom>
            <a:noFill/>
            <a:ln>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9900"/>
                  </a:solidFill>
                  <a:effectLst/>
                  <a:uLnTx/>
                  <a:uFillTx/>
                  <a:latin typeface="Amazon Ember"/>
                  <a:ea typeface="+mn-ea"/>
                  <a:cs typeface="+mn-cs"/>
                </a:rPr>
                <a:t>Border Network</a:t>
              </a:r>
            </a:p>
          </p:txBody>
        </p:sp>
        <p:sp>
          <p:nvSpPr>
            <p:cNvPr id="127" name="Rectangle 126">
              <a:extLst>
                <a:ext uri="{FF2B5EF4-FFF2-40B4-BE49-F238E27FC236}">
                  <a16:creationId xmlns:a16="http://schemas.microsoft.com/office/drawing/2014/main" id="{7C1CC218-5459-49B4-A3B9-D7C56EA18004}"/>
                </a:ext>
              </a:extLst>
            </p:cNvPr>
            <p:cNvSpPr/>
            <p:nvPr/>
          </p:nvSpPr>
          <p:spPr>
            <a:xfrm>
              <a:off x="5795034" y="3879427"/>
              <a:ext cx="648961" cy="289757"/>
            </a:xfrm>
            <a:prstGeom prst="rect">
              <a:avLst/>
            </a:prstGeom>
            <a:noFill/>
            <a:ln>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9900"/>
                  </a:solidFill>
                  <a:effectLst/>
                  <a:uLnTx/>
                  <a:uFillTx/>
                  <a:latin typeface="Amazon Ember"/>
                  <a:ea typeface="+mn-ea"/>
                  <a:cs typeface="+mn-cs"/>
                </a:rPr>
                <a:t>TC</a:t>
              </a:r>
            </a:p>
          </p:txBody>
        </p:sp>
        <p:sp>
          <p:nvSpPr>
            <p:cNvPr id="128" name="Rectangle 127">
              <a:extLst>
                <a:ext uri="{FF2B5EF4-FFF2-40B4-BE49-F238E27FC236}">
                  <a16:creationId xmlns:a16="http://schemas.microsoft.com/office/drawing/2014/main" id="{A51546E4-A5BF-492C-BF84-E28830E13F26}"/>
                </a:ext>
              </a:extLst>
            </p:cNvPr>
            <p:cNvSpPr/>
            <p:nvPr/>
          </p:nvSpPr>
          <p:spPr>
            <a:xfrm>
              <a:off x="6990718" y="3879427"/>
              <a:ext cx="648961" cy="289757"/>
            </a:xfrm>
            <a:prstGeom prst="rect">
              <a:avLst/>
            </a:prstGeom>
            <a:noFill/>
            <a:ln>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9900"/>
                  </a:solidFill>
                  <a:effectLst/>
                  <a:uLnTx/>
                  <a:uFillTx/>
                  <a:latin typeface="Amazon Ember"/>
                  <a:ea typeface="+mn-ea"/>
                  <a:cs typeface="+mn-cs"/>
                </a:rPr>
                <a:t>TC</a:t>
              </a:r>
            </a:p>
          </p:txBody>
        </p:sp>
        <p:cxnSp>
          <p:nvCxnSpPr>
            <p:cNvPr id="129" name="Straight Connector 128">
              <a:extLst>
                <a:ext uri="{FF2B5EF4-FFF2-40B4-BE49-F238E27FC236}">
                  <a16:creationId xmlns:a16="http://schemas.microsoft.com/office/drawing/2014/main" id="{180201B9-F903-44B1-A21C-2097BE07505C}"/>
                </a:ext>
              </a:extLst>
            </p:cNvPr>
            <p:cNvCxnSpPr>
              <a:cxnSpLocks/>
              <a:stCxn id="127" idx="2"/>
              <a:endCxn id="117" idx="0"/>
            </p:cNvCxnSpPr>
            <p:nvPr/>
          </p:nvCxnSpPr>
          <p:spPr>
            <a:xfrm flipH="1">
              <a:off x="5684672" y="4169184"/>
              <a:ext cx="434843" cy="1089178"/>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A63B28A4-E0CE-4FFB-B7A1-8242A7FA775B}"/>
                </a:ext>
              </a:extLst>
            </p:cNvPr>
            <p:cNvCxnSpPr>
              <a:cxnSpLocks/>
              <a:stCxn id="128" idx="2"/>
              <a:endCxn id="120" idx="0"/>
            </p:cNvCxnSpPr>
            <p:nvPr/>
          </p:nvCxnSpPr>
          <p:spPr>
            <a:xfrm flipH="1">
              <a:off x="6824985" y="4169184"/>
              <a:ext cx="490214" cy="1089178"/>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A48C9711-8311-471D-9E11-B1ED5EBEA291}"/>
                </a:ext>
              </a:extLst>
            </p:cNvPr>
            <p:cNvCxnSpPr>
              <a:cxnSpLocks/>
              <a:stCxn id="123" idx="0"/>
              <a:endCxn id="128" idx="2"/>
            </p:cNvCxnSpPr>
            <p:nvPr/>
          </p:nvCxnSpPr>
          <p:spPr>
            <a:xfrm flipH="1" flipV="1">
              <a:off x="7315199" y="4169184"/>
              <a:ext cx="650098" cy="1089178"/>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99B71050-3ED9-434C-8DCD-1028A343D6E7}"/>
                </a:ext>
              </a:extLst>
            </p:cNvPr>
            <p:cNvCxnSpPr>
              <a:cxnSpLocks/>
              <a:stCxn id="128" idx="2"/>
              <a:endCxn id="117" idx="0"/>
            </p:cNvCxnSpPr>
            <p:nvPr/>
          </p:nvCxnSpPr>
          <p:spPr>
            <a:xfrm flipH="1">
              <a:off x="5684672" y="4169184"/>
              <a:ext cx="1630527" cy="1089178"/>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8F90DD6C-A56E-4BB2-89ED-F5ED0D090272}"/>
                </a:ext>
              </a:extLst>
            </p:cNvPr>
            <p:cNvCxnSpPr>
              <a:cxnSpLocks/>
              <a:stCxn id="120" idx="0"/>
              <a:endCxn id="127" idx="2"/>
            </p:cNvCxnSpPr>
            <p:nvPr/>
          </p:nvCxnSpPr>
          <p:spPr>
            <a:xfrm flipH="1" flipV="1">
              <a:off x="6119515" y="4169184"/>
              <a:ext cx="705470" cy="1089178"/>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4CB86A09-8A6E-4C23-B00F-BBA7B1395511}"/>
                </a:ext>
              </a:extLst>
            </p:cNvPr>
            <p:cNvCxnSpPr>
              <a:cxnSpLocks/>
              <a:stCxn id="123" idx="0"/>
              <a:endCxn id="127" idx="2"/>
            </p:cNvCxnSpPr>
            <p:nvPr/>
          </p:nvCxnSpPr>
          <p:spPr>
            <a:xfrm flipH="1" flipV="1">
              <a:off x="6119515" y="4169184"/>
              <a:ext cx="1845782" cy="1089178"/>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grpSp>
          <p:nvGrpSpPr>
            <p:cNvPr id="135" name="Group 134">
              <a:extLst>
                <a:ext uri="{FF2B5EF4-FFF2-40B4-BE49-F238E27FC236}">
                  <a16:creationId xmlns:a16="http://schemas.microsoft.com/office/drawing/2014/main" id="{53193EDC-A6E8-48EB-8976-058CDA7DACD5}"/>
                </a:ext>
              </a:extLst>
            </p:cNvPr>
            <p:cNvGrpSpPr/>
            <p:nvPr/>
          </p:nvGrpSpPr>
          <p:grpSpPr>
            <a:xfrm>
              <a:off x="6323737" y="1878693"/>
              <a:ext cx="1182838" cy="787262"/>
              <a:chOff x="6323737" y="1878693"/>
              <a:chExt cx="1182838" cy="787262"/>
            </a:xfrm>
          </p:grpSpPr>
          <p:sp>
            <p:nvSpPr>
              <p:cNvPr id="136" name="Cloud 135">
                <a:extLst>
                  <a:ext uri="{FF2B5EF4-FFF2-40B4-BE49-F238E27FC236}">
                    <a16:creationId xmlns:a16="http://schemas.microsoft.com/office/drawing/2014/main" id="{9C3A298E-3700-4A0D-9D2E-0FDF1D34E6C0}"/>
                  </a:ext>
                </a:extLst>
              </p:cNvPr>
              <p:cNvSpPr/>
              <p:nvPr/>
            </p:nvSpPr>
            <p:spPr>
              <a:xfrm>
                <a:off x="6323737" y="1878693"/>
                <a:ext cx="1182838" cy="787262"/>
              </a:xfrm>
              <a:prstGeom prst="cloud">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endParaRPr kumimoji="0" lang="en-US" sz="2880" b="0" i="0" u="none" strike="noStrike" kern="1200" cap="none" spc="0" normalizeH="0" baseline="0" noProof="0" dirty="0">
                  <a:ln>
                    <a:noFill/>
                  </a:ln>
                  <a:solidFill>
                    <a:srgbClr val="FFFFFF"/>
                  </a:solidFill>
                  <a:effectLst/>
                  <a:uLnTx/>
                  <a:uFillTx/>
                  <a:latin typeface="Amazon Ember"/>
                  <a:ea typeface="+mn-ea"/>
                  <a:cs typeface="+mn-cs"/>
                </a:endParaRPr>
              </a:p>
            </p:txBody>
          </p:sp>
          <p:pic>
            <p:nvPicPr>
              <p:cNvPr id="137" name="Picture 136">
                <a:extLst>
                  <a:ext uri="{FF2B5EF4-FFF2-40B4-BE49-F238E27FC236}">
                    <a16:creationId xmlns:a16="http://schemas.microsoft.com/office/drawing/2014/main" id="{92316E96-3E00-4335-84A7-636661680FFF}"/>
                  </a:ext>
                </a:extLst>
              </p:cNvPr>
              <p:cNvPicPr>
                <a:picLocks noChangeAspect="1"/>
              </p:cNvPicPr>
              <p:nvPr/>
            </p:nvPicPr>
            <p:blipFill>
              <a:blip r:embed="rId3"/>
              <a:stretch>
                <a:fillRect/>
              </a:stretch>
            </p:blipFill>
            <p:spPr>
              <a:xfrm>
                <a:off x="6609110" y="2041771"/>
                <a:ext cx="612092" cy="421164"/>
              </a:xfrm>
              <a:prstGeom prst="rect">
                <a:avLst/>
              </a:prstGeom>
            </p:spPr>
          </p:pic>
        </p:grpSp>
        <p:grpSp>
          <p:nvGrpSpPr>
            <p:cNvPr id="138" name="Group 137">
              <a:extLst>
                <a:ext uri="{FF2B5EF4-FFF2-40B4-BE49-F238E27FC236}">
                  <a16:creationId xmlns:a16="http://schemas.microsoft.com/office/drawing/2014/main" id="{CAC22F3B-A3E7-4DD7-8A3E-5FF40DF6B437}"/>
                </a:ext>
              </a:extLst>
            </p:cNvPr>
            <p:cNvGrpSpPr/>
            <p:nvPr/>
          </p:nvGrpSpPr>
          <p:grpSpPr>
            <a:xfrm>
              <a:off x="7104250" y="2270228"/>
              <a:ext cx="1182838" cy="787262"/>
              <a:chOff x="7506575" y="2459238"/>
              <a:chExt cx="1182838" cy="787262"/>
            </a:xfrm>
          </p:grpSpPr>
          <p:sp>
            <p:nvSpPr>
              <p:cNvPr id="139" name="Cloud 138">
                <a:extLst>
                  <a:ext uri="{FF2B5EF4-FFF2-40B4-BE49-F238E27FC236}">
                    <a16:creationId xmlns:a16="http://schemas.microsoft.com/office/drawing/2014/main" id="{E88B072A-59E1-4123-8870-A833EE335EB1}"/>
                  </a:ext>
                </a:extLst>
              </p:cNvPr>
              <p:cNvSpPr/>
              <p:nvPr/>
            </p:nvSpPr>
            <p:spPr>
              <a:xfrm>
                <a:off x="7506575" y="2459238"/>
                <a:ext cx="1182838" cy="787262"/>
              </a:xfrm>
              <a:prstGeom prst="cloud">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endParaRPr kumimoji="0" lang="en-US" sz="2880" b="0" i="0" u="none" strike="noStrike" kern="1200" cap="none" spc="0" normalizeH="0" baseline="0" noProof="0" dirty="0">
                  <a:ln>
                    <a:noFill/>
                  </a:ln>
                  <a:solidFill>
                    <a:srgbClr val="FFFFFF"/>
                  </a:solidFill>
                  <a:effectLst/>
                  <a:uLnTx/>
                  <a:uFillTx/>
                  <a:latin typeface="Amazon Ember"/>
                  <a:ea typeface="+mn-ea"/>
                  <a:cs typeface="+mn-cs"/>
                </a:endParaRPr>
              </a:p>
            </p:txBody>
          </p:sp>
          <p:pic>
            <p:nvPicPr>
              <p:cNvPr id="140" name="Picture 139">
                <a:extLst>
                  <a:ext uri="{FF2B5EF4-FFF2-40B4-BE49-F238E27FC236}">
                    <a16:creationId xmlns:a16="http://schemas.microsoft.com/office/drawing/2014/main" id="{2CCAD510-E73B-4CC8-90E8-732C91A5DBD9}"/>
                  </a:ext>
                </a:extLst>
              </p:cNvPr>
              <p:cNvPicPr>
                <a:picLocks noChangeAspect="1"/>
              </p:cNvPicPr>
              <p:nvPr/>
            </p:nvPicPr>
            <p:blipFill>
              <a:blip r:embed="rId4"/>
              <a:stretch>
                <a:fillRect/>
              </a:stretch>
            </p:blipFill>
            <p:spPr>
              <a:xfrm>
                <a:off x="7722469" y="2603424"/>
                <a:ext cx="788659" cy="473195"/>
              </a:xfrm>
              <a:prstGeom prst="rect">
                <a:avLst/>
              </a:prstGeom>
            </p:spPr>
          </p:pic>
        </p:grpSp>
        <p:grpSp>
          <p:nvGrpSpPr>
            <p:cNvPr id="141" name="Group 140">
              <a:extLst>
                <a:ext uri="{FF2B5EF4-FFF2-40B4-BE49-F238E27FC236}">
                  <a16:creationId xmlns:a16="http://schemas.microsoft.com/office/drawing/2014/main" id="{BE25AC6E-74B2-4021-96FE-BD1C611523E5}"/>
                </a:ext>
              </a:extLst>
            </p:cNvPr>
            <p:cNvGrpSpPr/>
            <p:nvPr/>
          </p:nvGrpSpPr>
          <p:grpSpPr>
            <a:xfrm>
              <a:off x="5380980" y="2324790"/>
              <a:ext cx="1182838" cy="787262"/>
              <a:chOff x="5037174" y="2482318"/>
              <a:chExt cx="1182838" cy="787262"/>
            </a:xfrm>
          </p:grpSpPr>
          <p:sp>
            <p:nvSpPr>
              <p:cNvPr id="142" name="Cloud 141">
                <a:extLst>
                  <a:ext uri="{FF2B5EF4-FFF2-40B4-BE49-F238E27FC236}">
                    <a16:creationId xmlns:a16="http://schemas.microsoft.com/office/drawing/2014/main" id="{CA0A67F8-27F9-452D-A7DE-E39E375DDD72}"/>
                  </a:ext>
                </a:extLst>
              </p:cNvPr>
              <p:cNvSpPr/>
              <p:nvPr/>
            </p:nvSpPr>
            <p:spPr>
              <a:xfrm>
                <a:off x="5037174" y="2482318"/>
                <a:ext cx="1182838" cy="787262"/>
              </a:xfrm>
              <a:prstGeom prst="cloud">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endParaRPr kumimoji="0" lang="en-US" sz="2880" b="0" i="0" u="none" strike="noStrike" kern="1200" cap="none" spc="0" normalizeH="0" baseline="0" noProof="0" dirty="0">
                  <a:ln>
                    <a:noFill/>
                  </a:ln>
                  <a:solidFill>
                    <a:srgbClr val="FFFFFF"/>
                  </a:solidFill>
                  <a:effectLst/>
                  <a:uLnTx/>
                  <a:uFillTx/>
                  <a:latin typeface="Amazon Ember"/>
                  <a:ea typeface="+mn-ea"/>
                  <a:cs typeface="+mn-cs"/>
                </a:endParaRPr>
              </a:p>
            </p:txBody>
          </p:sp>
          <p:pic>
            <p:nvPicPr>
              <p:cNvPr id="143" name="Picture 142">
                <a:extLst>
                  <a:ext uri="{FF2B5EF4-FFF2-40B4-BE49-F238E27FC236}">
                    <a16:creationId xmlns:a16="http://schemas.microsoft.com/office/drawing/2014/main" id="{645D0D82-CF3A-469A-9623-3EFCF297C294}"/>
                  </a:ext>
                </a:extLst>
              </p:cNvPr>
              <p:cNvPicPr>
                <a:picLocks noChangeAspect="1"/>
              </p:cNvPicPr>
              <p:nvPr/>
            </p:nvPicPr>
            <p:blipFill>
              <a:blip r:embed="rId11"/>
              <a:stretch>
                <a:fillRect/>
              </a:stretch>
            </p:blipFill>
            <p:spPr>
              <a:xfrm>
                <a:off x="5475273" y="2741962"/>
                <a:ext cx="306639" cy="306639"/>
              </a:xfrm>
              <a:prstGeom prst="rect">
                <a:avLst/>
              </a:prstGeom>
            </p:spPr>
          </p:pic>
        </p:grpSp>
        <p:cxnSp>
          <p:nvCxnSpPr>
            <p:cNvPr id="144" name="Straight Connector 143">
              <a:extLst>
                <a:ext uri="{FF2B5EF4-FFF2-40B4-BE49-F238E27FC236}">
                  <a16:creationId xmlns:a16="http://schemas.microsoft.com/office/drawing/2014/main" id="{32C92664-DCED-48F7-A626-C31954218476}"/>
                </a:ext>
              </a:extLst>
            </p:cNvPr>
            <p:cNvCxnSpPr>
              <a:cxnSpLocks/>
            </p:cNvCxnSpPr>
            <p:nvPr/>
          </p:nvCxnSpPr>
          <p:spPr>
            <a:xfrm flipH="1">
              <a:off x="7425562" y="3134770"/>
              <a:ext cx="360798" cy="774017"/>
            </a:xfrm>
            <a:prstGeom prst="line">
              <a:avLst/>
            </a:prstGeom>
            <a:ln w="76200">
              <a:solidFill>
                <a:srgbClr val="8BC53E"/>
              </a:solidFill>
            </a:ln>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F752BF0A-3B8C-4CB5-85D3-9F6E911CE8D5}"/>
                </a:ext>
              </a:extLst>
            </p:cNvPr>
            <p:cNvCxnSpPr>
              <a:cxnSpLocks/>
            </p:cNvCxnSpPr>
            <p:nvPr/>
          </p:nvCxnSpPr>
          <p:spPr>
            <a:xfrm flipH="1">
              <a:off x="6250398" y="3109873"/>
              <a:ext cx="1555633" cy="800255"/>
            </a:xfrm>
            <a:prstGeom prst="line">
              <a:avLst/>
            </a:prstGeom>
            <a:ln w="76200">
              <a:solidFill>
                <a:srgbClr val="8BC53E"/>
              </a:solidFill>
            </a:ln>
          </p:spPr>
          <p:style>
            <a:lnRef idx="2">
              <a:schemeClr val="accent1"/>
            </a:lnRef>
            <a:fillRef idx="0">
              <a:schemeClr val="accent1"/>
            </a:fillRef>
            <a:effectRef idx="1">
              <a:schemeClr val="accent1"/>
            </a:effectRef>
            <a:fontRef idx="minor">
              <a:schemeClr val="tx1"/>
            </a:fontRef>
          </p:style>
        </p:cxnSp>
      </p:grpSp>
      <p:grpSp>
        <p:nvGrpSpPr>
          <p:cNvPr id="192" name="Group 191">
            <a:extLst>
              <a:ext uri="{FF2B5EF4-FFF2-40B4-BE49-F238E27FC236}">
                <a16:creationId xmlns:a16="http://schemas.microsoft.com/office/drawing/2014/main" id="{76818A1F-A6E4-48C6-96B0-F4BC1513D653}"/>
              </a:ext>
            </a:extLst>
          </p:cNvPr>
          <p:cNvGrpSpPr/>
          <p:nvPr/>
        </p:nvGrpSpPr>
        <p:grpSpPr>
          <a:xfrm>
            <a:off x="9612708" y="1640429"/>
            <a:ext cx="3713756" cy="3917125"/>
            <a:chOff x="9556953" y="1807694"/>
            <a:chExt cx="3713756" cy="3917125"/>
          </a:xfrm>
        </p:grpSpPr>
        <p:cxnSp>
          <p:nvCxnSpPr>
            <p:cNvPr id="146" name="Straight Connector 145">
              <a:extLst>
                <a:ext uri="{FF2B5EF4-FFF2-40B4-BE49-F238E27FC236}">
                  <a16:creationId xmlns:a16="http://schemas.microsoft.com/office/drawing/2014/main" id="{03682C49-3C00-4615-9449-CFC2D62EA8E2}"/>
                </a:ext>
              </a:extLst>
            </p:cNvPr>
            <p:cNvCxnSpPr>
              <a:cxnSpLocks/>
              <a:stCxn id="179" idx="1"/>
              <a:endCxn id="165" idx="0"/>
            </p:cNvCxnSpPr>
            <p:nvPr/>
          </p:nvCxnSpPr>
          <p:spPr>
            <a:xfrm>
              <a:off x="10572016" y="3040215"/>
              <a:ext cx="1342800" cy="768213"/>
            </a:xfrm>
            <a:prstGeom prst="line">
              <a:avLst/>
            </a:prstGeom>
            <a:ln>
              <a:solidFill>
                <a:srgbClr val="02489D"/>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D5EEA16F-9793-42B0-AD9C-45951A5C1B57}"/>
                </a:ext>
              </a:extLst>
            </p:cNvPr>
            <p:cNvCxnSpPr>
              <a:cxnSpLocks/>
              <a:stCxn id="179" idx="1"/>
              <a:endCxn id="164" idx="0"/>
            </p:cNvCxnSpPr>
            <p:nvPr/>
          </p:nvCxnSpPr>
          <p:spPr>
            <a:xfrm>
              <a:off x="10572016" y="3040215"/>
              <a:ext cx="147116" cy="768213"/>
            </a:xfrm>
            <a:prstGeom prst="line">
              <a:avLst/>
            </a:prstGeom>
            <a:ln>
              <a:solidFill>
                <a:srgbClr val="02489D"/>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B62FDEBC-8B00-46BE-BF73-A77D12CDADF5}"/>
                </a:ext>
              </a:extLst>
            </p:cNvPr>
            <p:cNvCxnSpPr>
              <a:cxnSpLocks/>
              <a:stCxn id="173" idx="1"/>
              <a:endCxn id="164" idx="0"/>
            </p:cNvCxnSpPr>
            <p:nvPr/>
          </p:nvCxnSpPr>
          <p:spPr>
            <a:xfrm flipH="1">
              <a:off x="10719132" y="2594118"/>
              <a:ext cx="795641" cy="12143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C57A37FE-9D21-4D75-ACDF-27BABF095962}"/>
                </a:ext>
              </a:extLst>
            </p:cNvPr>
            <p:cNvCxnSpPr>
              <a:cxnSpLocks/>
              <a:stCxn id="176" idx="1"/>
              <a:endCxn id="164" idx="0"/>
            </p:cNvCxnSpPr>
            <p:nvPr/>
          </p:nvCxnSpPr>
          <p:spPr>
            <a:xfrm flipH="1">
              <a:off x="10719132" y="2985653"/>
              <a:ext cx="1576154" cy="822775"/>
            </a:xfrm>
            <a:prstGeom prst="line">
              <a:avLst/>
            </a:prstGeom>
            <a:ln>
              <a:solidFill>
                <a:srgbClr val="8BC53E"/>
              </a:solidFill>
            </a:ln>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19CABC6F-9806-4AEB-9F45-A940937A86EB}"/>
                </a:ext>
              </a:extLst>
            </p:cNvPr>
            <p:cNvCxnSpPr>
              <a:cxnSpLocks/>
              <a:stCxn id="173" idx="1"/>
              <a:endCxn id="165" idx="0"/>
            </p:cNvCxnSpPr>
            <p:nvPr/>
          </p:nvCxnSpPr>
          <p:spPr>
            <a:xfrm>
              <a:off x="11514773" y="2594118"/>
              <a:ext cx="400043" cy="12143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2768B5EA-CF55-436B-A9F0-082E316575F4}"/>
                </a:ext>
              </a:extLst>
            </p:cNvPr>
            <p:cNvCxnSpPr>
              <a:cxnSpLocks/>
              <a:stCxn id="176" idx="1"/>
              <a:endCxn id="165" idx="0"/>
            </p:cNvCxnSpPr>
            <p:nvPr/>
          </p:nvCxnSpPr>
          <p:spPr>
            <a:xfrm flipH="1">
              <a:off x="11914816" y="2985653"/>
              <a:ext cx="380470" cy="822775"/>
            </a:xfrm>
            <a:prstGeom prst="line">
              <a:avLst/>
            </a:prstGeom>
            <a:ln>
              <a:solidFill>
                <a:srgbClr val="8BC53E"/>
              </a:solidFill>
            </a:ln>
          </p:spPr>
          <p:style>
            <a:lnRef idx="2">
              <a:schemeClr val="accent1"/>
            </a:lnRef>
            <a:fillRef idx="0">
              <a:schemeClr val="accent1"/>
            </a:fillRef>
            <a:effectRef idx="1">
              <a:schemeClr val="accent1"/>
            </a:effectRef>
            <a:fontRef idx="minor">
              <a:schemeClr val="tx1"/>
            </a:fontRef>
          </p:style>
        </p:cxnSp>
        <p:grpSp>
          <p:nvGrpSpPr>
            <p:cNvPr id="152" name="Group 151">
              <a:extLst>
                <a:ext uri="{FF2B5EF4-FFF2-40B4-BE49-F238E27FC236}">
                  <a16:creationId xmlns:a16="http://schemas.microsoft.com/office/drawing/2014/main" id="{0DF97AD1-C48E-41B4-A078-092FC25EFEAE}"/>
                </a:ext>
              </a:extLst>
            </p:cNvPr>
            <p:cNvGrpSpPr/>
            <p:nvPr/>
          </p:nvGrpSpPr>
          <p:grpSpPr>
            <a:xfrm>
              <a:off x="9658009" y="4953192"/>
              <a:ext cx="1072412" cy="323315"/>
              <a:chOff x="5364024" y="3934714"/>
              <a:chExt cx="1072412" cy="323315"/>
            </a:xfrm>
          </p:grpSpPr>
          <p:pic>
            <p:nvPicPr>
              <p:cNvPr id="153" name="Graphic 152">
                <a:extLst>
                  <a:ext uri="{FF2B5EF4-FFF2-40B4-BE49-F238E27FC236}">
                    <a16:creationId xmlns:a16="http://schemas.microsoft.com/office/drawing/2014/main" id="{C65436E1-4A08-414F-B1C5-07EBB1922B2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64024" y="3936055"/>
                <a:ext cx="312165" cy="321974"/>
              </a:xfrm>
              <a:prstGeom prst="rect">
                <a:avLst/>
              </a:prstGeom>
            </p:spPr>
          </p:pic>
          <p:sp>
            <p:nvSpPr>
              <p:cNvPr id="154" name="Rectangle 153">
                <a:extLst>
                  <a:ext uri="{FF2B5EF4-FFF2-40B4-BE49-F238E27FC236}">
                    <a16:creationId xmlns:a16="http://schemas.microsoft.com/office/drawing/2014/main" id="{30C272A2-4095-4171-8726-FC4701EDB7E0}"/>
                  </a:ext>
                </a:extLst>
              </p:cNvPr>
              <p:cNvSpPr/>
              <p:nvPr/>
            </p:nvSpPr>
            <p:spPr>
              <a:xfrm>
                <a:off x="5365755" y="3934714"/>
                <a:ext cx="1070681" cy="321974"/>
              </a:xfrm>
              <a:prstGeom prst="rect">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AZ-a</a:t>
                </a:r>
              </a:p>
            </p:txBody>
          </p:sp>
        </p:grpSp>
        <p:grpSp>
          <p:nvGrpSpPr>
            <p:cNvPr id="155" name="Group 154">
              <a:extLst>
                <a:ext uri="{FF2B5EF4-FFF2-40B4-BE49-F238E27FC236}">
                  <a16:creationId xmlns:a16="http://schemas.microsoft.com/office/drawing/2014/main" id="{56CA2511-2AD9-4B8E-A862-C4C2F3957E63}"/>
                </a:ext>
              </a:extLst>
            </p:cNvPr>
            <p:cNvGrpSpPr/>
            <p:nvPr/>
          </p:nvGrpSpPr>
          <p:grpSpPr>
            <a:xfrm>
              <a:off x="10463792" y="5354628"/>
              <a:ext cx="1072412" cy="323315"/>
              <a:chOff x="5364024" y="3934714"/>
              <a:chExt cx="1072412" cy="323315"/>
            </a:xfrm>
          </p:grpSpPr>
          <p:pic>
            <p:nvPicPr>
              <p:cNvPr id="156" name="Graphic 155">
                <a:extLst>
                  <a:ext uri="{FF2B5EF4-FFF2-40B4-BE49-F238E27FC236}">
                    <a16:creationId xmlns:a16="http://schemas.microsoft.com/office/drawing/2014/main" id="{D8EABBA6-9544-4204-ACD1-42ECF86AB17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64024" y="3936055"/>
                <a:ext cx="312165" cy="321974"/>
              </a:xfrm>
              <a:prstGeom prst="rect">
                <a:avLst/>
              </a:prstGeom>
            </p:spPr>
          </p:pic>
          <p:sp>
            <p:nvSpPr>
              <p:cNvPr id="157" name="Rectangle 156">
                <a:extLst>
                  <a:ext uri="{FF2B5EF4-FFF2-40B4-BE49-F238E27FC236}">
                    <a16:creationId xmlns:a16="http://schemas.microsoft.com/office/drawing/2014/main" id="{ADA47238-AD5C-4522-AB52-244FD4D95705}"/>
                  </a:ext>
                </a:extLst>
              </p:cNvPr>
              <p:cNvSpPr/>
              <p:nvPr/>
            </p:nvSpPr>
            <p:spPr>
              <a:xfrm>
                <a:off x="5365755" y="3934714"/>
                <a:ext cx="1070681" cy="321974"/>
              </a:xfrm>
              <a:prstGeom prst="rect">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AZ-</a:t>
                </a:r>
                <a:r>
                  <a:rPr kumimoji="0" lang="en-US" altLang="zh-CN"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b</a:t>
                </a:r>
                <a:endPar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endParaRPr>
              </a:p>
            </p:txBody>
          </p:sp>
        </p:grpSp>
        <p:grpSp>
          <p:nvGrpSpPr>
            <p:cNvPr id="158" name="Group 157">
              <a:extLst>
                <a:ext uri="{FF2B5EF4-FFF2-40B4-BE49-F238E27FC236}">
                  <a16:creationId xmlns:a16="http://schemas.microsoft.com/office/drawing/2014/main" id="{456C68AC-75E0-448C-A5C0-5507DCB9C263}"/>
                </a:ext>
              </a:extLst>
            </p:cNvPr>
            <p:cNvGrpSpPr/>
            <p:nvPr/>
          </p:nvGrpSpPr>
          <p:grpSpPr>
            <a:xfrm>
              <a:off x="11035386" y="4975492"/>
              <a:ext cx="1072412" cy="323315"/>
              <a:chOff x="5364024" y="3934714"/>
              <a:chExt cx="1072412" cy="323315"/>
            </a:xfrm>
          </p:grpSpPr>
          <p:pic>
            <p:nvPicPr>
              <p:cNvPr id="159" name="Graphic 158">
                <a:extLst>
                  <a:ext uri="{FF2B5EF4-FFF2-40B4-BE49-F238E27FC236}">
                    <a16:creationId xmlns:a16="http://schemas.microsoft.com/office/drawing/2014/main" id="{972AE1BF-3ED7-45E8-830D-9BE34167AA3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64024" y="3936055"/>
                <a:ext cx="312165" cy="321974"/>
              </a:xfrm>
              <a:prstGeom prst="rect">
                <a:avLst/>
              </a:prstGeom>
            </p:spPr>
          </p:pic>
          <p:sp>
            <p:nvSpPr>
              <p:cNvPr id="160" name="Rectangle 159">
                <a:extLst>
                  <a:ext uri="{FF2B5EF4-FFF2-40B4-BE49-F238E27FC236}">
                    <a16:creationId xmlns:a16="http://schemas.microsoft.com/office/drawing/2014/main" id="{DBE4F8B0-3A16-4335-BF0B-10538077190B}"/>
                  </a:ext>
                </a:extLst>
              </p:cNvPr>
              <p:cNvSpPr/>
              <p:nvPr/>
            </p:nvSpPr>
            <p:spPr>
              <a:xfrm>
                <a:off x="5365755" y="3934714"/>
                <a:ext cx="1070681" cy="321974"/>
              </a:xfrm>
              <a:prstGeom prst="rect">
                <a:avLst/>
              </a:prstGeom>
              <a:no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AZ-</a:t>
                </a:r>
                <a:r>
                  <a:rPr kumimoji="0" lang="en-US" altLang="zh-CN"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rPr>
                  <a:t>c</a:t>
                </a:r>
                <a:endParaRPr kumimoji="0" lang="en-US" sz="1200" b="0" i="0" u="none" strike="noStrike" kern="1200" cap="none" spc="0" normalizeH="0" baseline="0" noProof="0" dirty="0">
                  <a:ln w="0"/>
                  <a:solidFill>
                    <a:srgbClr val="FF9900"/>
                  </a:solidFill>
                  <a:effectLst/>
                  <a:uLnTx/>
                  <a:uFillTx/>
                  <a:latin typeface="Arial" panose="020B0604020202020204" pitchFamily="34" charset="0"/>
                  <a:ea typeface="+mn-ea"/>
                  <a:cs typeface="Arial" panose="020B0604020202020204" pitchFamily="34" charset="0"/>
                </a:endParaRPr>
              </a:p>
            </p:txBody>
          </p:sp>
        </p:grpSp>
        <p:sp>
          <p:nvSpPr>
            <p:cNvPr id="161" name="Rectangle 160">
              <a:extLst>
                <a:ext uri="{FF2B5EF4-FFF2-40B4-BE49-F238E27FC236}">
                  <a16:creationId xmlns:a16="http://schemas.microsoft.com/office/drawing/2014/main" id="{10A21EF3-DEB3-40FA-A1C9-54CE6D23E334}"/>
                </a:ext>
              </a:extLst>
            </p:cNvPr>
            <p:cNvSpPr/>
            <p:nvPr/>
          </p:nvSpPr>
          <p:spPr>
            <a:xfrm>
              <a:off x="9565696" y="3391335"/>
              <a:ext cx="3705013" cy="2333484"/>
            </a:xfrm>
            <a:prstGeom prst="rect">
              <a:avLst/>
            </a:prstGeom>
            <a:noFill/>
            <a:ln w="12700">
              <a:solidFill>
                <a:srgbClr val="FF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9900"/>
                  </a:solidFill>
                  <a:effectLst/>
                  <a:uLnTx/>
                  <a:uFillTx/>
                  <a:latin typeface="Arial" panose="020B0604020202020204" pitchFamily="34" charset="0"/>
                  <a:ea typeface="+mn-ea"/>
                  <a:cs typeface="Arial" panose="020B0604020202020204" pitchFamily="34" charset="0"/>
                </a:rPr>
                <a:t>AWS Region</a:t>
              </a:r>
            </a:p>
          </p:txBody>
        </p:sp>
        <p:pic>
          <p:nvPicPr>
            <p:cNvPr id="162" name="Graphic 161">
              <a:extLst>
                <a:ext uri="{FF2B5EF4-FFF2-40B4-BE49-F238E27FC236}">
                  <a16:creationId xmlns:a16="http://schemas.microsoft.com/office/drawing/2014/main" id="{4D871E1F-8813-4EF9-BF70-BD8199BC2A0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556953" y="3381594"/>
              <a:ext cx="321974" cy="321974"/>
            </a:xfrm>
            <a:prstGeom prst="rect">
              <a:avLst/>
            </a:prstGeom>
          </p:spPr>
        </p:pic>
        <p:sp>
          <p:nvSpPr>
            <p:cNvPr id="163" name="Oval 162">
              <a:extLst>
                <a:ext uri="{FF2B5EF4-FFF2-40B4-BE49-F238E27FC236}">
                  <a16:creationId xmlns:a16="http://schemas.microsoft.com/office/drawing/2014/main" id="{A0B68314-FA50-4D6E-BB07-DAAE4EEA5775}"/>
                </a:ext>
              </a:extLst>
            </p:cNvPr>
            <p:cNvSpPr/>
            <p:nvPr/>
          </p:nvSpPr>
          <p:spPr>
            <a:xfrm>
              <a:off x="9790922" y="4190175"/>
              <a:ext cx="2801091" cy="589101"/>
            </a:xfrm>
            <a:prstGeom prst="ellipse">
              <a:avLst/>
            </a:prstGeom>
            <a:noFill/>
            <a:ln>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9900"/>
                  </a:solidFill>
                  <a:effectLst/>
                  <a:uLnTx/>
                  <a:uFillTx/>
                  <a:latin typeface="Amazon Ember"/>
                  <a:ea typeface="+mn-ea"/>
                  <a:cs typeface="+mn-cs"/>
                </a:rPr>
                <a:t>Border Network</a:t>
              </a:r>
            </a:p>
          </p:txBody>
        </p:sp>
        <p:sp>
          <p:nvSpPr>
            <p:cNvPr id="164" name="Rectangle 163">
              <a:extLst>
                <a:ext uri="{FF2B5EF4-FFF2-40B4-BE49-F238E27FC236}">
                  <a16:creationId xmlns:a16="http://schemas.microsoft.com/office/drawing/2014/main" id="{34EA23EC-925D-4344-8B9D-00BF88A00558}"/>
                </a:ext>
              </a:extLst>
            </p:cNvPr>
            <p:cNvSpPr/>
            <p:nvPr/>
          </p:nvSpPr>
          <p:spPr>
            <a:xfrm>
              <a:off x="10394651" y="3808428"/>
              <a:ext cx="648961" cy="289757"/>
            </a:xfrm>
            <a:prstGeom prst="rect">
              <a:avLst/>
            </a:prstGeom>
            <a:noFill/>
            <a:ln>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9900"/>
                  </a:solidFill>
                  <a:effectLst/>
                  <a:uLnTx/>
                  <a:uFillTx/>
                  <a:latin typeface="Amazon Ember"/>
                  <a:ea typeface="+mn-ea"/>
                  <a:cs typeface="+mn-cs"/>
                </a:rPr>
                <a:t>TC</a:t>
              </a:r>
            </a:p>
          </p:txBody>
        </p:sp>
        <p:sp>
          <p:nvSpPr>
            <p:cNvPr id="165" name="Rectangle 164">
              <a:extLst>
                <a:ext uri="{FF2B5EF4-FFF2-40B4-BE49-F238E27FC236}">
                  <a16:creationId xmlns:a16="http://schemas.microsoft.com/office/drawing/2014/main" id="{2B366CF7-6209-48DA-BF7B-7603CCDE32FB}"/>
                </a:ext>
              </a:extLst>
            </p:cNvPr>
            <p:cNvSpPr/>
            <p:nvPr/>
          </p:nvSpPr>
          <p:spPr>
            <a:xfrm>
              <a:off x="11590335" y="3808428"/>
              <a:ext cx="648961" cy="289757"/>
            </a:xfrm>
            <a:prstGeom prst="rect">
              <a:avLst/>
            </a:prstGeom>
            <a:noFill/>
            <a:ln>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9900"/>
                  </a:solidFill>
                  <a:effectLst/>
                  <a:uLnTx/>
                  <a:uFillTx/>
                  <a:latin typeface="Amazon Ember"/>
                  <a:ea typeface="+mn-ea"/>
                  <a:cs typeface="+mn-cs"/>
                </a:rPr>
                <a:t>TC</a:t>
              </a:r>
            </a:p>
          </p:txBody>
        </p:sp>
        <p:cxnSp>
          <p:nvCxnSpPr>
            <p:cNvPr id="166" name="Straight Connector 165">
              <a:extLst>
                <a:ext uri="{FF2B5EF4-FFF2-40B4-BE49-F238E27FC236}">
                  <a16:creationId xmlns:a16="http://schemas.microsoft.com/office/drawing/2014/main" id="{76C1F795-CC1B-44AD-94B8-5D2F571AA957}"/>
                </a:ext>
              </a:extLst>
            </p:cNvPr>
            <p:cNvCxnSpPr>
              <a:cxnSpLocks/>
              <a:stCxn id="164" idx="2"/>
              <a:endCxn id="154" idx="0"/>
            </p:cNvCxnSpPr>
            <p:nvPr/>
          </p:nvCxnSpPr>
          <p:spPr>
            <a:xfrm flipH="1">
              <a:off x="10195081" y="4098185"/>
              <a:ext cx="524051" cy="855007"/>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F9491743-B6FE-4B0B-857A-0FC48F1947BB}"/>
                </a:ext>
              </a:extLst>
            </p:cNvPr>
            <p:cNvCxnSpPr>
              <a:cxnSpLocks/>
              <a:stCxn id="165" idx="2"/>
              <a:endCxn id="157" idx="0"/>
            </p:cNvCxnSpPr>
            <p:nvPr/>
          </p:nvCxnSpPr>
          <p:spPr>
            <a:xfrm flipH="1">
              <a:off x="11000864" y="4098185"/>
              <a:ext cx="913952" cy="1256443"/>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68" name="Straight Connector 167">
              <a:extLst>
                <a:ext uri="{FF2B5EF4-FFF2-40B4-BE49-F238E27FC236}">
                  <a16:creationId xmlns:a16="http://schemas.microsoft.com/office/drawing/2014/main" id="{9FB23356-1D0D-45ED-948B-E023D5C5BF8F}"/>
                </a:ext>
              </a:extLst>
            </p:cNvPr>
            <p:cNvCxnSpPr>
              <a:cxnSpLocks/>
              <a:stCxn id="160" idx="0"/>
              <a:endCxn id="165" idx="2"/>
            </p:cNvCxnSpPr>
            <p:nvPr/>
          </p:nvCxnSpPr>
          <p:spPr>
            <a:xfrm flipV="1">
              <a:off x="11572458" y="4098185"/>
              <a:ext cx="342358" cy="877307"/>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69" name="Straight Connector 168">
              <a:extLst>
                <a:ext uri="{FF2B5EF4-FFF2-40B4-BE49-F238E27FC236}">
                  <a16:creationId xmlns:a16="http://schemas.microsoft.com/office/drawing/2014/main" id="{A086E834-3A1F-44B2-A787-A8AC6C52FB5D}"/>
                </a:ext>
              </a:extLst>
            </p:cNvPr>
            <p:cNvCxnSpPr>
              <a:cxnSpLocks/>
              <a:stCxn id="165" idx="2"/>
              <a:endCxn id="154" idx="0"/>
            </p:cNvCxnSpPr>
            <p:nvPr/>
          </p:nvCxnSpPr>
          <p:spPr>
            <a:xfrm flipH="1">
              <a:off x="10195081" y="4098185"/>
              <a:ext cx="1719735" cy="855007"/>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70" name="Straight Connector 169">
              <a:extLst>
                <a:ext uri="{FF2B5EF4-FFF2-40B4-BE49-F238E27FC236}">
                  <a16:creationId xmlns:a16="http://schemas.microsoft.com/office/drawing/2014/main" id="{544F0C75-357F-4025-9664-B8CE20FC50F1}"/>
                </a:ext>
              </a:extLst>
            </p:cNvPr>
            <p:cNvCxnSpPr>
              <a:cxnSpLocks/>
              <a:stCxn id="157" idx="0"/>
              <a:endCxn id="164" idx="2"/>
            </p:cNvCxnSpPr>
            <p:nvPr/>
          </p:nvCxnSpPr>
          <p:spPr>
            <a:xfrm flipH="1" flipV="1">
              <a:off x="10719132" y="4098185"/>
              <a:ext cx="281732" cy="1256443"/>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FC480148-4BB8-4412-9D8C-2CB90471BC85}"/>
                </a:ext>
              </a:extLst>
            </p:cNvPr>
            <p:cNvCxnSpPr>
              <a:cxnSpLocks/>
              <a:stCxn id="160" idx="0"/>
              <a:endCxn id="164" idx="2"/>
            </p:cNvCxnSpPr>
            <p:nvPr/>
          </p:nvCxnSpPr>
          <p:spPr>
            <a:xfrm flipH="1" flipV="1">
              <a:off x="10719132" y="4098185"/>
              <a:ext cx="853326" cy="877307"/>
            </a:xfrm>
            <a:prstGeom prst="line">
              <a:avLst/>
            </a:prstGeom>
            <a:ln w="6350">
              <a:solidFill>
                <a:srgbClr val="FF9900"/>
              </a:solidFill>
              <a:prstDash val="lgDashDotDot"/>
            </a:ln>
          </p:spPr>
          <p:style>
            <a:lnRef idx="2">
              <a:schemeClr val="accent1"/>
            </a:lnRef>
            <a:fillRef idx="0">
              <a:schemeClr val="accent1"/>
            </a:fillRef>
            <a:effectRef idx="1">
              <a:schemeClr val="accent1"/>
            </a:effectRef>
            <a:fontRef idx="minor">
              <a:schemeClr val="tx1"/>
            </a:fontRef>
          </p:style>
        </p:cxnSp>
        <p:grpSp>
          <p:nvGrpSpPr>
            <p:cNvPr id="172" name="Group 171">
              <a:extLst>
                <a:ext uri="{FF2B5EF4-FFF2-40B4-BE49-F238E27FC236}">
                  <a16:creationId xmlns:a16="http://schemas.microsoft.com/office/drawing/2014/main" id="{0B4D95E7-74A4-4BC6-B8FA-ECA1514A09AA}"/>
                </a:ext>
              </a:extLst>
            </p:cNvPr>
            <p:cNvGrpSpPr/>
            <p:nvPr/>
          </p:nvGrpSpPr>
          <p:grpSpPr>
            <a:xfrm>
              <a:off x="10923354" y="1807694"/>
              <a:ext cx="1182838" cy="787262"/>
              <a:chOff x="6323737" y="1878693"/>
              <a:chExt cx="1182838" cy="787262"/>
            </a:xfrm>
          </p:grpSpPr>
          <p:sp>
            <p:nvSpPr>
              <p:cNvPr id="173" name="Cloud 172">
                <a:extLst>
                  <a:ext uri="{FF2B5EF4-FFF2-40B4-BE49-F238E27FC236}">
                    <a16:creationId xmlns:a16="http://schemas.microsoft.com/office/drawing/2014/main" id="{F912D0F7-9244-4FED-89E8-049C1E86999D}"/>
                  </a:ext>
                </a:extLst>
              </p:cNvPr>
              <p:cNvSpPr/>
              <p:nvPr/>
            </p:nvSpPr>
            <p:spPr>
              <a:xfrm>
                <a:off x="6323737" y="1878693"/>
                <a:ext cx="1182838" cy="787262"/>
              </a:xfrm>
              <a:prstGeom prst="cloud">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endParaRPr kumimoji="0" lang="en-US" sz="2880" b="0" i="0" u="none" strike="noStrike" kern="1200" cap="none" spc="0" normalizeH="0" baseline="0" noProof="0" dirty="0">
                  <a:ln>
                    <a:noFill/>
                  </a:ln>
                  <a:solidFill>
                    <a:srgbClr val="FFFFFF"/>
                  </a:solidFill>
                  <a:effectLst/>
                  <a:uLnTx/>
                  <a:uFillTx/>
                  <a:latin typeface="Amazon Ember"/>
                  <a:ea typeface="+mn-ea"/>
                  <a:cs typeface="+mn-cs"/>
                </a:endParaRPr>
              </a:p>
            </p:txBody>
          </p:sp>
          <p:pic>
            <p:nvPicPr>
              <p:cNvPr id="174" name="Picture 173">
                <a:extLst>
                  <a:ext uri="{FF2B5EF4-FFF2-40B4-BE49-F238E27FC236}">
                    <a16:creationId xmlns:a16="http://schemas.microsoft.com/office/drawing/2014/main" id="{B98021D3-2569-4F79-8BA0-5BD8475A4014}"/>
                  </a:ext>
                </a:extLst>
              </p:cNvPr>
              <p:cNvPicPr>
                <a:picLocks noChangeAspect="1"/>
              </p:cNvPicPr>
              <p:nvPr/>
            </p:nvPicPr>
            <p:blipFill>
              <a:blip r:embed="rId3"/>
              <a:stretch>
                <a:fillRect/>
              </a:stretch>
            </p:blipFill>
            <p:spPr>
              <a:xfrm>
                <a:off x="6609110" y="2041771"/>
                <a:ext cx="612092" cy="421164"/>
              </a:xfrm>
              <a:prstGeom prst="rect">
                <a:avLst/>
              </a:prstGeom>
            </p:spPr>
          </p:pic>
        </p:grpSp>
        <p:grpSp>
          <p:nvGrpSpPr>
            <p:cNvPr id="175" name="Group 174">
              <a:extLst>
                <a:ext uri="{FF2B5EF4-FFF2-40B4-BE49-F238E27FC236}">
                  <a16:creationId xmlns:a16="http://schemas.microsoft.com/office/drawing/2014/main" id="{703A1127-C59F-41BB-8F72-3F1B7C45521D}"/>
                </a:ext>
              </a:extLst>
            </p:cNvPr>
            <p:cNvGrpSpPr/>
            <p:nvPr/>
          </p:nvGrpSpPr>
          <p:grpSpPr>
            <a:xfrm>
              <a:off x="11703867" y="2199229"/>
              <a:ext cx="1182838" cy="787262"/>
              <a:chOff x="7506575" y="2459238"/>
              <a:chExt cx="1182838" cy="787262"/>
            </a:xfrm>
          </p:grpSpPr>
          <p:sp>
            <p:nvSpPr>
              <p:cNvPr id="176" name="Cloud 175">
                <a:extLst>
                  <a:ext uri="{FF2B5EF4-FFF2-40B4-BE49-F238E27FC236}">
                    <a16:creationId xmlns:a16="http://schemas.microsoft.com/office/drawing/2014/main" id="{3F07DAD7-E190-4FE5-8305-C8E3CF67018A}"/>
                  </a:ext>
                </a:extLst>
              </p:cNvPr>
              <p:cNvSpPr/>
              <p:nvPr/>
            </p:nvSpPr>
            <p:spPr>
              <a:xfrm>
                <a:off x="7506575" y="2459238"/>
                <a:ext cx="1182838" cy="787262"/>
              </a:xfrm>
              <a:prstGeom prst="cloud">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endParaRPr kumimoji="0" lang="en-US" sz="2880" b="0" i="0" u="none" strike="noStrike" kern="1200" cap="none" spc="0" normalizeH="0" baseline="0" noProof="0" dirty="0">
                  <a:ln>
                    <a:noFill/>
                  </a:ln>
                  <a:solidFill>
                    <a:srgbClr val="FFFFFF"/>
                  </a:solidFill>
                  <a:effectLst/>
                  <a:uLnTx/>
                  <a:uFillTx/>
                  <a:latin typeface="Amazon Ember"/>
                  <a:ea typeface="+mn-ea"/>
                  <a:cs typeface="+mn-cs"/>
                </a:endParaRPr>
              </a:p>
            </p:txBody>
          </p:sp>
          <p:pic>
            <p:nvPicPr>
              <p:cNvPr id="177" name="Picture 176">
                <a:extLst>
                  <a:ext uri="{FF2B5EF4-FFF2-40B4-BE49-F238E27FC236}">
                    <a16:creationId xmlns:a16="http://schemas.microsoft.com/office/drawing/2014/main" id="{5B89CD78-53D8-4BD4-8BAB-0BBCA4436560}"/>
                  </a:ext>
                </a:extLst>
              </p:cNvPr>
              <p:cNvPicPr>
                <a:picLocks noChangeAspect="1"/>
              </p:cNvPicPr>
              <p:nvPr/>
            </p:nvPicPr>
            <p:blipFill>
              <a:blip r:embed="rId4"/>
              <a:stretch>
                <a:fillRect/>
              </a:stretch>
            </p:blipFill>
            <p:spPr>
              <a:xfrm>
                <a:off x="7700167" y="2614575"/>
                <a:ext cx="788659" cy="473195"/>
              </a:xfrm>
              <a:prstGeom prst="rect">
                <a:avLst/>
              </a:prstGeom>
            </p:spPr>
          </p:pic>
        </p:grpSp>
        <p:grpSp>
          <p:nvGrpSpPr>
            <p:cNvPr id="178" name="Group 177">
              <a:extLst>
                <a:ext uri="{FF2B5EF4-FFF2-40B4-BE49-F238E27FC236}">
                  <a16:creationId xmlns:a16="http://schemas.microsoft.com/office/drawing/2014/main" id="{18DDF198-8243-45D7-92FC-826910AD6A80}"/>
                </a:ext>
              </a:extLst>
            </p:cNvPr>
            <p:cNvGrpSpPr/>
            <p:nvPr/>
          </p:nvGrpSpPr>
          <p:grpSpPr>
            <a:xfrm>
              <a:off x="9980597" y="2253791"/>
              <a:ext cx="1182838" cy="787262"/>
              <a:chOff x="5037174" y="2482318"/>
              <a:chExt cx="1182838" cy="787262"/>
            </a:xfrm>
          </p:grpSpPr>
          <p:sp>
            <p:nvSpPr>
              <p:cNvPr id="179" name="Cloud 178">
                <a:extLst>
                  <a:ext uri="{FF2B5EF4-FFF2-40B4-BE49-F238E27FC236}">
                    <a16:creationId xmlns:a16="http://schemas.microsoft.com/office/drawing/2014/main" id="{4193F199-659E-4E80-8DE9-F5A94EA16AC1}"/>
                  </a:ext>
                </a:extLst>
              </p:cNvPr>
              <p:cNvSpPr/>
              <p:nvPr/>
            </p:nvSpPr>
            <p:spPr>
              <a:xfrm>
                <a:off x="5037174" y="2482318"/>
                <a:ext cx="1182838" cy="787262"/>
              </a:xfrm>
              <a:prstGeom prst="cloud">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endParaRPr kumimoji="0" lang="en-US" sz="2880" b="0" i="0" u="none" strike="noStrike" kern="1200" cap="none" spc="0" normalizeH="0" baseline="0" noProof="0" dirty="0">
                  <a:ln>
                    <a:noFill/>
                  </a:ln>
                  <a:solidFill>
                    <a:srgbClr val="FFFFFF"/>
                  </a:solidFill>
                  <a:effectLst/>
                  <a:uLnTx/>
                  <a:uFillTx/>
                  <a:latin typeface="Amazon Ember"/>
                  <a:ea typeface="+mn-ea"/>
                  <a:cs typeface="+mn-cs"/>
                </a:endParaRPr>
              </a:p>
            </p:txBody>
          </p:sp>
          <p:pic>
            <p:nvPicPr>
              <p:cNvPr id="180" name="Picture 179">
                <a:extLst>
                  <a:ext uri="{FF2B5EF4-FFF2-40B4-BE49-F238E27FC236}">
                    <a16:creationId xmlns:a16="http://schemas.microsoft.com/office/drawing/2014/main" id="{F42E34ED-D9C8-4563-99CC-F7E2DFA5503C}"/>
                  </a:ext>
                </a:extLst>
              </p:cNvPr>
              <p:cNvPicPr>
                <a:picLocks noChangeAspect="1"/>
              </p:cNvPicPr>
              <p:nvPr/>
            </p:nvPicPr>
            <p:blipFill>
              <a:blip r:embed="rId11"/>
              <a:stretch>
                <a:fillRect/>
              </a:stretch>
            </p:blipFill>
            <p:spPr>
              <a:xfrm>
                <a:off x="5475273" y="2753113"/>
                <a:ext cx="306639" cy="306639"/>
              </a:xfrm>
              <a:prstGeom prst="rect">
                <a:avLst/>
              </a:prstGeom>
            </p:spPr>
          </p:pic>
        </p:grpSp>
        <p:cxnSp>
          <p:nvCxnSpPr>
            <p:cNvPr id="181" name="Straight Connector 180">
              <a:extLst>
                <a:ext uri="{FF2B5EF4-FFF2-40B4-BE49-F238E27FC236}">
                  <a16:creationId xmlns:a16="http://schemas.microsoft.com/office/drawing/2014/main" id="{5C2ECDA5-A26B-4460-AC42-922C3C93EFAE}"/>
                </a:ext>
              </a:extLst>
            </p:cNvPr>
            <p:cNvCxnSpPr>
              <a:cxnSpLocks/>
            </p:cNvCxnSpPr>
            <p:nvPr/>
          </p:nvCxnSpPr>
          <p:spPr>
            <a:xfrm flipH="1">
              <a:off x="12025179" y="3063771"/>
              <a:ext cx="360798" cy="774017"/>
            </a:xfrm>
            <a:prstGeom prst="line">
              <a:avLst/>
            </a:prstGeom>
            <a:ln w="76200">
              <a:solidFill>
                <a:srgbClr val="8BC53E"/>
              </a:solidFill>
            </a:ln>
          </p:spPr>
          <p:style>
            <a:lnRef idx="2">
              <a:schemeClr val="accent1"/>
            </a:lnRef>
            <a:fillRef idx="0">
              <a:schemeClr val="accent1"/>
            </a:fillRef>
            <a:effectRef idx="1">
              <a:schemeClr val="accent1"/>
            </a:effectRef>
            <a:fontRef idx="minor">
              <a:schemeClr val="tx1"/>
            </a:fontRef>
          </p:style>
        </p:cxnSp>
        <p:cxnSp>
          <p:nvCxnSpPr>
            <p:cNvPr id="182" name="Straight Connector 181">
              <a:extLst>
                <a:ext uri="{FF2B5EF4-FFF2-40B4-BE49-F238E27FC236}">
                  <a16:creationId xmlns:a16="http://schemas.microsoft.com/office/drawing/2014/main" id="{6DFE1BD6-17BE-4504-83A6-50F26618E92C}"/>
                </a:ext>
              </a:extLst>
            </p:cNvPr>
            <p:cNvCxnSpPr>
              <a:cxnSpLocks/>
            </p:cNvCxnSpPr>
            <p:nvPr/>
          </p:nvCxnSpPr>
          <p:spPr>
            <a:xfrm flipH="1">
              <a:off x="10850015" y="3038874"/>
              <a:ext cx="1555633" cy="800255"/>
            </a:xfrm>
            <a:prstGeom prst="line">
              <a:avLst/>
            </a:prstGeom>
            <a:ln w="76200">
              <a:solidFill>
                <a:srgbClr val="8BC53E"/>
              </a:solidFill>
            </a:ln>
          </p:spPr>
          <p:style>
            <a:lnRef idx="2">
              <a:schemeClr val="accent1"/>
            </a:lnRef>
            <a:fillRef idx="0">
              <a:schemeClr val="accent1"/>
            </a:fillRef>
            <a:effectRef idx="1">
              <a:schemeClr val="accent1"/>
            </a:effectRef>
            <a:fontRef idx="minor">
              <a:schemeClr val="tx1"/>
            </a:fontRef>
          </p:style>
        </p:cxnSp>
        <p:grpSp>
          <p:nvGrpSpPr>
            <p:cNvPr id="183" name="Group 182">
              <a:extLst>
                <a:ext uri="{FF2B5EF4-FFF2-40B4-BE49-F238E27FC236}">
                  <a16:creationId xmlns:a16="http://schemas.microsoft.com/office/drawing/2014/main" id="{47AFEC22-01B3-4ED8-9A16-F7A9D282C41E}"/>
                </a:ext>
              </a:extLst>
            </p:cNvPr>
            <p:cNvGrpSpPr/>
            <p:nvPr/>
          </p:nvGrpSpPr>
          <p:grpSpPr>
            <a:xfrm>
              <a:off x="12285522" y="4965362"/>
              <a:ext cx="885880" cy="323315"/>
              <a:chOff x="5364024" y="3934714"/>
              <a:chExt cx="885880" cy="323315"/>
            </a:xfrm>
          </p:grpSpPr>
          <p:pic>
            <p:nvPicPr>
              <p:cNvPr id="184" name="Graphic 183">
                <a:extLst>
                  <a:ext uri="{FF2B5EF4-FFF2-40B4-BE49-F238E27FC236}">
                    <a16:creationId xmlns:a16="http://schemas.microsoft.com/office/drawing/2014/main" id="{804387D1-9E0F-4C8C-8F7B-A03880D6239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64024" y="3936055"/>
                <a:ext cx="312165" cy="321974"/>
              </a:xfrm>
              <a:prstGeom prst="rect">
                <a:avLst/>
              </a:prstGeom>
            </p:spPr>
          </p:pic>
          <p:sp>
            <p:nvSpPr>
              <p:cNvPr id="185" name="Rectangle 184">
                <a:extLst>
                  <a:ext uri="{FF2B5EF4-FFF2-40B4-BE49-F238E27FC236}">
                    <a16:creationId xmlns:a16="http://schemas.microsoft.com/office/drawing/2014/main" id="{5A2556D3-C29B-442F-8035-57220583B1FD}"/>
                  </a:ext>
                </a:extLst>
              </p:cNvPr>
              <p:cNvSpPr/>
              <p:nvPr/>
            </p:nvSpPr>
            <p:spPr>
              <a:xfrm>
                <a:off x="5365756" y="3934714"/>
                <a:ext cx="884148" cy="321974"/>
              </a:xfrm>
              <a:prstGeom prst="rect">
                <a:avLst/>
              </a:prstGeom>
              <a:noFill/>
              <a:ln w="12700">
                <a:solidFill>
                  <a:srgbClr val="8BC53E"/>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7315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w="0"/>
                  <a:solidFill>
                    <a:srgbClr val="8BC53E"/>
                  </a:solidFill>
                  <a:effectLst/>
                  <a:uLnTx/>
                  <a:uFillTx/>
                  <a:latin typeface="Arial" panose="020B0604020202020204" pitchFamily="34" charset="0"/>
                  <a:ea typeface="+mn-ea"/>
                  <a:cs typeface="Arial" panose="020B0604020202020204" pitchFamily="34" charset="0"/>
                </a:endParaRPr>
              </a:p>
            </p:txBody>
          </p:sp>
        </p:grpSp>
        <p:sp>
          <p:nvSpPr>
            <p:cNvPr id="186" name="TextBox 185">
              <a:extLst>
                <a:ext uri="{FF2B5EF4-FFF2-40B4-BE49-F238E27FC236}">
                  <a16:creationId xmlns:a16="http://schemas.microsoft.com/office/drawing/2014/main" id="{3248423A-D0AA-4DFF-B80F-BCF91D4E426A}"/>
                </a:ext>
              </a:extLst>
            </p:cNvPr>
            <p:cNvSpPr txBox="1"/>
            <p:nvPr/>
          </p:nvSpPr>
          <p:spPr>
            <a:xfrm>
              <a:off x="12601512" y="4972208"/>
              <a:ext cx="587020" cy="354777"/>
            </a:xfrm>
            <a:prstGeom prst="rect">
              <a:avLst/>
            </a:prstGeom>
            <a:noFill/>
            <a:ln>
              <a:noFill/>
            </a:ln>
          </p:spPr>
          <p:txBody>
            <a:bodyPr wrap="none" rtlCol="0">
              <a:spAutoFit/>
            </a:bodyPr>
            <a:lstStyle/>
            <a:p>
              <a:pPr marL="0" marR="0" lvl="0" indent="0" algn="l" defTabSz="731520" rtl="0" eaLnBrk="1" fontAlgn="auto" latinLnBrk="0" hangingPunct="1">
                <a:lnSpc>
                  <a:spcPct val="8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srgbClr val="8BC53E"/>
                  </a:solidFill>
                  <a:effectLst/>
                  <a:uLnTx/>
                  <a:uFillTx/>
                  <a:latin typeface="Amazon Ember" panose="020B0603020204020204" pitchFamily="34" charset="0"/>
                  <a:ea typeface="Amazon Ember" panose="020B0603020204020204" pitchFamily="34" charset="0"/>
                  <a:cs typeface="Amazon Ember" panose="020B0603020204020204" pitchFamily="34" charset="0"/>
                </a:rPr>
                <a:t>Data</a:t>
              </a:r>
            </a:p>
            <a:p>
              <a:pPr marL="0" marR="0" lvl="0" indent="0" algn="l" defTabSz="731520" rtl="0" eaLnBrk="1" fontAlgn="auto" latinLnBrk="0" hangingPunct="1">
                <a:lnSpc>
                  <a:spcPct val="8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srgbClr val="8BC53E"/>
                  </a:solidFill>
                  <a:effectLst/>
                  <a:uLnTx/>
                  <a:uFillTx/>
                  <a:latin typeface="Amazon Ember" panose="020B0603020204020204" pitchFamily="34" charset="0"/>
                  <a:ea typeface="Amazon Ember" panose="020B0603020204020204" pitchFamily="34" charset="0"/>
                  <a:cs typeface="Amazon Ember" panose="020B0603020204020204" pitchFamily="34" charset="0"/>
                </a:rPr>
                <a:t>Center</a:t>
              </a:r>
              <a:endParaRPr kumimoji="0" lang="en-US" sz="1050" b="0" i="0" u="none" strike="noStrike" kern="1200" cap="none" spc="0" normalizeH="0" baseline="0" noProof="0" dirty="0">
                <a:ln>
                  <a:noFill/>
                </a:ln>
                <a:solidFill>
                  <a:srgbClr val="8BC53E"/>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187" name="Straight Connector 186">
              <a:extLst>
                <a:ext uri="{FF2B5EF4-FFF2-40B4-BE49-F238E27FC236}">
                  <a16:creationId xmlns:a16="http://schemas.microsoft.com/office/drawing/2014/main" id="{B9E590C4-4469-43F9-9924-736CE3B3DBE5}"/>
                </a:ext>
              </a:extLst>
            </p:cNvPr>
            <p:cNvCxnSpPr>
              <a:cxnSpLocks/>
              <a:stCxn id="186" idx="0"/>
              <a:endCxn id="164" idx="2"/>
            </p:cNvCxnSpPr>
            <p:nvPr/>
          </p:nvCxnSpPr>
          <p:spPr>
            <a:xfrm flipH="1" flipV="1">
              <a:off x="10719132" y="4098185"/>
              <a:ext cx="2175890" cy="874023"/>
            </a:xfrm>
            <a:prstGeom prst="line">
              <a:avLst/>
            </a:prstGeom>
            <a:ln w="76200">
              <a:solidFill>
                <a:srgbClr val="8BC53E"/>
              </a:solidFill>
            </a:ln>
          </p:spPr>
          <p:style>
            <a:lnRef idx="2">
              <a:schemeClr val="accent1"/>
            </a:lnRef>
            <a:fillRef idx="0">
              <a:schemeClr val="accent1"/>
            </a:fillRef>
            <a:effectRef idx="1">
              <a:schemeClr val="accent1"/>
            </a:effectRef>
            <a:fontRef idx="minor">
              <a:schemeClr val="tx1"/>
            </a:fontRef>
          </p:style>
        </p:cxnSp>
        <p:cxnSp>
          <p:nvCxnSpPr>
            <p:cNvPr id="188" name="Straight Connector 187">
              <a:extLst>
                <a:ext uri="{FF2B5EF4-FFF2-40B4-BE49-F238E27FC236}">
                  <a16:creationId xmlns:a16="http://schemas.microsoft.com/office/drawing/2014/main" id="{29E1E4B2-B237-4590-A9AF-06E7EAF01EB8}"/>
                </a:ext>
              </a:extLst>
            </p:cNvPr>
            <p:cNvCxnSpPr>
              <a:cxnSpLocks/>
              <a:stCxn id="186" idx="0"/>
              <a:endCxn id="165" idx="2"/>
            </p:cNvCxnSpPr>
            <p:nvPr/>
          </p:nvCxnSpPr>
          <p:spPr>
            <a:xfrm flipH="1" flipV="1">
              <a:off x="11914816" y="4098185"/>
              <a:ext cx="980206" cy="874023"/>
            </a:xfrm>
            <a:prstGeom prst="line">
              <a:avLst/>
            </a:prstGeom>
            <a:ln w="76200">
              <a:solidFill>
                <a:srgbClr val="8BC53E"/>
              </a:solidFill>
            </a:ln>
          </p:spPr>
          <p:style>
            <a:lnRef idx="2">
              <a:schemeClr val="accent1"/>
            </a:lnRef>
            <a:fillRef idx="0">
              <a:schemeClr val="accent1"/>
            </a:fillRef>
            <a:effectRef idx="1">
              <a:schemeClr val="accent1"/>
            </a:effectRef>
            <a:fontRef idx="minor">
              <a:schemeClr val="tx1"/>
            </a:fontRef>
          </p:style>
        </p:cxnSp>
        <p:cxnSp>
          <p:nvCxnSpPr>
            <p:cNvPr id="189" name="Straight Connector 188">
              <a:extLst>
                <a:ext uri="{FF2B5EF4-FFF2-40B4-BE49-F238E27FC236}">
                  <a16:creationId xmlns:a16="http://schemas.microsoft.com/office/drawing/2014/main" id="{A3B956C5-1B28-4961-9790-5A40724AFFB4}"/>
                </a:ext>
              </a:extLst>
            </p:cNvPr>
            <p:cNvCxnSpPr/>
            <p:nvPr/>
          </p:nvCxnSpPr>
          <p:spPr>
            <a:xfrm>
              <a:off x="11854000" y="5428948"/>
              <a:ext cx="942481"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sp>
          <p:nvSpPr>
            <p:cNvPr id="190" name="TextBox 189">
              <a:extLst>
                <a:ext uri="{FF2B5EF4-FFF2-40B4-BE49-F238E27FC236}">
                  <a16:creationId xmlns:a16="http://schemas.microsoft.com/office/drawing/2014/main" id="{30B50537-125A-46F8-8144-2639EEC71832}"/>
                </a:ext>
              </a:extLst>
            </p:cNvPr>
            <p:cNvSpPr txBox="1"/>
            <p:nvPr/>
          </p:nvSpPr>
          <p:spPr>
            <a:xfrm>
              <a:off x="12054973" y="5435373"/>
              <a:ext cx="538930" cy="225511"/>
            </a:xfrm>
            <a:prstGeom prst="rect">
              <a:avLst/>
            </a:prstGeom>
            <a:noFill/>
            <a:ln>
              <a:noFill/>
            </a:ln>
          </p:spPr>
          <p:txBody>
            <a:bodyPr wrap="none" rtlCol="0">
              <a:spAutoFit/>
            </a:bodyPr>
            <a:lstStyle/>
            <a:p>
              <a:pPr marL="0" marR="0" lvl="0" indent="0" algn="l" defTabSz="731520" rtl="0" eaLnBrk="1" fontAlgn="auto" latinLnBrk="0" hangingPunct="1">
                <a:lnSpc>
                  <a:spcPct val="8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srgbClr val="8BC53E"/>
                  </a:solidFill>
                  <a:effectLst/>
                  <a:uLnTx/>
                  <a:uFillTx/>
                  <a:latin typeface="Amazon Ember" panose="020B0603020204020204" pitchFamily="34" charset="0"/>
                  <a:ea typeface="Amazon Ember" panose="020B0603020204020204" pitchFamily="34" charset="0"/>
                  <a:cs typeface="Amazon Ember" panose="020B0603020204020204" pitchFamily="34" charset="0"/>
                </a:rPr>
                <a:t>80KM</a:t>
              </a:r>
              <a:endParaRPr kumimoji="0" lang="en-US" sz="1050" b="0" i="0" u="none" strike="noStrike" kern="1200" cap="none" spc="0" normalizeH="0" baseline="0" noProof="0" dirty="0">
                <a:ln>
                  <a:noFill/>
                </a:ln>
                <a:solidFill>
                  <a:srgbClr val="8BC53E"/>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7" name="Explosion: 14 Points 6">
            <a:extLst>
              <a:ext uri="{FF2B5EF4-FFF2-40B4-BE49-F238E27FC236}">
                <a16:creationId xmlns:a16="http://schemas.microsoft.com/office/drawing/2014/main" id="{7E3719C1-5F16-4410-8782-40233F065CC9}"/>
              </a:ext>
            </a:extLst>
          </p:cNvPr>
          <p:cNvSpPr/>
          <p:nvPr/>
        </p:nvSpPr>
        <p:spPr>
          <a:xfrm>
            <a:off x="12835664" y="4563187"/>
            <a:ext cx="425297" cy="354778"/>
          </a:xfrm>
          <a:prstGeom prst="irregularSeal2">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mazon Ember"/>
                <a:ea typeface="+mn-ea"/>
                <a:cs typeface="+mn-cs"/>
              </a:rPr>
              <a:t>New</a:t>
            </a:r>
            <a:endParaRPr kumimoji="0" lang="en-US" sz="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mazon Ember"/>
              <a:ea typeface="+mn-ea"/>
              <a:cs typeface="+mn-cs"/>
            </a:endParaRPr>
          </a:p>
        </p:txBody>
      </p:sp>
    </p:spTree>
    <p:extLst>
      <p:ext uri="{BB962C8B-B14F-4D97-AF65-F5344CB8AC3E}">
        <p14:creationId xmlns:p14="http://schemas.microsoft.com/office/powerpoint/2010/main" val="1235600298"/>
      </p:ext>
    </p:extLst>
  </p:cSld>
  <p:clrMapOvr>
    <a:masterClrMapping/>
  </p:clrMapOvr>
</p:sld>
</file>

<file path=ppt/theme/theme1.xml><?xml version="1.0" encoding="utf-8"?>
<a:theme xmlns:a="http://schemas.openxmlformats.org/drawingml/2006/main" name="DeckTemplate-AWS">
  <a:themeElements>
    <a:clrScheme name="Custom 14">
      <a:dk1>
        <a:srgbClr val="002D43"/>
      </a:dk1>
      <a:lt1>
        <a:srgbClr val="FFFFFF"/>
      </a:lt1>
      <a:dk2>
        <a:srgbClr val="232F3E"/>
      </a:dk2>
      <a:lt2>
        <a:srgbClr val="FFFFFF"/>
      </a:lt2>
      <a:accent1>
        <a:srgbClr val="FF9900"/>
      </a:accent1>
      <a:accent2>
        <a:srgbClr val="00A0C8"/>
      </a:accent2>
      <a:accent3>
        <a:srgbClr val="007DBC"/>
      </a:accent3>
      <a:accent4>
        <a:srgbClr val="69AE35"/>
      </a:accent4>
      <a:accent5>
        <a:srgbClr val="1D8900"/>
      </a:accent5>
      <a:accent6>
        <a:srgbClr val="FF5745"/>
      </a:accent6>
      <a:hlink>
        <a:srgbClr val="00E0EA"/>
      </a:hlink>
      <a:folHlink>
        <a:srgbClr val="00A0C8"/>
      </a:folHlink>
    </a:clrScheme>
    <a:fontScheme name="Test">
      <a:majorFont>
        <a:latin typeface="Amazon Ember"/>
        <a:ea typeface=""/>
        <a:cs typeface=""/>
      </a:majorFont>
      <a:minorFont>
        <a:latin typeface="Amazon Emb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900" dirty="0" err="1" smtClean="0">
            <a:latin typeface="Amazon Ember" panose="020B0603020204020204" pitchFamily="34" charset="0"/>
            <a:ea typeface="Amazon Ember" panose="020B0603020204020204" pitchFamily="34" charset="0"/>
            <a:cs typeface="Amazon Ember" panose="020B0603020204020204" pitchFamily="34" charset="0"/>
          </a:defRPr>
        </a:defPPr>
      </a:lstStyle>
    </a:txDef>
  </a:objectDefaults>
  <a:extraClrSchemeLst/>
  <a:extLst>
    <a:ext uri="{05A4C25C-085E-4340-85A3-A5531E510DB2}">
      <thm15:themeFamily xmlns:thm15="http://schemas.microsoft.com/office/thememl/2012/main" name="AWS_Deck_Template.potx" id="{956C5B2E-0233-4212-9383-50A039694C0C}" vid="{0176EEA5-D87D-4097-B356-86DC884F45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26A3D6C04DFD740953BA1B2B9E62D60" ma:contentTypeVersion="0" ma:contentTypeDescription="Create a new document." ma:contentTypeScope="" ma:versionID="26617cd14cd3af163c0e97ff614e520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97C89A-FD0C-431E-81F6-90225B937683}">
  <ds:schemaRef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openxmlformats.org/package/2006/metadata/core-properties"/>
    <ds:schemaRef ds:uri="http://purl.org/dc/terms/"/>
    <ds:schemaRef ds:uri="http://schemas.microsoft.com/office/infopath/2007/PartnerControls"/>
  </ds:schemaRefs>
</ds:datastoreItem>
</file>

<file path=customXml/itemProps2.xml><?xml version="1.0" encoding="utf-8"?>
<ds:datastoreItem xmlns:ds="http://schemas.openxmlformats.org/officeDocument/2006/customXml" ds:itemID="{51A3258A-222C-4488-825E-7520D001FB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05B35A6-8B52-46A5-AE45-B98C6459DC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60750</TotalTime>
  <Words>1135</Words>
  <Application>Microsoft Macintosh PowerPoint</Application>
  <PresentationFormat>Custom</PresentationFormat>
  <Paragraphs>272</Paragraphs>
  <Slides>12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Amazon Ember</vt:lpstr>
      <vt:lpstr>Amazon Ember Heavy</vt:lpstr>
      <vt:lpstr>Amazon Ember Light</vt:lpstr>
      <vt:lpstr>Amazon Ember Regular</vt:lpstr>
      <vt:lpstr>Arial</vt:lpstr>
      <vt:lpstr>Calibri</vt:lpstr>
      <vt:lpstr>Courier New</vt:lpstr>
      <vt:lpstr>DeckTemplate-AWS</vt:lpstr>
      <vt:lpstr>PowerPoint Presentation</vt:lpstr>
      <vt:lpstr>PowerPoint Presentation</vt:lpstr>
      <vt:lpstr>PowerPoint Presentation</vt:lpstr>
      <vt:lpstr>PowerPoint Presentation</vt:lpstr>
      <vt:lpstr>iCloud pricing in China </vt:lpstr>
      <vt:lpstr>PowerPoint Presentation</vt:lpstr>
      <vt:lpstr>PowerPoint Presentation</vt:lpstr>
      <vt:lpstr>iCloud Storage Draft RFI Study</vt:lpstr>
      <vt:lpstr>Storage requirement from China Mobile PFI</vt:lpstr>
      <vt:lpstr>Daily total Put object size 1PB Scenario </vt:lpstr>
      <vt:lpstr>Daily total Put object size 1PB Scenario </vt:lpstr>
      <vt:lpstr>BYON potential proposals – With Telco Partner, reduce the more Storage cost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Fruitstand iCloud China</dc:title>
  <dc:creator>Yimin MA</dc:creator>
  <cp:keywords>Fruitstand;Engage Plan</cp:keywords>
  <cp:lastModifiedBy>Han, Yuguang</cp:lastModifiedBy>
  <cp:revision>1469</cp:revision>
  <cp:lastPrinted>2021-04-09T03:14:05Z</cp:lastPrinted>
  <dcterms:created xsi:type="dcterms:W3CDTF">2016-06-17T18:22:10Z</dcterms:created>
  <dcterms:modified xsi:type="dcterms:W3CDTF">2024-05-13T06:26:08Z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